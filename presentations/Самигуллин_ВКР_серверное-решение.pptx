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Здравствуйте. Я отвечал за серверную часть проекта — backend и базу данных. Сервер принимает телеметрию от игры, сохраняет её, строит признаки и обращается к ML-сервису, а затем возвращает игре параметры адаптации. Главной целью для меня было сделать систему масштабируемой и поддерживаемой, поэтому я расскажу про выбор PostgreSQL и FastAPI, про устройство эндпоинтов и про то, как процессы устроены внутри, включая контейнеризацию в Docker.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вообще нужен сервер. Телеметрию нельзя держать на клиенте: данные многих игроков надо собирать централизованно, надёжно хранить и отдавать модели. Сервер — это единое хранилище и источник правды: он валидирует входные данные и хранит историю предсказаний. И именно сюда вынесена вся тяжёлая логика — построение признаков и обращение к ML. По сути backend — центральный узел между игрой и ML, который в реальном времени обслуживает множество клиентов.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Базу данных я выбрал PostgreSQL. Во-первых, надёжность: полноценные ACID-транзакции гарантируют целостность телеметрии. Во-вторых, тип JSONB — события приходят с произвольными parameters и state, и Postgres хранит их как гибкий, при этом индексируемый JSON, не ломая схему. В-третьих, производительность: индексы, быстрые батч-вставки и выборки по сессиям. И в-четвёртых — это открытая, бесплатная и очень зрелая СУБД с огромной экосистемой, проверенная в продакшене.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Схема данных простая и расширяемая. Три основные таблицы: sessions — игровые сессии с UUID; events — события, где произвольные данные лежат в поле payload типа JSONB; и predictions — история предсказаний модели с архетипом, уверенностью и id модели. Отдельно есть game_models — профиль игры с архетипами и критическими точками, это единый контракт с ML. Все миграции идемпотентны и применяются автоматически при каждом старте сервера, поэтому база всегда в актуальном состоянии без ручных шагов.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Фреймворк — FastAPI. Он асинхронный, поэтому хорошо держит поток запросов телеметрии без блокировок. Встроенная валидация через Pydantic: входные JSON проверяются по строгим схемам, и ошибки ловятся ещё до бизнес-логики. И он автоматически генерирует документацию OpenAPI и Swagger — это удобно и команде, и автору плагина, который видит контракт прямо на странице /docs. Сочетание скорости, валидации и автодокументации и определило выбор.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Эндпоинты я разделил на две группы. Слева — рабочие, через которые игра общается с сервером: открыть сессию, отправить батч телеметрии — здесь же раз в N событий вызывается ML, — и закрыть сессию. Но чтобы система была масштабируемой и поддерживаемой, одних рабочих эндпоинтов мало, поэтому справа — служебные: health-check для мониторинга сервиса и базы, чтение и запись профиля игры — это контракт с ML, выдача последней адаптации и запуск переобучения модели. Именно служебные эндпоинты делают систему пригодной к эксплуатации.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внутреннее устройство. Backend разбит на слои. routes — это HTTP-маршруты с валидацией Pydantic: game, sessions, telemetry. services — бизнес-логика: ingest сохраняет события, build_features строит признаки, ml_client общается с ML. И слой моделей с миграциями — SQLAlchemy и идемпотентный SQL. Такая слоистость даёт разделение ответственности: маршруты не знают про SQL, сервисы — про HTTP, каждый слой меняется независимо. Это и есть поддерживаемость. Систему покрывают 13 тестов — от unit до сквозных E2E, а вся конфигурация вынесена в .env.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Покажу полный путь одного батча событий — это удобно анимировать по шагам. Шаг первый: приходит POST на ingest, Pydantic валидирует данные. Второй: события сохраняются в PostgreSQL, произвольные поля — в JSONB. Третий: сервис build_features превращает накопленные события в вектор признаков по критическим точкам профиля. Четвёртый: каждые N событий ml_client вызывает ML-сервис на /predict. Пятый: предсказание сохраняется в базу, а параметры адаптации кладутся прямо в ответ на ingest — и плагин тут же передаёт их в игру. Весь стек — postgres, backend и ml — поднимается одной командой docker compose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Планы по серверу: добавить метрики и логирование — латентность предсказаний, частоту fallback, мониторинг нагрузки. Зафиксировать политику отказов: что делать при недоступности ML — отдавать понятную ошибку или fallback. И подготовить горизонтальное масштабирование: несколько воркеров backend, пул соединений к базе, готовность к оркестрации в Kubernetes. Весь код backend — в репозитории по QR-коду, папка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по backend. Сервер на FastAPI и PostgreSQL в Docker — это центральный узел системы: он принимает телеметрию, строит признаки, связывается с ML и возвращает адаптацию. Благодаря слоистой архитектуре, служебным эндпоинтам, миграциям и тестам систему легко масштабировать и поддерживать. Спасибо за внимание.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cheme_brain.png"/><Relationship Id="rId3" Type="http://schemas.openxmlformats.org/officeDocument/2006/relationships/image" Target="../media/scheme_brain_hot.png"/><Relationship Id="rId4" Type="http://schemas.openxmlformats.org/officeDocument/2006/relationships/image" Target="../media/scheme_brain_lb.png"/><Relationship Id="rId5" Type="http://schemas.openxmlformats.org/officeDocument/2006/relationships/image" Target="../media/scheme_brain_lh.png"/><Relationship Id="rId6" Type="http://schemas.openxmlformats.org/officeDocument/2006/relationships/image" Target="../media/scheme_brain_rose.png"/><Relationship Id="rId7" Type="http://schemas.openxmlformats.org/officeDocument/2006/relationships/image" Target="../media/scheme_db.png"/><Relationship Id="rId8" Type="http://schemas.openxmlformats.org/officeDocument/2006/relationships/image" Target="../media/scheme_db_hot.png"/><Relationship Id="rId9" Type="http://schemas.openxmlformats.org/officeDocument/2006/relationships/image" Target="../media/scheme_db_lb.png"/><Relationship Id="rId10" Type="http://schemas.openxmlformats.org/officeDocument/2006/relationships/image" Target="../media/scheme_db_lh.png"/><Relationship Id="rId11" Type="http://schemas.openxmlformats.org/officeDocument/2006/relationships/image" Target="../media/scheme_db_rose.png"/><Relationship Id="rId12" Type="http://schemas.openxmlformats.org/officeDocument/2006/relationships/image" Target="../media/scheme_flow.png"/><Relationship Id="rId13" Type="http://schemas.openxmlformats.org/officeDocument/2006/relationships/image" Target="../media/scheme_gamepad.png"/><Relationship Id="rId14" Type="http://schemas.openxmlformats.org/officeDocument/2006/relationships/image" Target="../media/scheme_gamepad_hot.png"/><Relationship Id="rId15" Type="http://schemas.openxmlformats.org/officeDocument/2006/relationships/image" Target="../media/scheme_gamepad_lb.png"/><Relationship Id="rId16" Type="http://schemas.openxmlformats.org/officeDocument/2006/relationships/image" Target="../media/scheme_gamepad_lh.png"/><Relationship Id="rId17" Type="http://schemas.openxmlformats.org/officeDocument/2006/relationships/image" Target="../media/scheme_gamepad_rose.png"/><Relationship Id="rId18" Type="http://schemas.openxmlformats.org/officeDocument/2006/relationships/image" Target="../media/scheme_server.png"/><Relationship Id="rId19" Type="http://schemas.openxmlformats.org/officeDocument/2006/relationships/image" Target="../media/scheme_server_hot.png"/><Relationship Id="rId20" Type="http://schemas.openxmlformats.org/officeDocument/2006/relationships/image" Target="../media/scheme_server_lb.png"/><Relationship Id="rId21" Type="http://schemas.openxmlformats.org/officeDocument/2006/relationships/image" Target="../media/scheme_server_lh.png"/><Relationship Id="rId22" Type="http://schemas.openxmlformats.org/officeDocument/2006/relationships/image" Target="../media/scheme_server_rose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8869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26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97840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97840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102412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102412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984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984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4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556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1556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111556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45720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612880" y="841248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12880" y="1225296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960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ВЫПУСКНАЯ КВАЛИФИКАЦИОННАЯ РАБОТА · 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1417320"/>
            <a:ext cx="10927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Разработка серверного решения для сбора и анализа игровых данных</a:t>
            </a:r>
            <a:endParaRPr lang="en-US" sz="3200" dirty="0"/>
          </a:p>
        </p:txBody>
      </p:sp>
      <p:sp>
        <p:nvSpPr>
          <p:cNvPr id="26" name="Shape 24"/>
          <p:cNvSpPr/>
          <p:nvPr/>
        </p:nvSpPr>
        <p:spPr>
          <a:xfrm>
            <a:off x="640080" y="4892040"/>
            <a:ext cx="5532120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14400" y="5276088"/>
            <a:ext cx="603504" cy="60350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8" name="Image 0" descr="icons/serv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5451" y="5457139"/>
            <a:ext cx="241402" cy="241402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78308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1783080" y="534924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83080" y="5760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МВИ-122  ·  Backend-инженер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537960" y="4892040"/>
            <a:ext cx="5013655" cy="1371600"/>
          </a:xfrm>
          <a:prstGeom prst="roundRect">
            <a:avLst>
              <a:gd name="adj" fmla="val 6667"/>
            </a:avLst>
          </a:prstGeom>
          <a:solidFill>
            <a:srgbClr val="0E6E9E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6830568" y="5074920"/>
            <a:ext cx="4465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830568" y="5394960"/>
            <a:ext cx="44650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Минаева Н. В.</a:t>
            </a:r>
            <a:endParaRPr lang="en-US" sz="15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ст. преподаватель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АКТУАЛЬНОСТЬ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Необходимость серверной части для телеметрии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70080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0" name="Image 0" descr="icons/databas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0080" y="2740000"/>
            <a:ext cx="300000" cy="300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70080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Единое хранилище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970080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 всех игроков и сессий в одной надёжной БД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52544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682544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1" descr="icons/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544" y="2740000"/>
            <a:ext cx="300000" cy="300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682544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правды</a:t>
            </a:r>
            <a:endParaRPr lang="en-US" sz="1700" dirty="0"/>
          </a:p>
        </p:txBody>
      </p:sp>
      <p:sp>
        <p:nvSpPr>
          <p:cNvPr id="17" name="Text 13"/>
          <p:cNvSpPr/>
          <p:nvPr/>
        </p:nvSpPr>
        <p:spPr>
          <a:xfrm>
            <a:off x="4682544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 валидирует данные и хранит историю предсказаний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8065008" y="2150000"/>
            <a:ext cx="3474720" cy="3150000"/>
          </a:xfrm>
          <a:prstGeom prst="roundRect">
            <a:avLst>
              <a:gd name="adj" fmla="val 450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95008" y="2530000"/>
            <a:ext cx="700000" cy="70000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2" descr="icons/br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5008" y="2740000"/>
            <a:ext cx="300000" cy="300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395008" y="3780000"/>
            <a:ext cx="281472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Тяжёлое — на сервере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8395008" y="4320000"/>
            <a:ext cx="281472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 и ML вынесены с клиента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1/2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PostgreSQL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chec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267712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Надёжность и ACID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транзакции и целостность данных телеметрии гарантированы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64224" y="210312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8816" y="2267712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086600" y="204825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JSONB из коробки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086600" y="243230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гибкие parameters и state событий хранятся как индексируемый JSON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400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bo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4050792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Производительность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индексы, быстрые вставки батчей и выборки по сессиям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6126480" y="361188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364224" y="3886200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4" name="Image 3" descr="icons/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4050792"/>
            <a:ext cx="219456" cy="21945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7086600" y="38313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Открытая и зрелая</a:t>
            </a:r>
            <a:endParaRPr lang="en-US" sz="1500" dirty="0"/>
          </a:p>
        </p:txBody>
      </p:sp>
      <p:sp>
        <p:nvSpPr>
          <p:cNvPr id="26" name="Text 20"/>
          <p:cNvSpPr/>
          <p:nvPr/>
        </p:nvSpPr>
        <p:spPr>
          <a:xfrm>
            <a:off x="7086600" y="4215384"/>
            <a:ext cx="4160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бесплатна, огромная экосистема, проверена в продакшене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5488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БД · 2/2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49808"/>
            <a:ext cx="100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Схема данных и миграции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</a:p>
        </p:txBody>
      </p:sp>
      <p:sp>
        <p:nvSpPr>
          <p:cNvPr id="104" name="R"/>
          <p:cNvSpPr/>
          <p:nvPr/>
        </p:nvSpPr>
        <p:spPr>
          <a:xfrm>
            <a:off x="560000" y="1980000"/>
            <a:ext cx="2780000" cy="74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sx="100000" sy="100000" kx="0" ky="0" algn="bl" rotWithShape="0" blurRad="70000" dist="18000" dir="5400000">
              <a:srgbClr val="B8C9D4">
                <a:alpha val="20000"/>
              </a:srgbClr>
            </a:outerShdw>
          </a:effectLst>
        </p:spPr>
      </p:sp>
      <p:sp>
        <p:nvSpPr>
          <p:cNvPr id="105" name="R"/>
          <p:cNvSpPr/>
          <p:nvPr/>
        </p:nvSpPr>
        <p:spPr>
          <a:xfrm>
            <a:off x="560000" y="1980000"/>
            <a:ext cx="278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06" name="T"/>
          <p:cNvSpPr/>
          <p:nvPr/>
        </p:nvSpPr>
        <p:spPr>
          <a:xfrm>
            <a:off x="710000" y="1980000"/>
            <a:ext cx="24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Игроки</a:t>
            </a:r>
          </a:p>
        </p:txBody>
      </p:sp>
      <p:sp>
        <p:nvSpPr>
          <p:cNvPr id="107" name="T"/>
          <p:cNvSpPr/>
          <p:nvPr/>
        </p:nvSpPr>
        <p:spPr>
          <a:xfrm>
            <a:off x="710000" y="2280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08" name="T"/>
          <p:cNvSpPr/>
          <p:nvPr/>
        </p:nvSpPr>
        <p:spPr>
          <a:xfrm>
            <a:off x="2700000" y="228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09" name="R"/>
          <p:cNvSpPr/>
          <p:nvPr/>
        </p:nvSpPr>
        <p:spPr>
          <a:xfrm>
            <a:off x="620000" y="2504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10" name="T"/>
          <p:cNvSpPr/>
          <p:nvPr/>
        </p:nvSpPr>
        <p:spPr>
          <a:xfrm>
            <a:off x="710000" y="2504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регистрации</a:t>
            </a:r>
          </a:p>
        </p:txBody>
      </p:sp>
      <p:sp>
        <p:nvSpPr>
          <p:cNvPr id="111" name="R"/>
          <p:cNvSpPr/>
          <p:nvPr/>
        </p:nvSpPr>
        <p:spPr>
          <a:xfrm>
            <a:off x="4380000" y="1470000"/>
            <a:ext cx="3300000" cy="18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sx="100000" sy="100000" kx="0" ky="0" algn="bl" rotWithShape="0" blurRad="70000" dist="18000" dir="5400000">
              <a:srgbClr val="B8C9D4">
                <a:alpha val="20000"/>
              </a:srgbClr>
            </a:outerShdw>
          </a:effectLst>
        </p:spPr>
      </p:sp>
      <p:sp>
        <p:nvSpPr>
          <p:cNvPr id="112" name="R"/>
          <p:cNvSpPr/>
          <p:nvPr/>
        </p:nvSpPr>
        <p:spPr>
          <a:xfrm>
            <a:off x="4380000" y="1470000"/>
            <a:ext cx="330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13" name="T"/>
          <p:cNvSpPr/>
          <p:nvPr/>
        </p:nvSpPr>
        <p:spPr>
          <a:xfrm>
            <a:off x="4530000" y="1470000"/>
            <a:ext cx="3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Прогнозы</a:t>
            </a:r>
          </a:p>
        </p:txBody>
      </p:sp>
      <p:sp>
        <p:nvSpPr>
          <p:cNvPr id="114" name="T"/>
          <p:cNvSpPr/>
          <p:nvPr/>
        </p:nvSpPr>
        <p:spPr>
          <a:xfrm>
            <a:off x="4530000" y="177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прогноза</a:t>
            </a:r>
          </a:p>
        </p:txBody>
      </p:sp>
      <p:sp>
        <p:nvSpPr>
          <p:cNvPr id="115" name="T"/>
          <p:cNvSpPr/>
          <p:nvPr/>
        </p:nvSpPr>
        <p:spPr>
          <a:xfrm>
            <a:off x="7040000" y="177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16" name="R"/>
          <p:cNvSpPr/>
          <p:nvPr/>
        </p:nvSpPr>
        <p:spPr>
          <a:xfrm>
            <a:off x="4440000" y="199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17" name="T"/>
          <p:cNvSpPr/>
          <p:nvPr/>
        </p:nvSpPr>
        <p:spPr>
          <a:xfrm>
            <a:off x="4530000" y="199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18" name="T"/>
          <p:cNvSpPr/>
          <p:nvPr/>
        </p:nvSpPr>
        <p:spPr>
          <a:xfrm>
            <a:off x="7040000" y="199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19" name="R"/>
          <p:cNvSpPr/>
          <p:nvPr/>
        </p:nvSpPr>
        <p:spPr>
          <a:xfrm>
            <a:off x="4440000" y="2218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0" name="T"/>
          <p:cNvSpPr/>
          <p:nvPr/>
        </p:nvSpPr>
        <p:spPr>
          <a:xfrm>
            <a:off x="4530000" y="2218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21" name="T"/>
          <p:cNvSpPr/>
          <p:nvPr/>
        </p:nvSpPr>
        <p:spPr>
          <a:xfrm>
            <a:off x="7040000" y="2218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22" name="R"/>
          <p:cNvSpPr/>
          <p:nvPr/>
        </p:nvSpPr>
        <p:spPr>
          <a:xfrm>
            <a:off x="4440000" y="2442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3" name="T"/>
          <p:cNvSpPr/>
          <p:nvPr/>
        </p:nvSpPr>
        <p:spPr>
          <a:xfrm>
            <a:off x="4530000" y="2442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24" name="T"/>
          <p:cNvSpPr/>
          <p:nvPr/>
        </p:nvSpPr>
        <p:spPr>
          <a:xfrm>
            <a:off x="7040000" y="2442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25" name="R"/>
          <p:cNvSpPr/>
          <p:nvPr/>
        </p:nvSpPr>
        <p:spPr>
          <a:xfrm>
            <a:off x="4440000" y="2666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6" name="T"/>
          <p:cNvSpPr/>
          <p:nvPr/>
        </p:nvSpPr>
        <p:spPr>
          <a:xfrm>
            <a:off x="4530000" y="2666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Предсказанный архетип</a:t>
            </a:r>
          </a:p>
        </p:txBody>
      </p:sp>
      <p:sp>
        <p:nvSpPr>
          <p:cNvPr id="127" name="R"/>
          <p:cNvSpPr/>
          <p:nvPr/>
        </p:nvSpPr>
        <p:spPr>
          <a:xfrm>
            <a:off x="4440000" y="2890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28" name="T"/>
          <p:cNvSpPr/>
          <p:nvPr/>
        </p:nvSpPr>
        <p:spPr>
          <a:xfrm>
            <a:off x="4530000" y="289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Уверенность</a:t>
            </a:r>
          </a:p>
        </p:txBody>
      </p:sp>
      <p:sp>
        <p:nvSpPr>
          <p:cNvPr id="129" name="R"/>
          <p:cNvSpPr/>
          <p:nvPr/>
        </p:nvSpPr>
        <p:spPr>
          <a:xfrm>
            <a:off x="4440000" y="311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0" name="T"/>
          <p:cNvSpPr/>
          <p:nvPr/>
        </p:nvSpPr>
        <p:spPr>
          <a:xfrm>
            <a:off x="4530000" y="311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формирования</a:t>
            </a:r>
          </a:p>
        </p:txBody>
      </p:sp>
      <p:sp>
        <p:nvSpPr>
          <p:cNvPr id="131" name="R"/>
          <p:cNvSpPr/>
          <p:nvPr/>
        </p:nvSpPr>
        <p:spPr>
          <a:xfrm>
            <a:off x="8760000" y="1780000"/>
            <a:ext cx="2870000" cy="1868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sx="100000" sy="100000" kx="0" ky="0" algn="bl" rotWithShape="0" blurRad="70000" dist="18000" dir="5400000">
              <a:srgbClr val="B8C9D4">
                <a:alpha val="20000"/>
              </a:srgbClr>
            </a:outerShdw>
          </a:effectLst>
        </p:spPr>
      </p:sp>
      <p:sp>
        <p:nvSpPr>
          <p:cNvPr id="132" name="R"/>
          <p:cNvSpPr/>
          <p:nvPr/>
        </p:nvSpPr>
        <p:spPr>
          <a:xfrm>
            <a:off x="8760000" y="1780000"/>
            <a:ext cx="287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33" name="T"/>
          <p:cNvSpPr/>
          <p:nvPr/>
        </p:nvSpPr>
        <p:spPr>
          <a:xfrm>
            <a:off x="8910000" y="1780000"/>
            <a:ext cx="257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игры</a:t>
            </a:r>
          </a:p>
        </p:txBody>
      </p:sp>
      <p:sp>
        <p:nvSpPr>
          <p:cNvPr id="134" name="T"/>
          <p:cNvSpPr/>
          <p:nvPr/>
        </p:nvSpPr>
        <p:spPr>
          <a:xfrm>
            <a:off x="8910000" y="2080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35" name="T"/>
          <p:cNvSpPr/>
          <p:nvPr/>
        </p:nvSpPr>
        <p:spPr>
          <a:xfrm>
            <a:off x="10990000" y="208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36" name="R"/>
          <p:cNvSpPr/>
          <p:nvPr/>
        </p:nvSpPr>
        <p:spPr>
          <a:xfrm>
            <a:off x="8820000" y="2304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7" name="T"/>
          <p:cNvSpPr/>
          <p:nvPr/>
        </p:nvSpPr>
        <p:spPr>
          <a:xfrm>
            <a:off x="8910000" y="2304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модели</a:t>
            </a:r>
          </a:p>
        </p:txBody>
      </p:sp>
      <p:sp>
        <p:nvSpPr>
          <p:cNvPr id="138" name="R"/>
          <p:cNvSpPr/>
          <p:nvPr/>
        </p:nvSpPr>
        <p:spPr>
          <a:xfrm>
            <a:off x="8820000" y="2528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39" name="T"/>
          <p:cNvSpPr/>
          <p:nvPr/>
        </p:nvSpPr>
        <p:spPr>
          <a:xfrm>
            <a:off x="8910000" y="2528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Архетипы</a:t>
            </a:r>
          </a:p>
        </p:txBody>
      </p:sp>
      <p:sp>
        <p:nvSpPr>
          <p:cNvPr id="140" name="R"/>
          <p:cNvSpPr/>
          <p:nvPr/>
        </p:nvSpPr>
        <p:spPr>
          <a:xfrm>
            <a:off x="8820000" y="2752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1" name="T"/>
          <p:cNvSpPr/>
          <p:nvPr/>
        </p:nvSpPr>
        <p:spPr>
          <a:xfrm>
            <a:off x="8910000" y="2752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Критические точки</a:t>
            </a:r>
          </a:p>
        </p:txBody>
      </p:sp>
      <p:sp>
        <p:nvSpPr>
          <p:cNvPr id="142" name="R"/>
          <p:cNvSpPr/>
          <p:nvPr/>
        </p:nvSpPr>
        <p:spPr>
          <a:xfrm>
            <a:off x="8820000" y="2976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3" name="T"/>
          <p:cNvSpPr/>
          <p:nvPr/>
        </p:nvSpPr>
        <p:spPr>
          <a:xfrm>
            <a:off x="8910000" y="2976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признаков</a:t>
            </a:r>
          </a:p>
        </p:txBody>
      </p:sp>
      <p:sp>
        <p:nvSpPr>
          <p:cNvPr id="144" name="R"/>
          <p:cNvSpPr/>
          <p:nvPr/>
        </p:nvSpPr>
        <p:spPr>
          <a:xfrm>
            <a:off x="8820000" y="3200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5" name="T"/>
          <p:cNvSpPr/>
          <p:nvPr/>
        </p:nvSpPr>
        <p:spPr>
          <a:xfrm>
            <a:off x="8910000" y="3200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ONNX-модели</a:t>
            </a:r>
          </a:p>
        </p:txBody>
      </p:sp>
      <p:sp>
        <p:nvSpPr>
          <p:cNvPr id="146" name="R"/>
          <p:cNvSpPr/>
          <p:nvPr/>
        </p:nvSpPr>
        <p:spPr>
          <a:xfrm>
            <a:off x="8820000" y="3424000"/>
            <a:ext cx="275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47" name="T"/>
          <p:cNvSpPr/>
          <p:nvPr/>
        </p:nvSpPr>
        <p:spPr>
          <a:xfrm>
            <a:off x="8910000" y="3424000"/>
            <a:ext cx="217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создания</a:t>
            </a:r>
          </a:p>
        </p:txBody>
      </p:sp>
      <p:sp>
        <p:nvSpPr>
          <p:cNvPr id="148" name="R"/>
          <p:cNvSpPr/>
          <p:nvPr/>
        </p:nvSpPr>
        <p:spPr>
          <a:xfrm>
            <a:off x="4380000" y="4030000"/>
            <a:ext cx="3300000" cy="14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sx="100000" sy="100000" kx="0" ky="0" algn="bl" rotWithShape="0" blurRad="70000" dist="18000" dir="5400000">
              <a:srgbClr val="B8C9D4">
                <a:alpha val="20000"/>
              </a:srgbClr>
            </a:outerShdw>
          </a:effectLst>
        </p:spPr>
      </p:sp>
      <p:sp>
        <p:nvSpPr>
          <p:cNvPr id="149" name="R"/>
          <p:cNvSpPr/>
          <p:nvPr/>
        </p:nvSpPr>
        <p:spPr>
          <a:xfrm>
            <a:off x="4380000" y="4030000"/>
            <a:ext cx="330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50" name="T"/>
          <p:cNvSpPr/>
          <p:nvPr/>
        </p:nvSpPr>
        <p:spPr>
          <a:xfrm>
            <a:off x="4530000" y="4030000"/>
            <a:ext cx="300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Игровые сессии</a:t>
            </a:r>
          </a:p>
        </p:txBody>
      </p:sp>
      <p:sp>
        <p:nvSpPr>
          <p:cNvPr id="151" name="T"/>
          <p:cNvSpPr/>
          <p:nvPr/>
        </p:nvSpPr>
        <p:spPr>
          <a:xfrm>
            <a:off x="4530000" y="4330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52" name="T"/>
          <p:cNvSpPr/>
          <p:nvPr/>
        </p:nvSpPr>
        <p:spPr>
          <a:xfrm>
            <a:off x="7040000" y="433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53" name="R"/>
          <p:cNvSpPr/>
          <p:nvPr/>
        </p:nvSpPr>
        <p:spPr>
          <a:xfrm>
            <a:off x="4440000" y="4554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54" name="T"/>
          <p:cNvSpPr/>
          <p:nvPr/>
        </p:nvSpPr>
        <p:spPr>
          <a:xfrm>
            <a:off x="4530000" y="4554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игрока</a:t>
            </a:r>
          </a:p>
        </p:txBody>
      </p:sp>
      <p:sp>
        <p:nvSpPr>
          <p:cNvPr id="155" name="T"/>
          <p:cNvSpPr/>
          <p:nvPr/>
        </p:nvSpPr>
        <p:spPr>
          <a:xfrm>
            <a:off x="7040000" y="455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56" name="R"/>
          <p:cNvSpPr/>
          <p:nvPr/>
        </p:nvSpPr>
        <p:spPr>
          <a:xfrm>
            <a:off x="4440000" y="4778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57" name="T"/>
          <p:cNvSpPr/>
          <p:nvPr/>
        </p:nvSpPr>
        <p:spPr>
          <a:xfrm>
            <a:off x="4530000" y="4778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модели</a:t>
            </a:r>
          </a:p>
        </p:txBody>
      </p:sp>
      <p:sp>
        <p:nvSpPr>
          <p:cNvPr id="158" name="T"/>
          <p:cNvSpPr/>
          <p:nvPr/>
        </p:nvSpPr>
        <p:spPr>
          <a:xfrm>
            <a:off x="7040000" y="4778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59" name="R"/>
          <p:cNvSpPr/>
          <p:nvPr/>
        </p:nvSpPr>
        <p:spPr>
          <a:xfrm>
            <a:off x="4440000" y="5002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0" name="T"/>
          <p:cNvSpPr/>
          <p:nvPr/>
        </p:nvSpPr>
        <p:spPr>
          <a:xfrm>
            <a:off x="4530000" y="5002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Версия клиента</a:t>
            </a:r>
          </a:p>
        </p:txBody>
      </p:sp>
      <p:sp>
        <p:nvSpPr>
          <p:cNvPr id="161" name="R"/>
          <p:cNvSpPr/>
          <p:nvPr/>
        </p:nvSpPr>
        <p:spPr>
          <a:xfrm>
            <a:off x="4440000" y="5226000"/>
            <a:ext cx="318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2" name="T"/>
          <p:cNvSpPr/>
          <p:nvPr/>
        </p:nvSpPr>
        <p:spPr>
          <a:xfrm>
            <a:off x="4530000" y="5226000"/>
            <a:ext cx="260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начала / окончания</a:t>
            </a:r>
          </a:p>
        </p:txBody>
      </p:sp>
      <p:sp>
        <p:nvSpPr>
          <p:cNvPr id="163" name="R"/>
          <p:cNvSpPr/>
          <p:nvPr/>
        </p:nvSpPr>
        <p:spPr>
          <a:xfrm>
            <a:off x="560000" y="4300000"/>
            <a:ext cx="2780000" cy="14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6DF"/>
            </a:solidFill>
          </a:ln>
          <a:effectLst>
            <a:outerShdw sx="100000" sy="100000" kx="0" ky="0" algn="bl" rotWithShape="0" blurRad="70000" dist="18000" dir="5400000">
              <a:srgbClr val="B8C9D4">
                <a:alpha val="20000"/>
              </a:srgbClr>
            </a:outerShdw>
          </a:effectLst>
        </p:spPr>
      </p:sp>
      <p:sp>
        <p:nvSpPr>
          <p:cNvPr id="164" name="R"/>
          <p:cNvSpPr/>
          <p:nvPr/>
        </p:nvSpPr>
        <p:spPr>
          <a:xfrm>
            <a:off x="560000" y="4300000"/>
            <a:ext cx="2780000" cy="300000"/>
          </a:xfrm>
          <a:prstGeom prst="rect">
            <a:avLst/>
          </a:prstGeom>
          <a:solidFill>
            <a:srgbClr val="2A8FC8"/>
          </a:solidFill>
          <a:ln/>
        </p:spPr>
      </p:sp>
      <p:sp>
        <p:nvSpPr>
          <p:cNvPr id="165" name="T"/>
          <p:cNvSpPr/>
          <p:nvPr/>
        </p:nvSpPr>
        <p:spPr>
          <a:xfrm>
            <a:off x="710000" y="4300000"/>
            <a:ext cx="248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b="1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События</a:t>
            </a:r>
          </a:p>
        </p:txBody>
      </p:sp>
      <p:sp>
        <p:nvSpPr>
          <p:cNvPr id="166" name="T"/>
          <p:cNvSpPr/>
          <p:nvPr/>
        </p:nvSpPr>
        <p:spPr>
          <a:xfrm>
            <a:off x="710000" y="4600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события</a:t>
            </a:r>
          </a:p>
        </p:txBody>
      </p:sp>
      <p:sp>
        <p:nvSpPr>
          <p:cNvPr id="167" name="T"/>
          <p:cNvSpPr/>
          <p:nvPr/>
        </p:nvSpPr>
        <p:spPr>
          <a:xfrm>
            <a:off x="2700000" y="4600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C88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</a:p>
        </p:txBody>
      </p:sp>
      <p:sp>
        <p:nvSpPr>
          <p:cNvPr id="168" name="R"/>
          <p:cNvSpPr/>
          <p:nvPr/>
        </p:nvSpPr>
        <p:spPr>
          <a:xfrm>
            <a:off x="620000" y="4824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69" name="T"/>
          <p:cNvSpPr/>
          <p:nvPr/>
        </p:nvSpPr>
        <p:spPr>
          <a:xfrm>
            <a:off x="710000" y="4824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Идентификатор сессии</a:t>
            </a:r>
          </a:p>
        </p:txBody>
      </p:sp>
      <p:sp>
        <p:nvSpPr>
          <p:cNvPr id="170" name="T"/>
          <p:cNvSpPr/>
          <p:nvPr/>
        </p:nvSpPr>
        <p:spPr>
          <a:xfrm>
            <a:off x="2700000" y="4824000"/>
            <a:ext cx="52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76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</a:t>
            </a:r>
          </a:p>
        </p:txBody>
      </p:sp>
      <p:sp>
        <p:nvSpPr>
          <p:cNvPr id="171" name="R"/>
          <p:cNvSpPr/>
          <p:nvPr/>
        </p:nvSpPr>
        <p:spPr>
          <a:xfrm>
            <a:off x="620000" y="5048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2" name="T"/>
          <p:cNvSpPr/>
          <p:nvPr/>
        </p:nvSpPr>
        <p:spPr>
          <a:xfrm>
            <a:off x="710000" y="5048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события</a:t>
            </a:r>
          </a:p>
        </p:txBody>
      </p:sp>
      <p:sp>
        <p:nvSpPr>
          <p:cNvPr id="173" name="R"/>
          <p:cNvSpPr/>
          <p:nvPr/>
        </p:nvSpPr>
        <p:spPr>
          <a:xfrm>
            <a:off x="620000" y="5272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4" name="T"/>
          <p:cNvSpPr/>
          <p:nvPr/>
        </p:nvSpPr>
        <p:spPr>
          <a:xfrm>
            <a:off x="710000" y="5272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события (JSONB)</a:t>
            </a:r>
          </a:p>
        </p:txBody>
      </p:sp>
      <p:sp>
        <p:nvSpPr>
          <p:cNvPr id="175" name="R"/>
          <p:cNvSpPr/>
          <p:nvPr/>
        </p:nvSpPr>
        <p:spPr>
          <a:xfrm>
            <a:off x="620000" y="5496000"/>
            <a:ext cx="2660000" cy="1270"/>
          </a:xfrm>
          <a:prstGeom prst="rect">
            <a:avLst/>
          </a:prstGeom>
          <a:solidFill>
            <a:srgbClr val="EAF0F4"/>
          </a:solidFill>
          <a:ln/>
        </p:spPr>
      </p:sp>
      <p:sp>
        <p:nvSpPr>
          <p:cNvPr id="176" name="T"/>
          <p:cNvSpPr/>
          <p:nvPr/>
        </p:nvSpPr>
        <p:spPr>
          <a:xfrm>
            <a:off x="710000" y="5496000"/>
            <a:ext cx="2080000" cy="2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880" kern="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записи</a:t>
            </a:r>
          </a:p>
        </p:txBody>
      </p:sp>
      <p:cxnSp>
        <p:nvCxnSpPr>
          <p:cNvPr id="177" name="c"/>
          <p:cNvCxnSpPr/>
          <p:nvPr/>
        </p:nvCxnSpPr>
        <p:spPr>
          <a:xfrm flipV="1">
            <a:off x="3340000" y="2170000"/>
            <a:ext cx="1040000" cy="21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78" name="c"/>
          <p:cNvCxnSpPr/>
          <p:nvPr/>
        </p:nvCxnSpPr>
        <p:spPr>
          <a:xfrm>
            <a:off x="1950000" y="2728000"/>
            <a:ext cx="2430000" cy="180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79" name="c"/>
          <p:cNvCxnSpPr/>
          <p:nvPr/>
        </p:nvCxnSpPr>
        <p:spPr>
          <a:xfrm flipH="1">
            <a:off x="3340000" y="4430000"/>
            <a:ext cx="1040000" cy="58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0" name="c"/>
          <p:cNvCxnSpPr/>
          <p:nvPr/>
        </p:nvCxnSpPr>
        <p:spPr>
          <a:xfrm flipV="1">
            <a:off x="6030000" y="3338000"/>
            <a:ext cx="0" cy="69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1" name="c"/>
          <p:cNvCxnSpPr/>
          <p:nvPr/>
        </p:nvCxnSpPr>
        <p:spPr>
          <a:xfrm flipH="1">
            <a:off x="7680000" y="2280000"/>
            <a:ext cx="1080000" cy="90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cxnSp>
        <p:nvCxnSpPr>
          <p:cNvPr id="182" name="c"/>
          <p:cNvCxnSpPr/>
          <p:nvPr/>
        </p:nvCxnSpPr>
        <p:spPr>
          <a:xfrm flipH="1">
            <a:off x="7680000" y="3348000"/>
            <a:ext cx="1080000" cy="1392000"/>
          </a:xfrm>
          <a:prstGeom prst="straightConnector1">
            <a:avLst/>
          </a:prstGeom>
          <a:ln w="12700" cap="rnd">
            <a:solidFill>
              <a:srgbClr val="9AAAB6"/>
            </a:solidFill>
            <a:tailEnd type="stealth" w="med" len="med"/>
          </a:ln>
        </p:spPr>
      </p:cxnSp>
      <p:sp>
        <p:nvSpPr>
          <p:cNvPr id="183" name="T"/>
          <p:cNvSpPr/>
          <p:nvPr/>
        </p:nvSpPr>
        <p:spPr>
          <a:xfrm>
            <a:off x="640080" y="6360000"/>
            <a:ext cx="1091184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05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Миграции применяются автоматически при старте (CREATE IF NOT EXISTS); схема профиля игры — единый контракт с ML.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 ФРЕЙМВОРКА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Преимущества FastAPI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async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высокая пропускная способность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3832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Pydantic</a:t>
            </a:r>
            <a:endParaRPr lang="en-US" sz="5000" dirty="0"/>
          </a:p>
        </p:txBody>
      </p:sp>
      <p:sp>
        <p:nvSpPr>
          <p:cNvPr id="10" name="Text 8"/>
          <p:cNvSpPr/>
          <p:nvPr/>
        </p:nvSpPr>
        <p:spPr>
          <a:xfrm>
            <a:off x="33832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схем из коробки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8288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Swagger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612648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 /docs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77824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5" name="Image 0" descr="icons/bol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3666744"/>
            <a:ext cx="219456" cy="219456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877824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Асинхронность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877824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множества запросов телеметрии без блокировок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352544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90288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0" name="Image 1" descr="icons/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666744"/>
            <a:ext cx="219456" cy="2194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4590288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Строгие схемы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4590288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валидирует входные JSON — меньше ошибок в рантайме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8065008" y="3246120"/>
            <a:ext cx="3474720" cy="219456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302752" y="3502152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5" name="Image 2" descr="icons/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7344" y="3666744"/>
            <a:ext cx="219456" cy="219456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8302752" y="41788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Авто-документация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8302752" y="46177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OpenAPI/Swagger генерируется сам — удобно для команды и плагина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ЭНДПОИНТЫ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Рабочие и служебные эндпоинты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1737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Общение игры с сервером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4884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627632" y="224028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/game/session/start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627632" y="25328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сессию → session_id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301752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627632" y="31089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/telemetry/ingest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627632" y="34015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 + ML каждые N событий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886200"/>
            <a:ext cx="530352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1F9BD8"/>
          </a:solidFill>
          <a:ln/>
        </p:spPr>
      </p:sp>
      <p:sp>
        <p:nvSpPr>
          <p:cNvPr id="20" name="Text 18"/>
          <p:cNvSpPr/>
          <p:nvPr/>
        </p:nvSpPr>
        <p:spPr>
          <a:xfrm>
            <a:off x="80467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27632" y="39776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/game/session/{id}/end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627632" y="427024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закрыть сессию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09360" y="1737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Служебные — для масштаба и поддержки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3952" y="235000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26" name="Text 24"/>
          <p:cNvSpPr/>
          <p:nvPr/>
        </p:nvSpPr>
        <p:spPr>
          <a:xfrm>
            <a:off x="6473952" y="235000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296912" y="224028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/health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296912" y="253288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сервиса и БД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309360" y="301752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73952" y="321868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321868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96912" y="310896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/game/profile · PUT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296912" y="340156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игры (контракт с ML)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309360" y="388620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408736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08736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7296912" y="397764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/game/session/{id}/adaptation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296912" y="427024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последняя адаптация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309360" y="4754880"/>
            <a:ext cx="5242255" cy="749808"/>
          </a:xfrm>
          <a:prstGeom prst="roundRect">
            <a:avLst>
              <a:gd name="adj" fmla="val 10976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73952" y="4956048"/>
            <a:ext cx="713232" cy="347472"/>
          </a:xfrm>
          <a:prstGeom prst="roundRect">
            <a:avLst>
              <a:gd name="adj" fmla="val 13158"/>
            </a:avLst>
          </a:prstGeom>
          <a:solidFill>
            <a:srgbClr val="0E7FB8"/>
          </a:solidFill>
          <a:ln/>
        </p:spPr>
      </p:sp>
      <p:sp>
        <p:nvSpPr>
          <p:cNvPr id="41" name="Text 39"/>
          <p:cNvSpPr/>
          <p:nvPr/>
        </p:nvSpPr>
        <p:spPr>
          <a:xfrm>
            <a:off x="6473952" y="4956048"/>
            <a:ext cx="713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96912" y="4846320"/>
            <a:ext cx="4053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/game/train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296912" y="5138928"/>
            <a:ext cx="4053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 обучения модели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4983480"/>
            <a:ext cx="5303520" cy="1005840"/>
          </a:xfrm>
          <a:prstGeom prst="roundRect">
            <a:avLst>
              <a:gd name="adj" fmla="val 8182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914400" y="512064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00" b="1" dirty="0">
                <a:solidFill>
                  <a:srgbClr val="0E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Роль служебных:  </a:t>
            </a:r>
            <a:pPr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health-check, профиль игры, выдача адаптации и запуск обучения делают систему удобной в эксплуатации и развитии.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1/2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Внутреннее устройство сервера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92024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EAF6FC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" y="221284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2416" y="2377440"/>
            <a:ext cx="219456" cy="21945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00200" y="21031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routes/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1600200" y="248716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· sessions · telemetry — приём HTTP, валидация Pydantic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24612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77824" y="353872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g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3703320"/>
            <a:ext cx="219456" cy="21945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services/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1600200" y="38130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ingest, build_features, ml_client — бизнес-логика и связка с ML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572000"/>
            <a:ext cx="585216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77824" y="4864608"/>
            <a:ext cx="548640" cy="548640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5029200"/>
            <a:ext cx="219456" cy="21945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002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E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 / migrations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600200" y="5138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SQLAlchemy-модели и идемпотентные SQL-миграции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920240"/>
            <a:ext cx="4785055" cy="3822192"/>
          </a:xfrm>
          <a:prstGeom prst="roundRect">
            <a:avLst>
              <a:gd name="adj" fmla="val 2153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040880" y="21214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Слоистая архитектура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7040880" y="2560320"/>
            <a:ext cx="423641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Разделение ответственности: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 не знают про SQL, сервисы — про HTTP. Каждый слой меняется независимо.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Тестируемость: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тестов — 3 unit + 3 integration + 7 E2E — покрывают ingest, features и весь путь до ML.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Конфиг через .env: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 БД, ML и CORS — без правок кода.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· 2/2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Процесс обработки события (поток ingest)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41248" y="197510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481328" y="197510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1" name="Image 0" descr="icons/gamepa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15" y="2101291"/>
            <a:ext cx="168250" cy="16825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182880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 батча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577840" y="182880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/telemetry/ingest, валидация Pydantic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932688" y="239572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265176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41248" y="279806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2798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1481328" y="279806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1" descr="icons/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7515" y="2924251"/>
            <a:ext cx="168250" cy="16825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2103120" y="265176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Сохранение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577840" y="265176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→ PostgreSQL (JSONB payload)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932688" y="321868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40080" y="347472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41248" y="362102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25" name="Text 21"/>
          <p:cNvSpPr/>
          <p:nvPr/>
        </p:nvSpPr>
        <p:spPr>
          <a:xfrm>
            <a:off x="841248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1481328" y="362102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27" name="Image 2" descr="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515" y="3747211"/>
            <a:ext cx="168250" cy="16825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2103120" y="347472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Построение признаков</a:t>
            </a:r>
            <a:endParaRPr lang="en-US" sz="1400" dirty="0"/>
          </a:p>
        </p:txBody>
      </p:sp>
      <p:sp>
        <p:nvSpPr>
          <p:cNvPr id="29" name="Text 24"/>
          <p:cNvSpPr/>
          <p:nvPr/>
        </p:nvSpPr>
        <p:spPr>
          <a:xfrm>
            <a:off x="5577840" y="347472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build_features_from_events() по critical points</a:t>
            </a:r>
            <a:endParaRPr lang="en-US" sz="1150" dirty="0"/>
          </a:p>
        </p:txBody>
      </p:sp>
      <p:sp>
        <p:nvSpPr>
          <p:cNvPr id="30" name="Text 25"/>
          <p:cNvSpPr/>
          <p:nvPr/>
        </p:nvSpPr>
        <p:spPr>
          <a:xfrm>
            <a:off x="932688" y="404164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40080" y="429768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84124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</p:spPr>
      </p:sp>
      <p:sp>
        <p:nvSpPr>
          <p:cNvPr id="33" name="Text 28"/>
          <p:cNvSpPr/>
          <p:nvPr/>
        </p:nvSpPr>
        <p:spPr>
          <a:xfrm>
            <a:off x="841248" y="4443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1481328" y="444398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35" name="Image 3" descr="icons/b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7515" y="4570171"/>
            <a:ext cx="168250" cy="168250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2103120" y="429768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Вызов ML</a:t>
            </a:r>
            <a:endParaRPr lang="en-US" sz="1400" dirty="0"/>
          </a:p>
        </p:txBody>
      </p:sp>
      <p:sp>
        <p:nvSpPr>
          <p:cNvPr id="37" name="Text 31"/>
          <p:cNvSpPr/>
          <p:nvPr/>
        </p:nvSpPr>
        <p:spPr>
          <a:xfrm>
            <a:off x="5577840" y="429768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ml_client → POST /predict каждые N событий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932688" y="4864608"/>
            <a:ext cx="237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D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40080" y="5120640"/>
            <a:ext cx="10911535" cy="713232"/>
          </a:xfrm>
          <a:prstGeom prst="roundRect">
            <a:avLst>
              <a:gd name="adj" fmla="val 11538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841248" y="5266944"/>
            <a:ext cx="420624" cy="420624"/>
          </a:xfrm>
          <a:prstGeom prst="ellipse">
            <a:avLst/>
          </a:prstGeom>
          <a:solidFill>
            <a:srgbClr val="0E7FB8"/>
          </a:solidFill>
          <a:ln/>
        </p:spPr>
      </p:sp>
      <p:sp>
        <p:nvSpPr>
          <p:cNvPr id="41" name="Text 35"/>
          <p:cNvSpPr/>
          <p:nvPr/>
        </p:nvSpPr>
        <p:spPr>
          <a:xfrm>
            <a:off x="841248" y="5266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42" name="Shape 36"/>
          <p:cNvSpPr/>
          <p:nvPr/>
        </p:nvSpPr>
        <p:spPr>
          <a:xfrm>
            <a:off x="1481328" y="5266944"/>
            <a:ext cx="420624" cy="420624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43" name="Image 4" descr="icons/slid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515" y="5393131"/>
            <a:ext cx="168250" cy="168250"/>
          </a:xfrm>
          <a:prstGeom prst="rect">
            <a:avLst/>
          </a:prstGeom>
        </p:spPr>
      </p:pic>
      <p:sp>
        <p:nvSpPr>
          <p:cNvPr id="44" name="Text 37"/>
          <p:cNvSpPr/>
          <p:nvPr/>
        </p:nvSpPr>
        <p:spPr>
          <a:xfrm>
            <a:off x="2103120" y="5120640"/>
            <a:ext cx="3383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 адаптации</a:t>
            </a:r>
            <a:endParaRPr lang="en-US" sz="1400" dirty="0"/>
          </a:p>
        </p:txBody>
      </p:sp>
      <p:sp>
        <p:nvSpPr>
          <p:cNvPr id="45" name="Text 38"/>
          <p:cNvSpPr/>
          <p:nvPr/>
        </p:nvSpPr>
        <p:spPr>
          <a:xfrm>
            <a:off x="5577840" y="5120640"/>
            <a:ext cx="5790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сохранён, adaptation в ответе ingest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475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ЗАДЕЛЫ НА БУДУЩЕЕ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7498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Заделы на будущее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03911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9" name="Image 0" descr="icons/slide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9614" y="2209190"/>
            <a:ext cx="226771" cy="22677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64208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логирование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664208" y="231343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/predict, fallback-rate, мониторинг нагрузки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40080" y="306324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59536" y="331927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4" name="Image 1" descr="icons/shie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" y="3489350"/>
            <a:ext cx="226771" cy="22677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64208" y="32278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Политика отказов ML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1664208" y="359359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чёткий fallback или 503 при недоступности ML-сервиса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4343400"/>
            <a:ext cx="5212080" cy="1078992"/>
          </a:xfrm>
          <a:prstGeom prst="roundRect">
            <a:avLst>
              <a:gd name="adj" fmla="val 6780"/>
            </a:avLst>
          </a:prstGeom>
          <a:solidFill>
            <a:srgbClr val="F4FAFD"/>
          </a:solidFill>
          <a:ln w="12700">
            <a:solidFill>
              <a:srgbClr val="DCE6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59536" y="4599432"/>
            <a:ext cx="566928" cy="566928"/>
          </a:xfrm>
          <a:prstGeom prst="ellipse">
            <a:avLst/>
          </a:prstGeom>
          <a:solidFill>
            <a:srgbClr val="1F9BD8"/>
          </a:solidFill>
          <a:ln/>
          <a:effectLst>
            <a:outerShdw sx="100000" sy="100000" kx="0" ky="0" algn="bl" rotWithShape="0" blurRad="88900" dist="25400" dir="5400000">
              <a:srgbClr val="B8C9D4">
                <a:alpha val="22000"/>
              </a:srgbClr>
            </a:outerShdw>
          </a:effectLst>
        </p:spPr>
      </p:sp>
      <p:pic>
        <p:nvPicPr>
          <p:cNvPr id="19" name="Image 2" descr="icons/contai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" y="4769510"/>
            <a:ext cx="226771" cy="22677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64208" y="45079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Масштабирование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664208" y="487375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333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несколько воркеров backend, пул соединений, готовность к k8s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766560" y="1783080"/>
            <a:ext cx="4785055" cy="4160520"/>
          </a:xfrm>
          <a:prstGeom prst="roundRect">
            <a:avLst>
              <a:gd name="adj" fmla="val 2198"/>
            </a:avLst>
          </a:prstGeom>
          <a:solidFill>
            <a:srgbClr val="0B5E88"/>
          </a:solidFill>
          <a:ln/>
          <a:effectLst>
            <a:outerShdw sx="100000" sy="100000" kx="0" ky="0" algn="bl" rotWithShape="0" blurRad="114300" dist="38100" dir="5400000">
              <a:srgbClr val="9FB6C4">
                <a:alpha val="28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6766560" y="205740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РЕПОЗИТОРИЙ ПРОЕКТА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7924648" y="2468880"/>
            <a:ext cx="24688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</p:spPr>
      </p:sp>
      <p:pic>
        <p:nvPicPr>
          <p:cNvPr id="25" name="Image 3" descr="qr_g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0952" y="2615184"/>
            <a:ext cx="2176272" cy="21762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66560" y="507492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github.com/Antizi/diplom-Game_Plugs_Ai</a:t>
            </a:r>
            <a:endParaRPr lang="en-US" sz="1150" dirty="0"/>
          </a:p>
        </p:txBody>
      </p:sp>
      <p:sp>
        <p:nvSpPr>
          <p:cNvPr id="27" name="Text 21"/>
          <p:cNvSpPr/>
          <p:nvPr/>
        </p:nvSpPr>
        <p:spPr>
          <a:xfrm>
            <a:off x="6766560" y="5440680"/>
            <a:ext cx="4785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 телефона на QR-код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E8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8" name="Shape 6"/>
          <p:cNvSpPr/>
          <p:nvPr/>
        </p:nvSpPr>
        <p:spPr>
          <a:xfrm>
            <a:off x="15544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0" name="Shape 8"/>
          <p:cNvSpPr/>
          <p:nvPr/>
        </p:nvSpPr>
        <p:spPr>
          <a:xfrm>
            <a:off x="15544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1" name="Shape 9"/>
          <p:cNvSpPr/>
          <p:nvPr/>
        </p:nvSpPr>
        <p:spPr>
          <a:xfrm>
            <a:off x="20116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2" name="Shape 10"/>
          <p:cNvSpPr/>
          <p:nvPr/>
        </p:nvSpPr>
        <p:spPr>
          <a:xfrm>
            <a:off x="20116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3" name="Shape 11"/>
          <p:cNvSpPr/>
          <p:nvPr/>
        </p:nvSpPr>
        <p:spPr>
          <a:xfrm>
            <a:off x="20116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4" name="Shape 12"/>
          <p:cNvSpPr/>
          <p:nvPr/>
        </p:nvSpPr>
        <p:spPr>
          <a:xfrm>
            <a:off x="24688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5" name="Shape 13"/>
          <p:cNvSpPr/>
          <p:nvPr/>
        </p:nvSpPr>
        <p:spPr>
          <a:xfrm>
            <a:off x="24688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6" name="Shape 14"/>
          <p:cNvSpPr/>
          <p:nvPr/>
        </p:nvSpPr>
        <p:spPr>
          <a:xfrm>
            <a:off x="24688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7" name="Shape 15"/>
          <p:cNvSpPr/>
          <p:nvPr/>
        </p:nvSpPr>
        <p:spPr>
          <a:xfrm>
            <a:off x="29260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19" name="Shape 17"/>
          <p:cNvSpPr/>
          <p:nvPr/>
        </p:nvSpPr>
        <p:spPr>
          <a:xfrm>
            <a:off x="29260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0" name="Shape 18"/>
          <p:cNvSpPr/>
          <p:nvPr/>
        </p:nvSpPr>
        <p:spPr>
          <a:xfrm>
            <a:off x="3383280" y="576072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1" name="Shape 19"/>
          <p:cNvSpPr/>
          <p:nvPr/>
        </p:nvSpPr>
        <p:spPr>
          <a:xfrm>
            <a:off x="3383280" y="612648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6492240"/>
            <a:ext cx="54864" cy="54864"/>
          </a:xfrm>
          <a:prstGeom prst="ellipse">
            <a:avLst/>
          </a:prstGeom>
          <a:solidFill>
            <a:srgbClr val="3E8FB8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D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423160"/>
            <a:ext cx="10424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Серверное решение для сбора</a:t>
            </a:r>
            <a:endParaRPr lang="en-US" sz="3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анализа игровых данных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640080" y="3977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CFE8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в Docker · рабочие и служебные эндпоинты · слоистая архитектура, миграции и тесты — масштабируемо и поддерживаемо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Самигуллин Максим Ринатович  ·  Backend-инженер</a:t>
            </a:r>
            <a:pPr indent="0" marL="0">
              <a:buNone/>
            </a:pPr>
            <a:r>
              <a:rPr lang="en-US" sz="140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·   Группа МВИ-122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349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D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Научный руководитель: Минаева Н. В., ст. преподаватель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"/>
          <p:cNvSpPr/>
          <p:nvPr/>
        </p:nvSpPr>
        <p:spPr>
          <a:xfrm>
            <a:off x="640080" y="470000"/>
            <a:ext cx="82296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500" b="1" spc="25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ПРОЕКТА</a:t>
            </a:r>
          </a:p>
        </p:txBody>
      </p:sp>
      <p:sp>
        <p:nvSpPr>
          <p:cNvPr id="102" name="T"/>
          <p:cNvSpPr/>
          <p:nvPr/>
        </p:nvSpPr>
        <p:spPr>
          <a:xfrm>
            <a:off x="640080" y="7600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3000" b="1" kern="0" dirty="0">
                <a:solidFill>
                  <a:srgbClr val="1114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работает система</a:t>
            </a:r>
          </a:p>
        </p:txBody>
      </p:sp>
      <p:sp>
        <p:nvSpPr>
          <p:cNvPr id="103" name="T"/>
          <p:cNvSpPr/>
          <p:nvPr/>
        </p:nvSpPr>
        <p:spPr>
          <a:xfrm>
            <a:off x="10820095" y="384048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ru-RU" sz="3000" b="1" kern="0" dirty="0">
                <a:solidFill>
                  <a:srgbClr val="C6D6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</a:p>
        </p:txBody>
      </p:sp>
      <p:sp>
        <p:nvSpPr>
          <p:cNvPr id="104" name="R"/>
          <p:cNvSpPr/>
          <p:nvPr/>
        </p:nvSpPr>
        <p:spPr>
          <a:xfrm>
            <a:off x="3360000" y="1560000"/>
            <a:ext cx="8260000" cy="3760000"/>
          </a:xfrm>
          <a:prstGeom prst="roundRect">
            <a:avLst>
              <a:gd name="adj" fmla="val 2600"/>
            </a:avLst>
          </a:prstGeom>
          <a:solidFill>
            <a:srgbClr val="F4FAFD"/>
          </a:solidFill>
          <a:ln w="12700">
            <a:solidFill>
              <a:srgbClr val="D7E5EE"/>
            </a:solidFill>
            <a:prstDash val="dash"/>
          </a:ln>
        </p:spPr>
      </p:sp>
      <p:sp>
        <p:nvSpPr>
          <p:cNvPr id="105" name="T"/>
          <p:cNvSpPr/>
          <p:nvPr/>
        </p:nvSpPr>
        <p:spPr>
          <a:xfrm>
            <a:off x="3560000" y="1700000"/>
            <a:ext cx="30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ru-RU" sz="1150" b="1" spc="200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</a:t>
            </a:r>
          </a:p>
        </p:txBody>
      </p:sp>
      <p:cxnSp>
        <p:nvCxnSpPr>
          <p:cNvPr id="106" name="cxn"/>
          <p:cNvCxnSpPr/>
          <p:nvPr/>
        </p:nvCxnSpPr>
        <p:spPr>
          <a:xfrm>
            <a:off x="2200000" y="333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7" name="cxn"/>
          <p:cNvCxnSpPr/>
          <p:nvPr/>
        </p:nvCxnSpPr>
        <p:spPr>
          <a:xfrm flipH="1">
            <a:off x="2200000" y="3520000"/>
            <a:ext cx="2050000" cy="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8" name="cxn"/>
          <p:cNvCxnSpPr/>
          <p:nvPr/>
        </p:nvCxnSpPr>
        <p:spPr>
          <a:xfrm flipV="1">
            <a:off x="5150000" y="267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09" name="cxn"/>
          <p:cNvCxnSpPr/>
          <p:nvPr/>
        </p:nvCxnSpPr>
        <p:spPr>
          <a:xfrm flipH="1">
            <a:off x="5150000" y="2850000"/>
            <a:ext cx="2480000" cy="5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0" name="cxn"/>
          <p:cNvCxnSpPr/>
          <p:nvPr/>
        </p:nvCxnSpPr>
        <p:spPr>
          <a:xfrm>
            <a:off x="5150000" y="345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cxnSp>
        <p:nvCxnSpPr>
          <p:cNvPr id="111" name="cxn"/>
          <p:cNvCxnSpPr/>
          <p:nvPr/>
        </p:nvCxnSpPr>
        <p:spPr>
          <a:xfrm flipH="1" flipV="1">
            <a:off x="5150000" y="3630000"/>
            <a:ext cx="2480000" cy="840000"/>
          </a:xfrm>
          <a:prstGeom prst="straightConnector1">
            <a:avLst/>
          </a:prstGeom>
          <a:ln w="25400" cap="rnd">
            <a:solidFill>
              <a:srgbClr val="AEC1CD"/>
            </a:solidFill>
            <a:tailEnd type="triangle" w="med" len="med"/>
          </a:ln>
        </p:spPr>
      </p:cxnSp>
      <p:sp>
        <p:nvSpPr>
          <p:cNvPr id="112" name="R"/>
          <p:cNvSpPr/>
          <p:nvPr/>
        </p:nvSpPr>
        <p:spPr>
          <a:xfrm>
            <a:off x="1490000" y="3120000"/>
            <a:ext cx="660000" cy="430000"/>
          </a:xfrm>
          <a:prstGeom prst="roundRect">
            <a:avLst>
              <a:gd name="adj" fmla="val 9000"/>
            </a:avLst>
          </a:prstGeom>
          <a:solidFill>
            <a:srgbClr val="96B4C6"/>
          </a:solidFill>
          <a:ln/>
        </p:spPr>
      </p:sp>
      <p:sp>
        <p:nvSpPr>
          <p:cNvPr id="113" name="R"/>
          <p:cNvSpPr/>
          <p:nvPr/>
        </p:nvSpPr>
        <p:spPr>
          <a:xfrm>
            <a:off x="1558000" y="3188000"/>
            <a:ext cx="524000" cy="29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sp>
        <p:nvSpPr>
          <p:cNvPr id="114" name="R"/>
          <p:cNvSpPr/>
          <p:nvPr/>
        </p:nvSpPr>
        <p:spPr>
          <a:xfrm>
            <a:off x="1774000" y="3550000"/>
            <a:ext cx="92000" cy="96000"/>
          </a:xfrm>
          <a:prstGeom prst="roundRect">
            <a:avLst>
              <a:gd name="adj" fmla="val 0"/>
            </a:avLst>
          </a:prstGeom>
          <a:solidFill>
            <a:srgbClr val="96B4C6"/>
          </a:solidFill>
          <a:ln/>
        </p:spPr>
      </p:sp>
      <p:sp>
        <p:nvSpPr>
          <p:cNvPr id="115" name="R"/>
          <p:cNvSpPr/>
          <p:nvPr/>
        </p:nvSpPr>
        <p:spPr>
          <a:xfrm>
            <a:off x="1655000" y="3632000"/>
            <a:ext cx="330000" cy="66000"/>
          </a:xfrm>
          <a:prstGeom prst="roundRect">
            <a:avLst>
              <a:gd name="adj" fmla="val 50000"/>
            </a:avLst>
          </a:prstGeom>
          <a:solidFill>
            <a:srgbClr val="96B4C6"/>
          </a:solidFill>
          <a:ln/>
        </p:spPr>
      </p:sp>
      <p:pic>
        <p:nvPicPr>
          <p:cNvPr id="116" name="Icon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0000" y="2990000"/>
            <a:ext cx="860000" cy="860000"/>
          </a:xfrm>
          <a:prstGeom prst="rect">
            <a:avLst/>
          </a:prstGeom>
        </p:spPr>
      </p:pic>
      <p:cxnSp>
        <p:nvCxnSpPr>
          <p:cNvPr id="117" name="ln"/>
          <p:cNvCxnSpPr/>
          <p:nvPr/>
        </p:nvCxnSpPr>
        <p:spPr>
          <a:xfrm>
            <a:off x="7760000" y="24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8" name="ln"/>
          <p:cNvCxnSpPr/>
          <p:nvPr/>
        </p:nvCxnSpPr>
        <p:spPr>
          <a:xfrm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19" name="ln"/>
          <p:cNvCxnSpPr/>
          <p:nvPr/>
        </p:nvCxnSpPr>
        <p:spPr>
          <a:xfrm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0" name="ln"/>
          <p:cNvCxnSpPr/>
          <p:nvPr/>
        </p:nvCxnSpPr>
        <p:spPr>
          <a:xfrm flipV="1">
            <a:off x="7760000" y="243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1" name="ln"/>
          <p:cNvCxnSpPr/>
          <p:nvPr/>
        </p:nvCxnSpPr>
        <p:spPr>
          <a:xfrm>
            <a:off x="7760000" y="268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2" name="ln"/>
          <p:cNvCxnSpPr/>
          <p:nvPr/>
        </p:nvCxnSpPr>
        <p:spPr>
          <a:xfrm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3" name="ln"/>
          <p:cNvCxnSpPr/>
          <p:nvPr/>
        </p:nvCxnSpPr>
        <p:spPr>
          <a:xfrm flipV="1">
            <a:off x="7760000" y="2430000"/>
            <a:ext cx="300000" cy="50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4" name="ln"/>
          <p:cNvCxnSpPr/>
          <p:nvPr/>
        </p:nvCxnSpPr>
        <p:spPr>
          <a:xfrm flipV="1">
            <a:off x="7760000" y="2680000"/>
            <a:ext cx="300000" cy="25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5" name="ln"/>
          <p:cNvCxnSpPr/>
          <p:nvPr/>
        </p:nvCxnSpPr>
        <p:spPr>
          <a:xfrm>
            <a:off x="7760000" y="2930000"/>
            <a:ext cx="300000" cy="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6" name="ln"/>
          <p:cNvCxnSpPr/>
          <p:nvPr/>
        </p:nvCxnSpPr>
        <p:spPr>
          <a:xfrm>
            <a:off x="8060000" y="243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7" name="ln"/>
          <p:cNvCxnSpPr/>
          <p:nvPr/>
        </p:nvCxnSpPr>
        <p:spPr>
          <a:xfrm>
            <a:off x="8060000" y="243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8" name="ln"/>
          <p:cNvCxnSpPr/>
          <p:nvPr/>
        </p:nvCxnSpPr>
        <p:spPr>
          <a:xfrm flipV="1">
            <a:off x="8060000" y="254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29" name="ln"/>
          <p:cNvCxnSpPr/>
          <p:nvPr/>
        </p:nvCxnSpPr>
        <p:spPr>
          <a:xfrm>
            <a:off x="8060000" y="2680000"/>
            <a:ext cx="300000" cy="14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0" name="ln"/>
          <p:cNvCxnSpPr/>
          <p:nvPr/>
        </p:nvCxnSpPr>
        <p:spPr>
          <a:xfrm flipV="1">
            <a:off x="8060000" y="2540000"/>
            <a:ext cx="300000" cy="39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cxnSp>
        <p:nvCxnSpPr>
          <p:cNvPr id="131" name="ln"/>
          <p:cNvCxnSpPr/>
          <p:nvPr/>
        </p:nvCxnSpPr>
        <p:spPr>
          <a:xfrm flipV="1">
            <a:off x="8060000" y="2820000"/>
            <a:ext cx="300000" cy="110000"/>
          </a:xfrm>
          <a:prstGeom prst="straightConnector1">
            <a:avLst/>
          </a:prstGeom>
          <a:ln w="9525">
            <a:solidFill>
              <a:srgbClr val="96B4C6"/>
            </a:solidFill>
          </a:ln>
        </p:spPr>
      </p:cxnSp>
      <p:sp>
        <p:nvSpPr>
          <p:cNvPr id="132" name="n"/>
          <p:cNvSpPr/>
          <p:nvPr/>
        </p:nvSpPr>
        <p:spPr>
          <a:xfrm>
            <a:off x="77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3" name="n"/>
          <p:cNvSpPr/>
          <p:nvPr/>
        </p:nvSpPr>
        <p:spPr>
          <a:xfrm>
            <a:off x="77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4" name="n"/>
          <p:cNvSpPr/>
          <p:nvPr/>
        </p:nvSpPr>
        <p:spPr>
          <a:xfrm>
            <a:off x="77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5" name="n"/>
          <p:cNvSpPr/>
          <p:nvPr/>
        </p:nvSpPr>
        <p:spPr>
          <a:xfrm>
            <a:off x="8000000" y="23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6" name="n"/>
          <p:cNvSpPr/>
          <p:nvPr/>
        </p:nvSpPr>
        <p:spPr>
          <a:xfrm>
            <a:off x="8000000" y="262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7" name="n"/>
          <p:cNvSpPr/>
          <p:nvPr/>
        </p:nvSpPr>
        <p:spPr>
          <a:xfrm>
            <a:off x="8000000" y="287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8" name="n"/>
          <p:cNvSpPr/>
          <p:nvPr/>
        </p:nvSpPr>
        <p:spPr>
          <a:xfrm>
            <a:off x="8300000" y="248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sp>
        <p:nvSpPr>
          <p:cNvPr id="139" name="n"/>
          <p:cNvSpPr/>
          <p:nvPr/>
        </p:nvSpPr>
        <p:spPr>
          <a:xfrm>
            <a:off x="8300000" y="2760000"/>
            <a:ext cx="120000" cy="120000"/>
          </a:xfrm>
          <a:prstGeom prst="ellipse">
            <a:avLst/>
          </a:prstGeom>
          <a:solidFill>
            <a:srgbClr val="96B4C6"/>
          </a:solidFill>
          <a:ln/>
        </p:spPr>
      </p:sp>
      <p:pic>
        <p:nvPicPr>
          <p:cNvPr id="140" name="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0000" y="4090000"/>
            <a:ext cx="860000" cy="860000"/>
          </a:xfrm>
          <a:prstGeom prst="rect">
            <a:avLst/>
          </a:prstGeom>
        </p:spPr>
      </p:pic>
      <p:sp>
        <p:nvSpPr>
          <p:cNvPr id="141" name="T"/>
          <p:cNvSpPr/>
          <p:nvPr/>
        </p:nvSpPr>
        <p:spPr>
          <a:xfrm>
            <a:off x="42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 Engine</a:t>
            </a:r>
          </a:p>
        </p:txBody>
      </p:sp>
      <p:sp>
        <p:nvSpPr>
          <p:cNvPr id="142" name="T"/>
          <p:cNvSpPr/>
          <p:nvPr/>
        </p:nvSpPr>
        <p:spPr>
          <a:xfrm>
            <a:off x="3280000" y="270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</a:p>
        </p:txBody>
      </p:sp>
      <p:sp>
        <p:nvSpPr>
          <p:cNvPr id="143" name="T"/>
          <p:cNvSpPr/>
          <p:nvPr/>
        </p:nvSpPr>
        <p:spPr>
          <a:xfrm>
            <a:off x="6660000" y="196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114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ML-сервис</a:t>
            </a:r>
          </a:p>
        </p:txBody>
      </p:sp>
      <p:sp>
        <p:nvSpPr>
          <p:cNvPr id="144" name="T"/>
          <p:cNvSpPr/>
          <p:nvPr/>
        </p:nvSpPr>
        <p:spPr>
          <a:xfrm>
            <a:off x="6660000" y="5040000"/>
            <a:ext cx="28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400" b="1" kern="0" dirty="0">
                <a:solidFill>
                  <a:srgbClr val="1F9B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</a:p>
        </p:txBody>
      </p:sp>
      <p:sp>
        <p:nvSpPr>
          <p:cNvPr id="145" name="T"/>
          <p:cNvSpPr/>
          <p:nvPr/>
        </p:nvSpPr>
        <p:spPr>
          <a:xfrm>
            <a:off x="2375000" y="3030000"/>
            <a:ext cx="17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телеметрия</a:t>
            </a:r>
          </a:p>
        </p:txBody>
      </p:sp>
      <p:sp>
        <p:nvSpPr>
          <p:cNvPr id="146" name="T"/>
          <p:cNvSpPr/>
          <p:nvPr/>
        </p:nvSpPr>
        <p:spPr>
          <a:xfrm>
            <a:off x="2225000" y="3610000"/>
            <a:ext cx="20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адаптация игры</a:t>
            </a:r>
          </a:p>
        </p:txBody>
      </p:sp>
      <p:sp>
        <p:nvSpPr>
          <p:cNvPr id="147" name="T"/>
          <p:cNvSpPr/>
          <p:nvPr/>
        </p:nvSpPr>
        <p:spPr>
          <a:xfrm>
            <a:off x="5900000" y="264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</a:p>
        </p:txBody>
      </p:sp>
      <p:sp>
        <p:nvSpPr>
          <p:cNvPr id="148" name="T"/>
          <p:cNvSpPr/>
          <p:nvPr/>
        </p:nvSpPr>
        <p:spPr>
          <a:xfrm>
            <a:off x="5900000" y="436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ru-RU" sz="1000" kern="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серверного решения для сбора и анализа игровых данных</dc:title>
  <dc:subject>PptxGenJS Presentation</dc:subject>
  <dc:creator>Самигуллин Максим Ринатович</dc:creator>
  <cp:lastModifiedBy>Самигуллин Максим Ринатович</cp:lastModifiedBy>
  <cp:revision>1</cp:revision>
  <dcterms:created xsi:type="dcterms:W3CDTF">2026-06-15T11:15:39Z</dcterms:created>
  <dcterms:modified xsi:type="dcterms:W3CDTF">2026-06-15T11:15:39Z</dcterms:modified>
</cp:coreProperties>
</file>