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9309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Я отвечал за серверную часть проекта — backend и базу данных. Сервер принимает телеметрию от игры, сохраняет её, строит признаки и обращается к ML-сервису, а затем возвращает игре параметры адаптации. Главной целью для меня было сделать систему масштабируемой и поддерживаемой, поэтому я расскажу про выбор PostgreSQL и FastAPI, про устройство эндпоинтов и про то, как процессы устроены внутри, включая контейнеризацию в Docker.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Зачем вообще нужен сервер. Телеметрию нельзя держать на клиенте: данные многих игроков надо собирать централизованно, надёжно хранить и отдавать модели. Сервер — это единое хранилище и источник правды: он валидирует входные данные и хранит историю предсказаний. И именно сюда вынесена вся тяжёлая логика — построение признаков и обращение к ML. По сути backend — центральный узел между игрой и ML, который в реальном времени обслуживает множество клиентов.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Базу данных я выбрал PostgreSQL. Во-первых, надёжность: полноценные ACID-транзакции гарантируют целостность телеметрии. Во-вторых, тип JSONB — события приходят с произвольными parameters и state, и Postgres хранит их как гибкий, при этом индексируемый JSON, не ломая схему. В-третьих, производительность: индексы, быстрые батч-вставки и выборки по сессиям. И в-четвёртых — это открытая, бесплатная и очень зрелая СУБД с огромной экосистемой, проверенная в продакшене.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данных простая и расширяемая. Три основные таблицы: sessions — игровые сессии с UUID; events — события, где произвольные данные лежат в поле payload типа JSONB; и predictions — история предсказаний модели с архетипом, уверенностью и id модели. Отдельно есть game_models — профиль игры с архетипами и критическими точками, это единый контракт с ML. Все миграции идемпотентны и применяются автоматически при каждом старте сервера, поэтому база всегда в актуальном состоянии без ручных шагов.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Фреймворк — FastAPI. Он асинхронный, поэтому хорошо держит поток запросов телеметрии без блокировок. Встроенная валидация через Pydantic: входные JSON проверяются по строгим схемам, и ошибки ловятся ещё до бизнес-логики. И он автоматически генерирует документацию OpenAPI и Swagger — это удобно и команде, и автору плагина, который видит контракт прямо на странице /docs. Сочетание скорости, валидации и автодокументации и определило выбор.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Эндпоинты я разделил на две группы. Слева — рабочие, через которые игра общается с сервером: открыть сессию, отправить батч телеметрии — здесь же раз в N событий вызывается ML, — и закрыть сессию. Но чтобы система была масштабируемой и поддерживаемой, одних рабочих эндпоинтов мало, поэтому справа — служебные: health-check для мониторинга сервиса и базы, чтение и запись профиля игры — это контракт с ML, выдача последней адаптации и запуск переобучения модели. Именно служебные эндпоинты делают систему пригодной к эксплуатации.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внутреннее устройство. Backend разбит на слои. routes — это HTTP-маршруты с валидацией Pydantic: game, sessions, telemetry. services — бизнес-логика: ingest сохраняет события, build_features строит признаки, ml_client общается с ML. И слой моделей с миграциями — SQLAlchemy и идемпотентный SQL. Такая слоистость даёт разделение ответственности: маршруты не знают про SQL, сервисы — про HTTP, каждый слой меняется независимо. Это и есть поддерживаемость. Систему покрывают 13 тестов — от unit до сквозных E2E, а вся конфигурация вынесена в .env.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Покажу полный путь одного батча событий — это удобно анимировать по шагам. Шаг первый: приходит POST на ingest, Pydantic валидирует данные. Второй: события сохраняются в PostgreSQL, произвольные поля — в JSONB. Третий: сервис build_features превращает накопленные события в вектор признаков по критическим точкам профиля. Четвёртый: каждые N событий ml_client вызывает ML-сервис на /predict. Пятый: предсказание сохраняется в базу, а параметры адаптации кладутся прямо в ответ на ingest — и плагин тут же передаёт их в игру. Весь стек — postgres, backend и ml — поднимается одной командой docker compose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Планы по серверу: добавить метрики и логирование — латентность предсказаний, частоту fallback, мониторинг нагрузки. Зафиксировать политику отказов: что делать при недоступности ML — отдавать понятную ошибку или fallback. И подготовить горизонтальное масштабирование: несколько воркеров backend, пул соединений к базе, готовность к оркестрации в Kubernetes. Весь код backend — в репозитории по QR-коду, папка backend.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по backend. Сервер на FastAPI и PostgreSQL в Docker — это центральный узел системы: он принимает телеметрию, строит признаки, связывается с ML и возвращает адаптацию. Благодаря слоистой архитектуре, служебным эндпоинтам, миграциям и тестам систему легко масштабировать и поддерживать. Спасибо за внимание.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5E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8869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9326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97840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97840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102412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412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984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984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984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55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11155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55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11612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612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12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 · 2026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0080" y="1417320"/>
            <a:ext cx="10927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Разработка серверного решения для сбора и анализа игровых данных</a:t>
            </a:r>
            <a:endParaRPr lang="en-US" sz="4400" dirty="0"/>
          </a:p>
        </p:txBody>
      </p:sp>
      <p:sp>
        <p:nvSpPr>
          <p:cNvPr id="26" name="Shape 24"/>
          <p:cNvSpPr/>
          <p:nvPr/>
        </p:nvSpPr>
        <p:spPr>
          <a:xfrm>
            <a:off x="640080" y="4892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" y="5276088"/>
            <a:ext cx="603504" cy="60350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8" name="Image 0" descr="icons/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" y="5457139"/>
            <a:ext cx="241402" cy="24140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78308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783080" y="534924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Самигуллин Максим Ринатович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1783080" y="576072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МВИ-122  ·  Backend-инженер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537960" y="4892040"/>
            <a:ext cx="5013655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830568" y="507492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830568" y="5394960"/>
            <a:ext cx="4465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Минаева Н. В.</a:t>
            </a:r>
            <a:endParaRPr lang="en-US" sz="15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ст. преподаватель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Необходимость серверной части для телеметрии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70080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080" y="2740000"/>
            <a:ext cx="300000" cy="300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70080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Единое хранилище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970080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всех игроков и сессий в одной надёжной БД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52544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82544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544" y="2740000"/>
            <a:ext cx="300000" cy="300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82544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правды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4682544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валидирует данные и хранит историю предсказаний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065008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95008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5008" y="2740000"/>
            <a:ext cx="300000" cy="300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395008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Тяжёлое — на сервере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8395008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построение признаков и ML вынесены с клиента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0000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ПРОЕКТА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6000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работает система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</a:p>
        </p:txBody>
      </p:sp>
      <p:sp>
        <p:nvSpPr>
          <p:cNvPr id="104" name="R"/>
          <p:cNvSpPr/>
          <p:nvPr/>
        </p:nvSpPr>
        <p:spPr>
          <a:xfrm>
            <a:off x="3360000" y="1559999"/>
            <a:ext cx="6365000" cy="3934789"/>
          </a:xfrm>
          <a:prstGeom prst="roundRect">
            <a:avLst>
              <a:gd name="adj" fmla="val 2600"/>
            </a:avLst>
          </a:prstGeom>
          <a:solidFill>
            <a:srgbClr val="F4FAFD"/>
          </a:solidFill>
          <a:ln w="12700">
            <a:solidFill>
              <a:srgbClr val="D7E5EE"/>
            </a:solidFill>
            <a:prstDash val="dash"/>
          </a:ln>
        </p:spPr>
      </p:sp>
      <p:sp>
        <p:nvSpPr>
          <p:cNvPr id="105" name="T"/>
          <p:cNvSpPr/>
          <p:nvPr/>
        </p:nvSpPr>
        <p:spPr>
          <a:xfrm>
            <a:off x="3560000" y="1700000"/>
            <a:ext cx="30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150" b="1" kern="0" spc="20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</a:t>
            </a:r>
          </a:p>
        </p:txBody>
      </p:sp>
      <p:cxnSp>
        <p:nvCxnSpPr>
          <p:cNvPr id="106" name="cxn"/>
          <p:cNvCxnSpPr/>
          <p:nvPr/>
        </p:nvCxnSpPr>
        <p:spPr>
          <a:xfrm>
            <a:off x="2200000" y="3330000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7" name="cxn"/>
          <p:cNvCxnSpPr/>
          <p:nvPr/>
        </p:nvCxnSpPr>
        <p:spPr>
          <a:xfrm flipH="1">
            <a:off x="2200000" y="3520000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8" name="cxn"/>
          <p:cNvCxnSpPr/>
          <p:nvPr/>
        </p:nvCxnSpPr>
        <p:spPr>
          <a:xfrm flipV="1">
            <a:off x="5150000" y="2670000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9" name="cxn"/>
          <p:cNvCxnSpPr/>
          <p:nvPr/>
        </p:nvCxnSpPr>
        <p:spPr>
          <a:xfrm flipH="1">
            <a:off x="5150000" y="2850000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0" name="cxn"/>
          <p:cNvCxnSpPr/>
          <p:nvPr/>
        </p:nvCxnSpPr>
        <p:spPr>
          <a:xfrm>
            <a:off x="5150000" y="3450000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1" name="cxn"/>
          <p:cNvCxnSpPr/>
          <p:nvPr/>
        </p:nvCxnSpPr>
        <p:spPr>
          <a:xfrm flipH="1" flipV="1">
            <a:off x="5150000" y="3630000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sp>
        <p:nvSpPr>
          <p:cNvPr id="112" name="R"/>
          <p:cNvSpPr/>
          <p:nvPr/>
        </p:nvSpPr>
        <p:spPr>
          <a:xfrm>
            <a:off x="1490000" y="3120000"/>
            <a:ext cx="660000" cy="430000"/>
          </a:xfrm>
          <a:prstGeom prst="roundRect">
            <a:avLst>
              <a:gd name="adj" fmla="val 9000"/>
            </a:avLst>
          </a:prstGeom>
          <a:solidFill>
            <a:srgbClr val="96B4C6"/>
          </a:solidFill>
          <a:ln/>
        </p:spPr>
      </p:sp>
      <p:sp>
        <p:nvSpPr>
          <p:cNvPr id="113" name="R"/>
          <p:cNvSpPr/>
          <p:nvPr/>
        </p:nvSpPr>
        <p:spPr>
          <a:xfrm>
            <a:off x="1558000" y="3188000"/>
            <a:ext cx="524000" cy="29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sp>
        <p:nvSpPr>
          <p:cNvPr id="114" name="R"/>
          <p:cNvSpPr/>
          <p:nvPr/>
        </p:nvSpPr>
        <p:spPr>
          <a:xfrm>
            <a:off x="1774000" y="3550000"/>
            <a:ext cx="92000" cy="96000"/>
          </a:xfrm>
          <a:prstGeom prst="roundRect">
            <a:avLst>
              <a:gd name="adj" fmla="val 0"/>
            </a:avLst>
          </a:prstGeom>
          <a:solidFill>
            <a:srgbClr val="96B4C6"/>
          </a:solidFill>
          <a:ln/>
        </p:spPr>
      </p:sp>
      <p:sp>
        <p:nvSpPr>
          <p:cNvPr id="115" name="R"/>
          <p:cNvSpPr/>
          <p:nvPr/>
        </p:nvSpPr>
        <p:spPr>
          <a:xfrm>
            <a:off x="1655000" y="3632000"/>
            <a:ext cx="330000" cy="66000"/>
          </a:xfrm>
          <a:prstGeom prst="roundRect">
            <a:avLst>
              <a:gd name="adj" fmla="val 50000"/>
            </a:avLst>
          </a:prstGeom>
          <a:solidFill>
            <a:srgbClr val="96B4C6"/>
          </a:solidFill>
          <a:ln/>
        </p:spPr>
      </p:sp>
      <p:pic>
        <p:nvPicPr>
          <p:cNvPr id="116" name="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0000" y="2990000"/>
            <a:ext cx="860000" cy="860000"/>
          </a:xfrm>
          <a:prstGeom prst="rect">
            <a:avLst/>
          </a:prstGeom>
        </p:spPr>
      </p:pic>
      <p:cxnSp>
        <p:nvCxnSpPr>
          <p:cNvPr id="117" name="ln"/>
          <p:cNvCxnSpPr/>
          <p:nvPr/>
        </p:nvCxnSpPr>
        <p:spPr>
          <a:xfrm>
            <a:off x="7760000" y="2430000"/>
            <a:ext cx="300000" cy="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18" name="ln"/>
          <p:cNvCxnSpPr/>
          <p:nvPr/>
        </p:nvCxnSpPr>
        <p:spPr>
          <a:xfrm>
            <a:off x="7760000" y="2430000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19" name="ln"/>
          <p:cNvCxnSpPr/>
          <p:nvPr/>
        </p:nvCxnSpPr>
        <p:spPr>
          <a:xfrm>
            <a:off x="7760000" y="2430000"/>
            <a:ext cx="300000" cy="50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0" name="ln"/>
          <p:cNvCxnSpPr/>
          <p:nvPr/>
        </p:nvCxnSpPr>
        <p:spPr>
          <a:xfrm flipV="1">
            <a:off x="7760000" y="2430000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1" name="ln"/>
          <p:cNvCxnSpPr/>
          <p:nvPr/>
        </p:nvCxnSpPr>
        <p:spPr>
          <a:xfrm>
            <a:off x="7760000" y="2680000"/>
            <a:ext cx="300000" cy="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2" name="ln"/>
          <p:cNvCxnSpPr/>
          <p:nvPr/>
        </p:nvCxnSpPr>
        <p:spPr>
          <a:xfrm>
            <a:off x="7760000" y="2680000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3" name="ln"/>
          <p:cNvCxnSpPr/>
          <p:nvPr/>
        </p:nvCxnSpPr>
        <p:spPr>
          <a:xfrm flipV="1">
            <a:off x="7760000" y="2430000"/>
            <a:ext cx="300000" cy="50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4" name="ln"/>
          <p:cNvCxnSpPr/>
          <p:nvPr/>
        </p:nvCxnSpPr>
        <p:spPr>
          <a:xfrm flipV="1">
            <a:off x="7760000" y="2680000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5" name="ln"/>
          <p:cNvCxnSpPr/>
          <p:nvPr/>
        </p:nvCxnSpPr>
        <p:spPr>
          <a:xfrm>
            <a:off x="7760000" y="2930000"/>
            <a:ext cx="300000" cy="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6" name="ln"/>
          <p:cNvCxnSpPr/>
          <p:nvPr/>
        </p:nvCxnSpPr>
        <p:spPr>
          <a:xfrm>
            <a:off x="8060000" y="2430000"/>
            <a:ext cx="300000" cy="11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7" name="ln"/>
          <p:cNvCxnSpPr/>
          <p:nvPr/>
        </p:nvCxnSpPr>
        <p:spPr>
          <a:xfrm>
            <a:off x="8060000" y="2430000"/>
            <a:ext cx="300000" cy="39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8" name="ln"/>
          <p:cNvCxnSpPr/>
          <p:nvPr/>
        </p:nvCxnSpPr>
        <p:spPr>
          <a:xfrm flipV="1">
            <a:off x="8060000" y="2540000"/>
            <a:ext cx="300000" cy="14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9" name="ln"/>
          <p:cNvCxnSpPr/>
          <p:nvPr/>
        </p:nvCxnSpPr>
        <p:spPr>
          <a:xfrm>
            <a:off x="8060000" y="2680000"/>
            <a:ext cx="300000" cy="14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30" name="ln"/>
          <p:cNvCxnSpPr/>
          <p:nvPr/>
        </p:nvCxnSpPr>
        <p:spPr>
          <a:xfrm flipV="1">
            <a:off x="8060000" y="2540000"/>
            <a:ext cx="300000" cy="39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31" name="ln"/>
          <p:cNvCxnSpPr/>
          <p:nvPr/>
        </p:nvCxnSpPr>
        <p:spPr>
          <a:xfrm flipV="1">
            <a:off x="8060000" y="2820000"/>
            <a:ext cx="300000" cy="11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sp>
        <p:nvSpPr>
          <p:cNvPr id="132" name="n"/>
          <p:cNvSpPr/>
          <p:nvPr/>
        </p:nvSpPr>
        <p:spPr>
          <a:xfrm>
            <a:off x="7700000" y="237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3" name="n"/>
          <p:cNvSpPr/>
          <p:nvPr/>
        </p:nvSpPr>
        <p:spPr>
          <a:xfrm>
            <a:off x="7700000" y="262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4" name="n"/>
          <p:cNvSpPr/>
          <p:nvPr/>
        </p:nvSpPr>
        <p:spPr>
          <a:xfrm>
            <a:off x="7700000" y="287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5" name="n"/>
          <p:cNvSpPr/>
          <p:nvPr/>
        </p:nvSpPr>
        <p:spPr>
          <a:xfrm>
            <a:off x="8000000" y="237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6" name="n"/>
          <p:cNvSpPr/>
          <p:nvPr/>
        </p:nvSpPr>
        <p:spPr>
          <a:xfrm>
            <a:off x="8000000" y="262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7" name="n"/>
          <p:cNvSpPr/>
          <p:nvPr/>
        </p:nvSpPr>
        <p:spPr>
          <a:xfrm>
            <a:off x="8000000" y="287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8" name="n"/>
          <p:cNvSpPr/>
          <p:nvPr/>
        </p:nvSpPr>
        <p:spPr>
          <a:xfrm>
            <a:off x="8300000" y="248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9" name="n"/>
          <p:cNvSpPr/>
          <p:nvPr/>
        </p:nvSpPr>
        <p:spPr>
          <a:xfrm>
            <a:off x="8300000" y="276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pic>
        <p:nvPicPr>
          <p:cNvPr id="140" name="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0000" y="4090000"/>
            <a:ext cx="860000" cy="860000"/>
          </a:xfrm>
          <a:prstGeom prst="rect">
            <a:avLst/>
          </a:prstGeom>
        </p:spPr>
      </p:pic>
      <p:sp>
        <p:nvSpPr>
          <p:cNvPr id="141" name="T"/>
          <p:cNvSpPr/>
          <p:nvPr/>
        </p:nvSpPr>
        <p:spPr>
          <a:xfrm>
            <a:off x="420000" y="270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Engine</a:t>
            </a:r>
          </a:p>
        </p:txBody>
      </p:sp>
      <p:sp>
        <p:nvSpPr>
          <p:cNvPr id="142" name="T"/>
          <p:cNvSpPr/>
          <p:nvPr/>
        </p:nvSpPr>
        <p:spPr>
          <a:xfrm>
            <a:off x="3280000" y="270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</a:t>
            </a:r>
          </a:p>
        </p:txBody>
      </p:sp>
      <p:sp>
        <p:nvSpPr>
          <p:cNvPr id="143" name="T"/>
          <p:cNvSpPr/>
          <p:nvPr/>
        </p:nvSpPr>
        <p:spPr>
          <a:xfrm>
            <a:off x="6660000" y="196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ML-сервис</a:t>
            </a:r>
          </a:p>
        </p:txBody>
      </p:sp>
      <p:sp>
        <p:nvSpPr>
          <p:cNvPr id="144" name="T"/>
          <p:cNvSpPr/>
          <p:nvPr/>
        </p:nvSpPr>
        <p:spPr>
          <a:xfrm>
            <a:off x="6660000" y="504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</a:p>
        </p:txBody>
      </p:sp>
      <p:sp>
        <p:nvSpPr>
          <p:cNvPr id="145" name="T"/>
          <p:cNvSpPr/>
          <p:nvPr/>
        </p:nvSpPr>
        <p:spPr>
          <a:xfrm>
            <a:off x="2375000" y="3030000"/>
            <a:ext cx="17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телеметрия</a:t>
            </a:r>
          </a:p>
        </p:txBody>
      </p:sp>
      <p:sp>
        <p:nvSpPr>
          <p:cNvPr id="146" name="T"/>
          <p:cNvSpPr/>
          <p:nvPr/>
        </p:nvSpPr>
        <p:spPr>
          <a:xfrm>
            <a:off x="2225000" y="3610000"/>
            <a:ext cx="20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игры</a:t>
            </a:r>
          </a:p>
        </p:txBody>
      </p:sp>
      <p:sp>
        <p:nvSpPr>
          <p:cNvPr id="147" name="T"/>
          <p:cNvSpPr/>
          <p:nvPr/>
        </p:nvSpPr>
        <p:spPr>
          <a:xfrm>
            <a:off x="5900000" y="2640000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</a:p>
        </p:txBody>
      </p:sp>
      <p:sp>
        <p:nvSpPr>
          <p:cNvPr id="148" name="T"/>
          <p:cNvSpPr/>
          <p:nvPr/>
        </p:nvSpPr>
        <p:spPr>
          <a:xfrm>
            <a:off x="5900000" y="4360000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БД · 1/2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PostgreSQL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77824" y="2231136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115568" y="2505456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2670048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837944" y="24505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Надёжность и ACID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837944" y="283464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транзакции и целостность данных телеметрии гарантированы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64224" y="2231136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601968" y="2505456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2670048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324344" y="24505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JSONB из коробки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324344" y="283464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гибкие parameters и state событий хранятся как индексируемый JSON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77824" y="4014216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1115568" y="4288536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bo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" y="4453128"/>
            <a:ext cx="219456" cy="21945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837944" y="42336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Производительность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837944" y="461772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индексы, быстрые вставки батчей и выборки по сессиям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364224" y="4014216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601968" y="4288536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4" name="Image 3" descr="icons/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4453128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324344" y="42336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Открытая и зрелая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7324344" y="461772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бесплатна, огромная экосистема, проверена в продакшене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5488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20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БД · 2/2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49808"/>
            <a:ext cx="1000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Схема данных и миграции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</a:p>
        </p:txBody>
      </p:sp>
      <p:sp>
        <p:nvSpPr>
          <p:cNvPr id="104" name="R"/>
          <p:cNvSpPr/>
          <p:nvPr/>
        </p:nvSpPr>
        <p:spPr>
          <a:xfrm>
            <a:off x="560000" y="1980000"/>
            <a:ext cx="2780000" cy="74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F"/>
            </a:solidFill>
          </a:ln>
          <a:effectLst>
            <a:outerShdw blurRad="70000" dist="18000" dir="5400000" algn="bl" rotWithShape="0">
              <a:srgbClr val="B8C9D4">
                <a:alpha val="20000"/>
              </a:srgbClr>
            </a:outerShdw>
          </a:effectLst>
        </p:spPr>
      </p:sp>
      <p:sp>
        <p:nvSpPr>
          <p:cNvPr id="105" name="R"/>
          <p:cNvSpPr/>
          <p:nvPr/>
        </p:nvSpPr>
        <p:spPr>
          <a:xfrm>
            <a:off x="560000" y="1980000"/>
            <a:ext cx="2780000" cy="300000"/>
          </a:xfrm>
          <a:prstGeom prst="rect">
            <a:avLst/>
          </a:prstGeom>
          <a:solidFill>
            <a:srgbClr val="2A8FC8"/>
          </a:solidFill>
          <a:ln/>
        </p:spPr>
      </p:sp>
      <p:sp>
        <p:nvSpPr>
          <p:cNvPr id="106" name="T"/>
          <p:cNvSpPr/>
          <p:nvPr/>
        </p:nvSpPr>
        <p:spPr>
          <a:xfrm>
            <a:off x="710000" y="1980000"/>
            <a:ext cx="24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05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Игроки</a:t>
            </a:r>
          </a:p>
        </p:txBody>
      </p:sp>
      <p:sp>
        <p:nvSpPr>
          <p:cNvPr id="107" name="T"/>
          <p:cNvSpPr/>
          <p:nvPr/>
        </p:nvSpPr>
        <p:spPr>
          <a:xfrm>
            <a:off x="710000" y="2280000"/>
            <a:ext cx="208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Идентификатор игрока</a:t>
            </a:r>
          </a:p>
        </p:txBody>
      </p:sp>
      <p:sp>
        <p:nvSpPr>
          <p:cNvPr id="108" name="T"/>
          <p:cNvSpPr/>
          <p:nvPr/>
        </p:nvSpPr>
        <p:spPr>
          <a:xfrm>
            <a:off x="2700000" y="2280000"/>
            <a:ext cx="52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760" b="1" kern="0" dirty="0">
                <a:solidFill>
                  <a:srgbClr val="C88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</a:p>
        </p:txBody>
      </p:sp>
      <p:sp>
        <p:nvSpPr>
          <p:cNvPr id="109" name="R"/>
          <p:cNvSpPr/>
          <p:nvPr/>
        </p:nvSpPr>
        <p:spPr>
          <a:xfrm>
            <a:off x="620000" y="2504000"/>
            <a:ext cx="266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10" name="T"/>
          <p:cNvSpPr/>
          <p:nvPr/>
        </p:nvSpPr>
        <p:spPr>
          <a:xfrm>
            <a:off x="710000" y="2504000"/>
            <a:ext cx="208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 регистрации</a:t>
            </a:r>
          </a:p>
        </p:txBody>
      </p:sp>
      <p:sp>
        <p:nvSpPr>
          <p:cNvPr id="111" name="R"/>
          <p:cNvSpPr/>
          <p:nvPr/>
        </p:nvSpPr>
        <p:spPr>
          <a:xfrm>
            <a:off x="4380000" y="1470000"/>
            <a:ext cx="3300000" cy="18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F"/>
            </a:solidFill>
          </a:ln>
          <a:effectLst>
            <a:outerShdw blurRad="70000" dist="18000" dir="5400000" algn="bl" rotWithShape="0">
              <a:srgbClr val="B8C9D4">
                <a:alpha val="20000"/>
              </a:srgbClr>
            </a:outerShdw>
          </a:effectLst>
        </p:spPr>
      </p:sp>
      <p:sp>
        <p:nvSpPr>
          <p:cNvPr id="112" name="R"/>
          <p:cNvSpPr/>
          <p:nvPr/>
        </p:nvSpPr>
        <p:spPr>
          <a:xfrm>
            <a:off x="4380000" y="1470000"/>
            <a:ext cx="3300000" cy="300000"/>
          </a:xfrm>
          <a:prstGeom prst="rect">
            <a:avLst/>
          </a:prstGeom>
          <a:solidFill>
            <a:srgbClr val="2A8FC8"/>
          </a:solidFill>
          <a:ln/>
        </p:spPr>
      </p:sp>
      <p:sp>
        <p:nvSpPr>
          <p:cNvPr id="113" name="T"/>
          <p:cNvSpPr/>
          <p:nvPr/>
        </p:nvSpPr>
        <p:spPr>
          <a:xfrm>
            <a:off x="4530000" y="1470000"/>
            <a:ext cx="30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05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Прогнозы</a:t>
            </a:r>
          </a:p>
        </p:txBody>
      </p:sp>
      <p:sp>
        <p:nvSpPr>
          <p:cNvPr id="114" name="T"/>
          <p:cNvSpPr/>
          <p:nvPr/>
        </p:nvSpPr>
        <p:spPr>
          <a:xfrm>
            <a:off x="4530000" y="1770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Идентификатор прогноза</a:t>
            </a:r>
          </a:p>
        </p:txBody>
      </p:sp>
      <p:sp>
        <p:nvSpPr>
          <p:cNvPr id="115" name="T"/>
          <p:cNvSpPr/>
          <p:nvPr/>
        </p:nvSpPr>
        <p:spPr>
          <a:xfrm>
            <a:off x="7040000" y="1770000"/>
            <a:ext cx="52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760" b="1" kern="0" dirty="0">
                <a:solidFill>
                  <a:srgbClr val="C88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</a:p>
        </p:txBody>
      </p:sp>
      <p:sp>
        <p:nvSpPr>
          <p:cNvPr id="116" name="R"/>
          <p:cNvSpPr/>
          <p:nvPr/>
        </p:nvSpPr>
        <p:spPr>
          <a:xfrm>
            <a:off x="4440000" y="1994000"/>
            <a:ext cx="318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17" name="T"/>
          <p:cNvSpPr/>
          <p:nvPr/>
        </p:nvSpPr>
        <p:spPr>
          <a:xfrm>
            <a:off x="4530000" y="1994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Идентификатор сессии</a:t>
            </a:r>
          </a:p>
        </p:txBody>
      </p:sp>
      <p:sp>
        <p:nvSpPr>
          <p:cNvPr id="118" name="T"/>
          <p:cNvSpPr/>
          <p:nvPr/>
        </p:nvSpPr>
        <p:spPr>
          <a:xfrm>
            <a:off x="7040000" y="1994000"/>
            <a:ext cx="52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76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</a:p>
        </p:txBody>
      </p:sp>
      <p:sp>
        <p:nvSpPr>
          <p:cNvPr id="119" name="R"/>
          <p:cNvSpPr/>
          <p:nvPr/>
        </p:nvSpPr>
        <p:spPr>
          <a:xfrm>
            <a:off x="4440000" y="2218000"/>
            <a:ext cx="318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20" name="T"/>
          <p:cNvSpPr/>
          <p:nvPr/>
        </p:nvSpPr>
        <p:spPr>
          <a:xfrm>
            <a:off x="4530000" y="2218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Идентификатор игрока</a:t>
            </a:r>
          </a:p>
        </p:txBody>
      </p:sp>
      <p:sp>
        <p:nvSpPr>
          <p:cNvPr id="121" name="T"/>
          <p:cNvSpPr/>
          <p:nvPr/>
        </p:nvSpPr>
        <p:spPr>
          <a:xfrm>
            <a:off x="7040000" y="2218000"/>
            <a:ext cx="52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76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</a:p>
        </p:txBody>
      </p:sp>
      <p:sp>
        <p:nvSpPr>
          <p:cNvPr id="122" name="R"/>
          <p:cNvSpPr/>
          <p:nvPr/>
        </p:nvSpPr>
        <p:spPr>
          <a:xfrm>
            <a:off x="4440000" y="2442000"/>
            <a:ext cx="318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23" name="T"/>
          <p:cNvSpPr/>
          <p:nvPr/>
        </p:nvSpPr>
        <p:spPr>
          <a:xfrm>
            <a:off x="4530000" y="2442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Идентификатор модели</a:t>
            </a:r>
          </a:p>
        </p:txBody>
      </p:sp>
      <p:sp>
        <p:nvSpPr>
          <p:cNvPr id="124" name="T"/>
          <p:cNvSpPr/>
          <p:nvPr/>
        </p:nvSpPr>
        <p:spPr>
          <a:xfrm>
            <a:off x="7040000" y="2442000"/>
            <a:ext cx="52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76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</a:p>
        </p:txBody>
      </p:sp>
      <p:sp>
        <p:nvSpPr>
          <p:cNvPr id="125" name="R"/>
          <p:cNvSpPr/>
          <p:nvPr/>
        </p:nvSpPr>
        <p:spPr>
          <a:xfrm>
            <a:off x="4440000" y="2666000"/>
            <a:ext cx="318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26" name="T"/>
          <p:cNvSpPr/>
          <p:nvPr/>
        </p:nvSpPr>
        <p:spPr>
          <a:xfrm>
            <a:off x="4530000" y="2666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Предсказанный архетип</a:t>
            </a:r>
          </a:p>
        </p:txBody>
      </p:sp>
      <p:sp>
        <p:nvSpPr>
          <p:cNvPr id="127" name="R"/>
          <p:cNvSpPr/>
          <p:nvPr/>
        </p:nvSpPr>
        <p:spPr>
          <a:xfrm>
            <a:off x="4440000" y="2890000"/>
            <a:ext cx="318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28" name="T"/>
          <p:cNvSpPr/>
          <p:nvPr/>
        </p:nvSpPr>
        <p:spPr>
          <a:xfrm>
            <a:off x="4530000" y="2890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Уверенность</a:t>
            </a:r>
          </a:p>
        </p:txBody>
      </p:sp>
      <p:sp>
        <p:nvSpPr>
          <p:cNvPr id="129" name="R"/>
          <p:cNvSpPr/>
          <p:nvPr/>
        </p:nvSpPr>
        <p:spPr>
          <a:xfrm>
            <a:off x="4440000" y="3114000"/>
            <a:ext cx="318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30" name="T"/>
          <p:cNvSpPr/>
          <p:nvPr/>
        </p:nvSpPr>
        <p:spPr>
          <a:xfrm>
            <a:off x="4530000" y="3114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формирования</a:t>
            </a:r>
          </a:p>
        </p:txBody>
      </p:sp>
      <p:sp>
        <p:nvSpPr>
          <p:cNvPr id="131" name="R"/>
          <p:cNvSpPr/>
          <p:nvPr/>
        </p:nvSpPr>
        <p:spPr>
          <a:xfrm>
            <a:off x="8760000" y="1780000"/>
            <a:ext cx="2870000" cy="18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F"/>
            </a:solidFill>
          </a:ln>
          <a:effectLst>
            <a:outerShdw blurRad="70000" dist="18000" dir="5400000" algn="bl" rotWithShape="0">
              <a:srgbClr val="B8C9D4">
                <a:alpha val="20000"/>
              </a:srgbClr>
            </a:outerShdw>
          </a:effectLst>
        </p:spPr>
      </p:sp>
      <p:sp>
        <p:nvSpPr>
          <p:cNvPr id="132" name="R"/>
          <p:cNvSpPr/>
          <p:nvPr/>
        </p:nvSpPr>
        <p:spPr>
          <a:xfrm>
            <a:off x="8760000" y="1780000"/>
            <a:ext cx="2870000" cy="300000"/>
          </a:xfrm>
          <a:prstGeom prst="rect">
            <a:avLst/>
          </a:prstGeom>
          <a:solidFill>
            <a:srgbClr val="2A8FC8"/>
          </a:solidFill>
          <a:ln/>
        </p:spPr>
      </p:sp>
      <p:sp>
        <p:nvSpPr>
          <p:cNvPr id="133" name="T"/>
          <p:cNvSpPr/>
          <p:nvPr/>
        </p:nvSpPr>
        <p:spPr>
          <a:xfrm>
            <a:off x="8910000" y="1780000"/>
            <a:ext cx="257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05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игры</a:t>
            </a:r>
          </a:p>
        </p:txBody>
      </p:sp>
      <p:sp>
        <p:nvSpPr>
          <p:cNvPr id="134" name="T"/>
          <p:cNvSpPr/>
          <p:nvPr/>
        </p:nvSpPr>
        <p:spPr>
          <a:xfrm>
            <a:off x="8910000" y="2080000"/>
            <a:ext cx="217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Идентификатор модели</a:t>
            </a:r>
          </a:p>
        </p:txBody>
      </p:sp>
      <p:sp>
        <p:nvSpPr>
          <p:cNvPr id="135" name="T"/>
          <p:cNvSpPr/>
          <p:nvPr/>
        </p:nvSpPr>
        <p:spPr>
          <a:xfrm>
            <a:off x="10990000" y="2080000"/>
            <a:ext cx="52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760" b="1" kern="0" dirty="0">
                <a:solidFill>
                  <a:srgbClr val="C88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</a:p>
        </p:txBody>
      </p:sp>
      <p:sp>
        <p:nvSpPr>
          <p:cNvPr id="136" name="R"/>
          <p:cNvSpPr/>
          <p:nvPr/>
        </p:nvSpPr>
        <p:spPr>
          <a:xfrm>
            <a:off x="8820000" y="2304000"/>
            <a:ext cx="275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37" name="T"/>
          <p:cNvSpPr/>
          <p:nvPr/>
        </p:nvSpPr>
        <p:spPr>
          <a:xfrm>
            <a:off x="8910000" y="2304000"/>
            <a:ext cx="217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Версия модели</a:t>
            </a:r>
          </a:p>
        </p:txBody>
      </p:sp>
      <p:sp>
        <p:nvSpPr>
          <p:cNvPr id="138" name="R"/>
          <p:cNvSpPr/>
          <p:nvPr/>
        </p:nvSpPr>
        <p:spPr>
          <a:xfrm>
            <a:off x="8820000" y="2528000"/>
            <a:ext cx="275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39" name="T"/>
          <p:cNvSpPr/>
          <p:nvPr/>
        </p:nvSpPr>
        <p:spPr>
          <a:xfrm>
            <a:off x="8910000" y="2528000"/>
            <a:ext cx="217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Архетипы</a:t>
            </a:r>
          </a:p>
        </p:txBody>
      </p:sp>
      <p:sp>
        <p:nvSpPr>
          <p:cNvPr id="140" name="R"/>
          <p:cNvSpPr/>
          <p:nvPr/>
        </p:nvSpPr>
        <p:spPr>
          <a:xfrm>
            <a:off x="8820000" y="2752000"/>
            <a:ext cx="275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41" name="T"/>
          <p:cNvSpPr/>
          <p:nvPr/>
        </p:nvSpPr>
        <p:spPr>
          <a:xfrm>
            <a:off x="8910000" y="2752000"/>
            <a:ext cx="217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Критические точки</a:t>
            </a:r>
          </a:p>
        </p:txBody>
      </p:sp>
      <p:sp>
        <p:nvSpPr>
          <p:cNvPr id="142" name="R"/>
          <p:cNvSpPr/>
          <p:nvPr/>
        </p:nvSpPr>
        <p:spPr>
          <a:xfrm>
            <a:off x="8820000" y="2976000"/>
            <a:ext cx="275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43" name="T"/>
          <p:cNvSpPr/>
          <p:nvPr/>
        </p:nvSpPr>
        <p:spPr>
          <a:xfrm>
            <a:off x="8910000" y="2976000"/>
            <a:ext cx="217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признаков</a:t>
            </a:r>
          </a:p>
        </p:txBody>
      </p:sp>
      <p:sp>
        <p:nvSpPr>
          <p:cNvPr id="144" name="R"/>
          <p:cNvSpPr/>
          <p:nvPr/>
        </p:nvSpPr>
        <p:spPr>
          <a:xfrm>
            <a:off x="8820000" y="3200000"/>
            <a:ext cx="275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45" name="T"/>
          <p:cNvSpPr/>
          <p:nvPr/>
        </p:nvSpPr>
        <p:spPr>
          <a:xfrm>
            <a:off x="8910000" y="3200000"/>
            <a:ext cx="217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ONNX-модели</a:t>
            </a:r>
          </a:p>
        </p:txBody>
      </p:sp>
      <p:sp>
        <p:nvSpPr>
          <p:cNvPr id="146" name="R"/>
          <p:cNvSpPr/>
          <p:nvPr/>
        </p:nvSpPr>
        <p:spPr>
          <a:xfrm>
            <a:off x="8820000" y="3424000"/>
            <a:ext cx="275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47" name="T"/>
          <p:cNvSpPr/>
          <p:nvPr/>
        </p:nvSpPr>
        <p:spPr>
          <a:xfrm>
            <a:off x="8910000" y="3424000"/>
            <a:ext cx="217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 создания</a:t>
            </a:r>
          </a:p>
        </p:txBody>
      </p:sp>
      <p:sp>
        <p:nvSpPr>
          <p:cNvPr id="148" name="R"/>
          <p:cNvSpPr/>
          <p:nvPr/>
        </p:nvSpPr>
        <p:spPr>
          <a:xfrm>
            <a:off x="4380000" y="4030000"/>
            <a:ext cx="3300000" cy="14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F"/>
            </a:solidFill>
          </a:ln>
          <a:effectLst>
            <a:outerShdw blurRad="70000" dist="18000" dir="5400000" algn="bl" rotWithShape="0">
              <a:srgbClr val="B8C9D4">
                <a:alpha val="20000"/>
              </a:srgbClr>
            </a:outerShdw>
          </a:effectLst>
        </p:spPr>
      </p:sp>
      <p:sp>
        <p:nvSpPr>
          <p:cNvPr id="149" name="R"/>
          <p:cNvSpPr/>
          <p:nvPr/>
        </p:nvSpPr>
        <p:spPr>
          <a:xfrm>
            <a:off x="4380000" y="4030000"/>
            <a:ext cx="3300000" cy="300000"/>
          </a:xfrm>
          <a:prstGeom prst="rect">
            <a:avLst/>
          </a:prstGeom>
          <a:solidFill>
            <a:srgbClr val="2A8FC8"/>
          </a:solidFill>
          <a:ln/>
        </p:spPr>
      </p:sp>
      <p:sp>
        <p:nvSpPr>
          <p:cNvPr id="150" name="T"/>
          <p:cNvSpPr/>
          <p:nvPr/>
        </p:nvSpPr>
        <p:spPr>
          <a:xfrm>
            <a:off x="4530000" y="4030000"/>
            <a:ext cx="30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05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Игровые сессии</a:t>
            </a:r>
          </a:p>
        </p:txBody>
      </p:sp>
      <p:sp>
        <p:nvSpPr>
          <p:cNvPr id="151" name="T"/>
          <p:cNvSpPr/>
          <p:nvPr/>
        </p:nvSpPr>
        <p:spPr>
          <a:xfrm>
            <a:off x="4530000" y="4330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Идентификатор сессии</a:t>
            </a:r>
          </a:p>
        </p:txBody>
      </p:sp>
      <p:sp>
        <p:nvSpPr>
          <p:cNvPr id="152" name="T"/>
          <p:cNvSpPr/>
          <p:nvPr/>
        </p:nvSpPr>
        <p:spPr>
          <a:xfrm>
            <a:off x="7040000" y="4330000"/>
            <a:ext cx="52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760" b="1" kern="0" dirty="0">
                <a:solidFill>
                  <a:srgbClr val="C88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</a:p>
        </p:txBody>
      </p:sp>
      <p:sp>
        <p:nvSpPr>
          <p:cNvPr id="153" name="R"/>
          <p:cNvSpPr/>
          <p:nvPr/>
        </p:nvSpPr>
        <p:spPr>
          <a:xfrm>
            <a:off x="4440000" y="4554000"/>
            <a:ext cx="318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54" name="T"/>
          <p:cNvSpPr/>
          <p:nvPr/>
        </p:nvSpPr>
        <p:spPr>
          <a:xfrm>
            <a:off x="4530000" y="4554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Идентификатор игрока</a:t>
            </a:r>
          </a:p>
        </p:txBody>
      </p:sp>
      <p:sp>
        <p:nvSpPr>
          <p:cNvPr id="155" name="T"/>
          <p:cNvSpPr/>
          <p:nvPr/>
        </p:nvSpPr>
        <p:spPr>
          <a:xfrm>
            <a:off x="7040000" y="4554000"/>
            <a:ext cx="52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76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</a:p>
        </p:txBody>
      </p:sp>
      <p:sp>
        <p:nvSpPr>
          <p:cNvPr id="156" name="R"/>
          <p:cNvSpPr/>
          <p:nvPr/>
        </p:nvSpPr>
        <p:spPr>
          <a:xfrm>
            <a:off x="4440000" y="4778000"/>
            <a:ext cx="318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57" name="T"/>
          <p:cNvSpPr/>
          <p:nvPr/>
        </p:nvSpPr>
        <p:spPr>
          <a:xfrm>
            <a:off x="4530000" y="4778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Идентификатор модели</a:t>
            </a:r>
          </a:p>
        </p:txBody>
      </p:sp>
      <p:sp>
        <p:nvSpPr>
          <p:cNvPr id="158" name="T"/>
          <p:cNvSpPr/>
          <p:nvPr/>
        </p:nvSpPr>
        <p:spPr>
          <a:xfrm>
            <a:off x="7040000" y="4778000"/>
            <a:ext cx="52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76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</a:p>
        </p:txBody>
      </p:sp>
      <p:sp>
        <p:nvSpPr>
          <p:cNvPr id="159" name="R"/>
          <p:cNvSpPr/>
          <p:nvPr/>
        </p:nvSpPr>
        <p:spPr>
          <a:xfrm>
            <a:off x="4440000" y="5002000"/>
            <a:ext cx="318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60" name="T"/>
          <p:cNvSpPr/>
          <p:nvPr/>
        </p:nvSpPr>
        <p:spPr>
          <a:xfrm>
            <a:off x="4530000" y="5002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Версия клиента</a:t>
            </a:r>
          </a:p>
        </p:txBody>
      </p:sp>
      <p:sp>
        <p:nvSpPr>
          <p:cNvPr id="161" name="R"/>
          <p:cNvSpPr/>
          <p:nvPr/>
        </p:nvSpPr>
        <p:spPr>
          <a:xfrm>
            <a:off x="4440000" y="5226000"/>
            <a:ext cx="318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62" name="T"/>
          <p:cNvSpPr/>
          <p:nvPr/>
        </p:nvSpPr>
        <p:spPr>
          <a:xfrm>
            <a:off x="4530000" y="5226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начала / окончания</a:t>
            </a:r>
          </a:p>
        </p:txBody>
      </p:sp>
      <p:sp>
        <p:nvSpPr>
          <p:cNvPr id="163" name="R"/>
          <p:cNvSpPr/>
          <p:nvPr/>
        </p:nvSpPr>
        <p:spPr>
          <a:xfrm>
            <a:off x="560000" y="4300000"/>
            <a:ext cx="2780000" cy="14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F"/>
            </a:solidFill>
          </a:ln>
          <a:effectLst>
            <a:outerShdw blurRad="70000" dist="18000" dir="5400000" algn="bl" rotWithShape="0">
              <a:srgbClr val="B8C9D4">
                <a:alpha val="20000"/>
              </a:srgbClr>
            </a:outerShdw>
          </a:effectLst>
        </p:spPr>
      </p:sp>
      <p:sp>
        <p:nvSpPr>
          <p:cNvPr id="164" name="R"/>
          <p:cNvSpPr/>
          <p:nvPr/>
        </p:nvSpPr>
        <p:spPr>
          <a:xfrm>
            <a:off x="560000" y="4300000"/>
            <a:ext cx="2780000" cy="300000"/>
          </a:xfrm>
          <a:prstGeom prst="rect">
            <a:avLst/>
          </a:prstGeom>
          <a:solidFill>
            <a:srgbClr val="2A8FC8"/>
          </a:solidFill>
          <a:ln/>
        </p:spPr>
      </p:sp>
      <p:sp>
        <p:nvSpPr>
          <p:cNvPr id="165" name="T"/>
          <p:cNvSpPr/>
          <p:nvPr/>
        </p:nvSpPr>
        <p:spPr>
          <a:xfrm>
            <a:off x="710000" y="4300000"/>
            <a:ext cx="24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05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</a:t>
            </a:r>
          </a:p>
        </p:txBody>
      </p:sp>
      <p:sp>
        <p:nvSpPr>
          <p:cNvPr id="166" name="T"/>
          <p:cNvSpPr/>
          <p:nvPr/>
        </p:nvSpPr>
        <p:spPr>
          <a:xfrm>
            <a:off x="710000" y="4600000"/>
            <a:ext cx="208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Идентификатор события</a:t>
            </a:r>
          </a:p>
        </p:txBody>
      </p:sp>
      <p:sp>
        <p:nvSpPr>
          <p:cNvPr id="167" name="T"/>
          <p:cNvSpPr/>
          <p:nvPr/>
        </p:nvSpPr>
        <p:spPr>
          <a:xfrm>
            <a:off x="2700000" y="4600000"/>
            <a:ext cx="52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760" b="1" kern="0" dirty="0">
                <a:solidFill>
                  <a:srgbClr val="C88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</a:p>
        </p:txBody>
      </p:sp>
      <p:sp>
        <p:nvSpPr>
          <p:cNvPr id="168" name="R"/>
          <p:cNvSpPr/>
          <p:nvPr/>
        </p:nvSpPr>
        <p:spPr>
          <a:xfrm>
            <a:off x="620000" y="4824000"/>
            <a:ext cx="266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69" name="T"/>
          <p:cNvSpPr/>
          <p:nvPr/>
        </p:nvSpPr>
        <p:spPr>
          <a:xfrm>
            <a:off x="710000" y="4824000"/>
            <a:ext cx="208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Идентификатор сессии</a:t>
            </a:r>
          </a:p>
        </p:txBody>
      </p:sp>
      <p:sp>
        <p:nvSpPr>
          <p:cNvPr id="170" name="T"/>
          <p:cNvSpPr/>
          <p:nvPr/>
        </p:nvSpPr>
        <p:spPr>
          <a:xfrm>
            <a:off x="2700000" y="4824000"/>
            <a:ext cx="52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76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</a:p>
        </p:txBody>
      </p:sp>
      <p:sp>
        <p:nvSpPr>
          <p:cNvPr id="171" name="R"/>
          <p:cNvSpPr/>
          <p:nvPr/>
        </p:nvSpPr>
        <p:spPr>
          <a:xfrm>
            <a:off x="620000" y="5048000"/>
            <a:ext cx="266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72" name="T"/>
          <p:cNvSpPr/>
          <p:nvPr/>
        </p:nvSpPr>
        <p:spPr>
          <a:xfrm>
            <a:off x="710000" y="5048000"/>
            <a:ext cx="208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события</a:t>
            </a:r>
          </a:p>
        </p:txBody>
      </p:sp>
      <p:sp>
        <p:nvSpPr>
          <p:cNvPr id="173" name="R"/>
          <p:cNvSpPr/>
          <p:nvPr/>
        </p:nvSpPr>
        <p:spPr>
          <a:xfrm>
            <a:off x="620000" y="5272000"/>
            <a:ext cx="266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74" name="T"/>
          <p:cNvSpPr/>
          <p:nvPr/>
        </p:nvSpPr>
        <p:spPr>
          <a:xfrm>
            <a:off x="710000" y="5272000"/>
            <a:ext cx="208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события (JSONB)</a:t>
            </a:r>
          </a:p>
        </p:txBody>
      </p:sp>
      <p:sp>
        <p:nvSpPr>
          <p:cNvPr id="175" name="R"/>
          <p:cNvSpPr/>
          <p:nvPr/>
        </p:nvSpPr>
        <p:spPr>
          <a:xfrm>
            <a:off x="620000" y="5496000"/>
            <a:ext cx="266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76" name="T"/>
          <p:cNvSpPr/>
          <p:nvPr/>
        </p:nvSpPr>
        <p:spPr>
          <a:xfrm>
            <a:off x="710000" y="5496000"/>
            <a:ext cx="208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записи</a:t>
            </a:r>
          </a:p>
        </p:txBody>
      </p:sp>
      <p:cxnSp>
        <p:nvCxnSpPr>
          <p:cNvPr id="177" name="c"/>
          <p:cNvCxnSpPr/>
          <p:nvPr/>
        </p:nvCxnSpPr>
        <p:spPr>
          <a:xfrm flipV="1">
            <a:off x="3340000" y="2170000"/>
            <a:ext cx="1040000" cy="210000"/>
          </a:xfrm>
          <a:prstGeom prst="straightConnector1">
            <a:avLst/>
          </a:prstGeom>
          <a:ln w="12700" cap="rnd">
            <a:solidFill>
              <a:srgbClr val="9AAAB6"/>
            </a:solidFill>
            <a:tailEnd type="stealth" w="med" len="med"/>
          </a:ln>
        </p:spPr>
      </p:cxnSp>
      <p:cxnSp>
        <p:nvCxnSpPr>
          <p:cNvPr id="178" name="c"/>
          <p:cNvCxnSpPr/>
          <p:nvPr/>
        </p:nvCxnSpPr>
        <p:spPr>
          <a:xfrm>
            <a:off x="1950000" y="2728000"/>
            <a:ext cx="2430000" cy="1802000"/>
          </a:xfrm>
          <a:prstGeom prst="straightConnector1">
            <a:avLst/>
          </a:prstGeom>
          <a:ln w="12700" cap="rnd">
            <a:solidFill>
              <a:srgbClr val="9AAAB6"/>
            </a:solidFill>
            <a:tailEnd type="stealth" w="med" len="med"/>
          </a:ln>
        </p:spPr>
      </p:cxnSp>
      <p:cxnSp>
        <p:nvCxnSpPr>
          <p:cNvPr id="179" name="c"/>
          <p:cNvCxnSpPr/>
          <p:nvPr/>
        </p:nvCxnSpPr>
        <p:spPr>
          <a:xfrm flipH="1">
            <a:off x="3340000" y="4430000"/>
            <a:ext cx="1040000" cy="580000"/>
          </a:xfrm>
          <a:prstGeom prst="straightConnector1">
            <a:avLst/>
          </a:prstGeom>
          <a:ln w="12700" cap="rnd">
            <a:solidFill>
              <a:srgbClr val="9AAAB6"/>
            </a:solidFill>
            <a:tailEnd type="stealth" w="med" len="med"/>
          </a:ln>
        </p:spPr>
      </p:cxnSp>
      <p:cxnSp>
        <p:nvCxnSpPr>
          <p:cNvPr id="180" name="c"/>
          <p:cNvCxnSpPr/>
          <p:nvPr/>
        </p:nvCxnSpPr>
        <p:spPr>
          <a:xfrm flipV="1">
            <a:off x="6030000" y="3338000"/>
            <a:ext cx="0" cy="692000"/>
          </a:xfrm>
          <a:prstGeom prst="straightConnector1">
            <a:avLst/>
          </a:prstGeom>
          <a:ln w="12700" cap="rnd">
            <a:solidFill>
              <a:srgbClr val="9AAAB6"/>
            </a:solidFill>
            <a:tailEnd type="stealth" w="med" len="med"/>
          </a:ln>
        </p:spPr>
      </p:cxnSp>
      <p:cxnSp>
        <p:nvCxnSpPr>
          <p:cNvPr id="181" name="c"/>
          <p:cNvCxnSpPr/>
          <p:nvPr/>
        </p:nvCxnSpPr>
        <p:spPr>
          <a:xfrm flipH="1">
            <a:off x="7680000" y="2280000"/>
            <a:ext cx="1080000" cy="90000"/>
          </a:xfrm>
          <a:prstGeom prst="straightConnector1">
            <a:avLst/>
          </a:prstGeom>
          <a:ln w="12700" cap="rnd">
            <a:solidFill>
              <a:srgbClr val="9AAAB6"/>
            </a:solidFill>
            <a:tailEnd type="stealth" w="med" len="med"/>
          </a:ln>
        </p:spPr>
      </p:cxnSp>
      <p:cxnSp>
        <p:nvCxnSpPr>
          <p:cNvPr id="182" name="c"/>
          <p:cNvCxnSpPr/>
          <p:nvPr/>
        </p:nvCxnSpPr>
        <p:spPr>
          <a:xfrm flipH="1">
            <a:off x="7680000" y="3348000"/>
            <a:ext cx="1080000" cy="1392000"/>
          </a:xfrm>
          <a:prstGeom prst="straightConnector1">
            <a:avLst/>
          </a:prstGeom>
          <a:ln w="12700" cap="rnd">
            <a:solidFill>
              <a:srgbClr val="9AAAB6"/>
            </a:solidFill>
            <a:tailEnd type="stealth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ФРЕЙМВОРКА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FastAPI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764205" y="193852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async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1764205" y="280720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 пропускная способность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07405" y="193852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Pydantic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4507405" y="280720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схем из коробки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250605" y="193852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Swagger</a:t>
            </a:r>
            <a:endParaRPr lang="en-US" sz="5000" dirty="0"/>
          </a:p>
        </p:txBody>
      </p:sp>
      <p:sp>
        <p:nvSpPr>
          <p:cNvPr id="12" name="Text 10"/>
          <p:cNvSpPr/>
          <p:nvPr/>
        </p:nvSpPr>
        <p:spPr>
          <a:xfrm>
            <a:off x="7250605" y="280720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авто-документация /docs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6176" y="3472539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83920" y="3728571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0" descr="icons/b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512" y="3893163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83920" y="4405227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Асинхронность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883920" y="4844139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обработка множества запросов телеметрии без блокировок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58640" y="3472539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96384" y="3728571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0" name="Image 1" descr="icons/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0976" y="3893163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596384" y="4405227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Строгие схемы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4596384" y="4844139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валидирует входные JSON — меньше ошибок в рантайме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071104" y="3472539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308848" y="3728571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5" name="Image 2" descr="icons/docu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3440" y="3893163"/>
            <a:ext cx="219456" cy="21945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308848" y="4405227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Авто-документация</a:t>
            </a:r>
            <a:endParaRPr lang="en-US" sz="1450" dirty="0"/>
          </a:p>
        </p:txBody>
      </p:sp>
      <p:sp>
        <p:nvSpPr>
          <p:cNvPr id="27" name="Text 22"/>
          <p:cNvSpPr/>
          <p:nvPr/>
        </p:nvSpPr>
        <p:spPr>
          <a:xfrm>
            <a:off x="8308848" y="4844139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OpenAPI/Swagger генерируется сам — удобно для команды и плагина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ЭНДПОИНТЫ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Рабочие и служебные эндпоинты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Общение игры с сервером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148840"/>
            <a:ext cx="530352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04672" y="235000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1F9BD8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235000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627632" y="224028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/game/session/start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627632" y="253288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сессию → session_id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017520"/>
            <a:ext cx="530352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" y="321868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1F9BD8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21868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627632" y="310896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/telemetry/ingest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627632" y="340156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батча + ML каждые N событий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886200"/>
            <a:ext cx="530352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408736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1F9BD8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408736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27632" y="397764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/game/session/{id}/end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627632" y="427024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закрыть сессию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30936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Служебные — для масштаба и поддержки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309360" y="2148840"/>
            <a:ext cx="5242255" cy="749808"/>
          </a:xfrm>
          <a:prstGeom prst="roundRect">
            <a:avLst>
              <a:gd name="adj" fmla="val 1097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3952" y="235000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0E7FB8"/>
          </a:solidFill>
          <a:ln/>
        </p:spPr>
      </p:sp>
      <p:sp>
        <p:nvSpPr>
          <p:cNvPr id="26" name="Text 24"/>
          <p:cNvSpPr/>
          <p:nvPr/>
        </p:nvSpPr>
        <p:spPr>
          <a:xfrm>
            <a:off x="6473952" y="235000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296912" y="2240280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/health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296912" y="2532888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сервиса и БД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309360" y="3017520"/>
            <a:ext cx="5242255" cy="749808"/>
          </a:xfrm>
          <a:prstGeom prst="roundRect">
            <a:avLst>
              <a:gd name="adj" fmla="val 1097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73952" y="321868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0E7FB8"/>
          </a:solidFill>
          <a:ln/>
        </p:spPr>
      </p:sp>
      <p:sp>
        <p:nvSpPr>
          <p:cNvPr id="31" name="Text 29"/>
          <p:cNvSpPr/>
          <p:nvPr/>
        </p:nvSpPr>
        <p:spPr>
          <a:xfrm>
            <a:off x="6473952" y="321868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296912" y="3108960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/game/profile · PUT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296912" y="3401568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игры (контракт с ML)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309360" y="3886200"/>
            <a:ext cx="5242255" cy="749808"/>
          </a:xfrm>
          <a:prstGeom prst="roundRect">
            <a:avLst>
              <a:gd name="adj" fmla="val 1097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408736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0E7FB8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08736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296912" y="3977640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/game/session/{id}/adaptation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296912" y="4270248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последняя адаптация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309360" y="4754880"/>
            <a:ext cx="5242255" cy="749808"/>
          </a:xfrm>
          <a:prstGeom prst="roundRect">
            <a:avLst>
              <a:gd name="adj" fmla="val 1097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73952" y="495604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0E7FB8"/>
          </a:solidFill>
          <a:ln/>
        </p:spPr>
      </p:sp>
      <p:sp>
        <p:nvSpPr>
          <p:cNvPr id="41" name="Text 39"/>
          <p:cNvSpPr/>
          <p:nvPr/>
        </p:nvSpPr>
        <p:spPr>
          <a:xfrm>
            <a:off x="6473952" y="495604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296912" y="4846320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/game/train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296912" y="5138928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запуск обучения модели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40080" y="4983480"/>
            <a:ext cx="5303520" cy="1005840"/>
          </a:xfrm>
          <a:prstGeom prst="roundRect">
            <a:avLst>
              <a:gd name="adj" fmla="val 8182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914400" y="512064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 служебных:  </a:t>
            </a: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health-check, профиль игры, выдача адаптации и запуск обучения делают систему удобной в эксплуатации и развитии.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· 1/2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Внутреннее устройство сервера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5852160" cy="1170432"/>
          </a:xfrm>
          <a:prstGeom prst="roundRect">
            <a:avLst>
              <a:gd name="adj" fmla="val 7031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21284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377440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0200" y="21031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routes/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600200" y="24871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· sessions · telemetry — приём HTTP, валидация Pydantic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246120"/>
            <a:ext cx="585216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77824" y="353872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g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" y="3703320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00200" y="3429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services/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1600200" y="381304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build_features, ml_client — бизнес-логика и связка с ML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572000"/>
            <a:ext cx="585216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77824" y="486460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5029200"/>
            <a:ext cx="219456" cy="21945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00200" y="47548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 / migrations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600200" y="51389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SQLAlchemy-модели и идемпотентные SQL-миграции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766560" y="1920240"/>
            <a:ext cx="4785055" cy="3822192"/>
          </a:xfrm>
          <a:prstGeom prst="roundRect">
            <a:avLst>
              <a:gd name="adj" fmla="val 215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7040880" y="21214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Слоистая архитектура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7040880" y="2560320"/>
            <a:ext cx="423641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Разделение ответственности: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маршруты не знают про SQL, сервисы — про HTTP. Каждый слой меняется независимо.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Тестируемость: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тестов — 3 unit + 3 integration + 7 E2E — покрывают ingest, features и весь путь до ML.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Конфиг через .env: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 БД, ML и CORS — без правок кода.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· 2/2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Процесс обработки события (поток ingest)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248" y="1975104"/>
            <a:ext cx="420624" cy="420624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751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481328" y="197510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1" name="Image 0" descr="icons/gamep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7515" y="2101291"/>
            <a:ext cx="168250" cy="16825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103120" y="182880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батча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577840" y="182880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/telemetry/ingest, валидация Pydantic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932688" y="239572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" y="265176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41248" y="2798064"/>
            <a:ext cx="420624" cy="420624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2798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1481328" y="279806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9" name="Image 1" descr="icons/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7515" y="2924251"/>
            <a:ext cx="168250" cy="16825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2103120" y="265176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Сохранение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5577840" y="265176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→ PostgreSQL (JSONB payload)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932688" y="321868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40080" y="347472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41248" y="3621024"/>
            <a:ext cx="420624" cy="420624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25" name="Text 21"/>
          <p:cNvSpPr/>
          <p:nvPr/>
        </p:nvSpPr>
        <p:spPr>
          <a:xfrm>
            <a:off x="841248" y="3621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1481328" y="362102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7" name="Image 2" descr="icons/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7515" y="3747211"/>
            <a:ext cx="168250" cy="16825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2103120" y="347472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Построение признаков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5577840" y="347472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build_features_from_events() по critical points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932688" y="404164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640080" y="429768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841248" y="4443984"/>
            <a:ext cx="420624" cy="420624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33" name="Text 28"/>
          <p:cNvSpPr/>
          <p:nvPr/>
        </p:nvSpPr>
        <p:spPr>
          <a:xfrm>
            <a:off x="841248" y="4443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Shape 29"/>
          <p:cNvSpPr/>
          <p:nvPr/>
        </p:nvSpPr>
        <p:spPr>
          <a:xfrm>
            <a:off x="1481328" y="444398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35" name="Image 3" descr="icons/br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7515" y="4570171"/>
            <a:ext cx="168250" cy="168250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2103120" y="429768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Вызов ML</a:t>
            </a:r>
            <a:endParaRPr lang="en-US" sz="1400" dirty="0"/>
          </a:p>
        </p:txBody>
      </p:sp>
      <p:sp>
        <p:nvSpPr>
          <p:cNvPr id="37" name="Text 31"/>
          <p:cNvSpPr/>
          <p:nvPr/>
        </p:nvSpPr>
        <p:spPr>
          <a:xfrm>
            <a:off x="5577840" y="429768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ml_client → POST /predict каждые N событий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932688" y="486460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39" name="Shape 33"/>
          <p:cNvSpPr/>
          <p:nvPr/>
        </p:nvSpPr>
        <p:spPr>
          <a:xfrm>
            <a:off x="640080" y="512064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40" name="Shape 34"/>
          <p:cNvSpPr/>
          <p:nvPr/>
        </p:nvSpPr>
        <p:spPr>
          <a:xfrm>
            <a:off x="841248" y="5266944"/>
            <a:ext cx="420624" cy="420624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41" name="Text 35"/>
          <p:cNvSpPr/>
          <p:nvPr/>
        </p:nvSpPr>
        <p:spPr>
          <a:xfrm>
            <a:off x="841248" y="52669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42" name="Shape 36"/>
          <p:cNvSpPr/>
          <p:nvPr/>
        </p:nvSpPr>
        <p:spPr>
          <a:xfrm>
            <a:off x="1481328" y="526694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43" name="Image 4" descr="icons/slid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07515" y="5393131"/>
            <a:ext cx="168250" cy="168250"/>
          </a:xfrm>
          <a:prstGeom prst="rect">
            <a:avLst/>
          </a:prstGeom>
        </p:spPr>
      </p:pic>
      <p:sp>
        <p:nvSpPr>
          <p:cNvPr id="44" name="Text 37"/>
          <p:cNvSpPr/>
          <p:nvPr/>
        </p:nvSpPr>
        <p:spPr>
          <a:xfrm>
            <a:off x="2103120" y="512064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адаптации</a:t>
            </a:r>
            <a:endParaRPr lang="en-US" sz="1400" dirty="0"/>
          </a:p>
        </p:txBody>
      </p:sp>
      <p:sp>
        <p:nvSpPr>
          <p:cNvPr id="45" name="Text 38"/>
          <p:cNvSpPr/>
          <p:nvPr/>
        </p:nvSpPr>
        <p:spPr>
          <a:xfrm>
            <a:off x="5577840" y="512064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сохранён, adaptation в ответе ingest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ЗАДЕЛЫ НА БУДУЩЕЕ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Заделы на будущее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203911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sli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14" y="2209190"/>
            <a:ext cx="226771" cy="2267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64208" y="19476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и логирование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64208" y="231343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/predict, fallback-rate, мониторинг нагрузки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59536" y="331927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" y="3489350"/>
            <a:ext cx="226771" cy="22677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64208" y="32278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Политика отказов ML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1664208" y="35935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чёткий fallback или 503 при недоступности ML-сервиса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34340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59536" y="459943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contai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614" y="4769510"/>
            <a:ext cx="226771" cy="22677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64208" y="4507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Масштабирование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64208" y="48737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воркеров backend, пул соединений, готовность к k8s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766560" y="1783080"/>
            <a:ext cx="4785055" cy="4160520"/>
          </a:xfrm>
          <a:prstGeom prst="roundRect">
            <a:avLst>
              <a:gd name="adj" fmla="val 2198"/>
            </a:avLst>
          </a:prstGeom>
          <a:solidFill>
            <a:srgbClr val="0B5E88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6766560" y="205740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 ПРОЕКТА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924648" y="2468880"/>
            <a:ext cx="24688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</p:spPr>
      </p:sp>
      <p:pic>
        <p:nvPicPr>
          <p:cNvPr id="25" name="Image 3" descr="qr_g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0952" y="2615184"/>
            <a:ext cx="2176272" cy="21762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66560" y="507492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github.com/Antizi/diplom-Game_Plugs_Ai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766560" y="544068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 телефона на QR-код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E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15544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15544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20116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20116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24688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24688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688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2926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2926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2926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3383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3383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3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r>
              <a:rPr lang="ru-RU" sz="2000" b="1" kern="0" spc="3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0080" y="24231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Серверное решение для сбора</a:t>
            </a:r>
            <a:endParaRPr lang="en-US" sz="44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анализа игровых данных</a:t>
            </a:r>
            <a:endParaRPr lang="en-US" sz="4400" dirty="0"/>
          </a:p>
        </p:txBody>
      </p:sp>
      <p:sp>
        <p:nvSpPr>
          <p:cNvPr id="26" name="Text 24"/>
          <p:cNvSpPr/>
          <p:nvPr/>
        </p:nvSpPr>
        <p:spPr>
          <a:xfrm>
            <a:off x="640080" y="4983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Самигуллин Максим Ринатович  ·  Backend-инженер</a:t>
            </a:r>
            <a:r>
              <a:rPr lang="en-US" sz="14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Группа МВИ-122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349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руководитель: Минаева Н. В., ст. преподаватель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1463</Words>
  <Application>Microsoft Office PowerPoint</Application>
  <PresentationFormat>Широкоэкранный</PresentationFormat>
  <Paragraphs>204</Paragraphs>
  <Slides>11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серверного решения для сбора и анализа игровых данных</dc:title>
  <dc:subject>PptxGenJS Presentation</dc:subject>
  <dc:creator>Самигуллин Максим Ринатович</dc:creator>
  <cp:lastModifiedBy>fuller276</cp:lastModifiedBy>
  <cp:revision>2</cp:revision>
  <dcterms:created xsi:type="dcterms:W3CDTF">2026-06-15T11:15:39Z</dcterms:created>
  <dcterms:modified xsi:type="dcterms:W3CDTF">2026-06-21T09:12:59Z</dcterms:modified>
</cp:coreProperties>
</file>