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отвечал за серверную часть проекта — backend и базу данных. Сервер принимает телеметрию от игры, сохраняет её, строит признаки и обращается к ML-сервису, а затем возвращает игре параметры адаптации. Главной целью для меня было сделать систему масштабируемой и поддерживаемой, поэтому я расскажу про выбор PostgreSQL и FastAPI, про устройство эндпоинтов и про то, как процессы устроены внутри, включая контейнеризацию в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 вообще нужен сервер. Телеметрию нельзя держать на клиенте: данные многих игроков надо собирать централизованно, надёжно хранить и отдавать модели. Сервер — это единое хранилище и источник правды: он валидирует входные данные и хранит историю предсказаний. И именно сюда вынесена вся тяжёлая логика — построение признаков и обращение к ML. По сути backend — центральный узел между игрой и ML, который в реальном времени обслуживает множество клиентов.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Базу данных я выбрал PostgreSQL. Во-первых, надёжность: полноценные ACID-транзакции гарантируют целостность телеметрии. Во-вторых, тип JSONB — события приходят с произвольными parameters и state, и Postgres хранит их как гибкий, при этом индексируемый JSON, не ломая схему. В-третьих, производительность: индексы, быстрые батч-вставки и выборки по сессиям. И в-четвёртых — это открытая, бесплатная и очень зрелая СУБД с огромной экосистемой, проверенная в продакшене.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данных простая и расширяемая. Три основные таблицы: sessions — игровые сессии с UUID; events — события, где произвольные данные лежат в поле payload типа JSONB; и predictions — история предсказаний модели с архетипом, уверенностью и id модели. Отдельно есть game_models — профиль игры с архетипами и критическими точками, это единый контракт с ML. Все миграции идемпотентны и применяются автоматически при каждом старте сервера, поэтому база всегда в актуальном состоянии без ручных шагов.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Фреймворк — FastAPI. Он асинхронный, поэтому хорошо держит поток запросов телеметрии без блокировок. Встроенная валидация через Pydantic: входные JSON проверяются по строгим схемам, и ошибки ловятся ещё до бизнес-логики. И он автоматически генерирует документацию OpenAPI и Swagger — это удобно и команде, и автору плагина, который видит контракт прямо на странице /docs. Сочетание скорости, валидации и автодокументации и определило выбор.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Эндпоинты я разделил на две группы. Слева — рабочие, через которые игра общается с сервером: открыть сессию, отправить батч телеметрии — здесь же раз в N событий вызывается ML, — и закрыть сессию. Но чтобы система была масштабируемой и поддерживаемой, одних рабочих эндпоинтов мало, поэтому справа — служебные: health-check для мониторинга сервиса и базы, чтение и запись профиля игры — это контракт с ML, выдача последней адаптации и запуск переобучения модели. Именно служебные эндпоинты делают систему пригодной к эксплуатации.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внутреннее устройство. Backend разбит на слои. routes — это HTTP-маршруты с валидацией Pydantic: game, sessions, telemetry. services — бизнес-логика: ingest сохраняет события, build_features строит признаки, ml_client общается с ML. И слой моделей с миграциями — SQLAlchemy и идемпотентный SQL. Такая слоистость даёт разделение ответственности: маршруты не знают про SQL, сервисы — про HTTP, каждый слой меняется независимо. Это и есть поддерживаемость. Систему покрывают 13 тестов — от unit до сквозных E2E, а вся конфигурация вынесена в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Покажу полный путь одного батча событий — это удобно анимировать по шагам. Шаг первый: приходит POST на ingest, Pydantic валидирует данные. Второй: события сохраняются в PostgreSQL, произвольные поля — в JSONB. Третий: сервис build_features превращает накопленные события в вектор признаков по критическим точкам профиля. Четвёртый: каждые N событий ml_client вызывает ML-сервис на /predict. Пятый: предсказание сохраняется в базу, а параметры адаптации кладутся прямо в ответ на ingest — и плагин тут же передаёт их в игру. Весь стек — postgres, backend и ml — поднимается одной командой docker compose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Планы по серверу: добавить метрики и логирование — латентность предсказаний, частоту fallback, мониторинг нагрузки. Зафиксировать политику отказов: что делать при недоступности ML — отдавать понятную ошибку или fallback. И подготовить горизонтальное масштабирование: несколько воркеров backend, пул соединений к базе, готовность к оркестрации в Kubernetes. Весь код backend — в репозитории по QR-коду, папка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по backend. Сервер на FastAPI и PostgreSQL в Docker — это центральный узел системы: он принимает телеметрию, строит признаки, связывается с ML и возвращает адаптацию. Благодаря слоистой архитектуре, служебным эндпоинтам, миграциям и тестам систему легко масштабировать и поддерживать.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e_gamepad.png"/><Relationship Id="rId3" Type="http://schemas.openxmlformats.org/officeDocument/2006/relationships/image" Target="../media/scheme_server.png"/><Relationship Id="rId4" Type="http://schemas.openxmlformats.org/officeDocument/2006/relationships/image" Target="../media/scheme_brain.png"/><Relationship Id="rId5" Type="http://schemas.openxmlformats.org/officeDocument/2006/relationships/image" Target="../media/scheme_db.png"/><Relationship Id="rId6" Type="http://schemas.openxmlformats.org/officeDocument/2006/relationships/image" Target="../media/scheme_flow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5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55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1417320"/>
            <a:ext cx="10927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серверного решения для сбора и анализа игровых данных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276088"/>
            <a:ext cx="603504" cy="60350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8" name="Image 0" descr="icons/ser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5457139"/>
            <a:ext cx="241402" cy="2414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8308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783080" y="5349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Самигуллин Максим Ринатович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783080" y="5760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МВИ-122  ·  Backend-инженер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4892040"/>
            <a:ext cx="5013655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30568" y="50749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30568" y="5394960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Минаева Н. В.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преподаватель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Необходимость серверной части для телеметрии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38950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Единое хранилище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всех игроков и сессий в одной надёжной БД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52544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08576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38950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8576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правды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08576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валидирует данные и хранит историю предсказаний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5008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38950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Тяжёлое — на сервере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1040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признаков и ML вынесены с клиента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БД · 1/2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 PostgreSQL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10312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6771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48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 и ACID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00200" y="243230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 и целостность данных телеметрии гарантированы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64224" y="210312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26771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2048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из коробки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086600" y="243230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parameters и state событий хранятся как индексируемый JSON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6118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7824" y="38862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05079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831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00200" y="421538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индексы, быстрые вставки батчей и выборки по сессиям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26480" y="36118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64224" y="38862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4" name="Image 3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05079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3831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и зрелая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086600" y="421538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бесплатна, огромная экосистема, проверена в продакшене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БД · 2/2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данных и миграции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06654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gamep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225650"/>
            <a:ext cx="212141" cy="212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(UUID)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3209544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2095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player_id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" y="3630168"/>
            <a:ext cx="3108960" cy="36576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game_version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050792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4050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started_at / ended_at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52544" y="182880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90288" y="206654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1" name="Image 1" descr="icons/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225650"/>
            <a:ext cx="212141" cy="21214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66944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535424" y="2788920"/>
            <a:ext cx="3108960" cy="36576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45152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(FK)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535424" y="3209544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45152" y="32095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535424" y="3630168"/>
            <a:ext cx="3108960" cy="36576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45152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(JSONB)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535424" y="4050792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45152" y="4050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065008" y="182880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302752" y="206654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3" name="Image 2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2225650"/>
            <a:ext cx="212141" cy="21214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7940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8247888" y="2788920"/>
            <a:ext cx="3108960" cy="36576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357616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(FK)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8247888" y="3209544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357616" y="32095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predicted_archetype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247888" y="3630168"/>
            <a:ext cx="3108960" cy="36576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357616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8247888" y="4050792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357616" y="4050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40080" y="4800600"/>
            <a:ext cx="10911535" cy="1005840"/>
          </a:xfrm>
          <a:prstGeom prst="roundRect">
            <a:avLst>
              <a:gd name="adj" fmla="val 8182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44" name="Text 39"/>
          <p:cNvSpPr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Идемпотентные SQL-миграции: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применяются автоматически при каждом старте backend (CREATE IF NOT EXISTS). Схема game_models хранит профиль игры: архетипы, critical_points, feature_schema — единый контракт с ML.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ФРЕЙМВОРКА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 FastAPI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пропускная способность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схем из коробки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авто-документация /docs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0" descr="icons/bo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666744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77824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Асинхронность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77824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множества запросов телеметрии без блокировок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52544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90288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1" descr="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6674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90288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Строгие схемы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590288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валидирует входные JSON — меньше ошибок в рантайме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65008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02752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5" name="Image 2" descr="icons/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66674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02752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Авто-документация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8302752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 генерируется сам — удобно для команды и плагина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Рабочие и служебные эндпоинты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Общение игры с сервером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35000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F9BD8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27632" y="22402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/game/session/start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27632" y="25328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сессию → session_id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21868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F9BD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1868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27632" y="3108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/telemetry/ingest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27632" y="34015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батча + ML каждые N событий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08736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F9BD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087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27632" y="39776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/game/session/{id}/end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27632" y="42702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закрыть сессию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Служебные — для масштаба и поддержки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2148840"/>
            <a:ext cx="5242255" cy="749808"/>
          </a:xfrm>
          <a:prstGeom prst="roundRect">
            <a:avLst>
              <a:gd name="adj" fmla="val 10976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235000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0E7FB8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96912" y="2240280"/>
            <a:ext cx="4053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96912" y="2532888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сервиса и БД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017520"/>
            <a:ext cx="5242255" cy="749808"/>
          </a:xfrm>
          <a:prstGeom prst="roundRect">
            <a:avLst>
              <a:gd name="adj" fmla="val 10976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321868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0E7FB8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321868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96912" y="3108960"/>
            <a:ext cx="4053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/game/profile · 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3401568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игры (контракт с ML)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886200"/>
            <a:ext cx="5242255" cy="749808"/>
          </a:xfrm>
          <a:prstGeom prst="roundRect">
            <a:avLst>
              <a:gd name="adj" fmla="val 10976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408736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0E7FB8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4087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96912" y="3977640"/>
            <a:ext cx="4053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/game/session/{id}/adaptation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4270248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адаптация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4754880"/>
            <a:ext cx="5242255" cy="749808"/>
          </a:xfrm>
          <a:prstGeom prst="roundRect">
            <a:avLst>
              <a:gd name="adj" fmla="val 10976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73952" y="495604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0E7FB8"/>
          </a:solidFill>
          <a:ln/>
        </p:spPr>
      </p:sp>
      <p:sp>
        <p:nvSpPr>
          <p:cNvPr id="41" name="Text 39"/>
          <p:cNvSpPr/>
          <p:nvPr/>
        </p:nvSpPr>
        <p:spPr>
          <a:xfrm>
            <a:off x="6473952" y="49560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96912" y="4846320"/>
            <a:ext cx="4053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/game/train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96912" y="5138928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обучения модели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98348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14400" y="5120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Роль служебных: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health-check, профиль игры, выдача адаптации и запуск обучения делают систему удобной в эксплуатации и развитии.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· 1/2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Внутреннее устройство сервера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852160" cy="1170432"/>
          </a:xfrm>
          <a:prstGeom prst="roundRect">
            <a:avLst>
              <a:gd name="adj" fmla="val 7031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21284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774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00200" y="24871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· sessions · telemetry — приём HTTP, валидация Pydantic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58521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77824" y="353872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7033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600200" y="38130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build_features, ml_client — бизнес-логика и связка с ML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572000"/>
            <a:ext cx="58521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7824" y="486460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502920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/ migrations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00200" y="5138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SQLAlchemy-модели и идемпотентные SQL-миграции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920240"/>
            <a:ext cx="4785055" cy="3822192"/>
          </a:xfrm>
          <a:prstGeom prst="roundRect">
            <a:avLst>
              <a:gd name="adj" fmla="val 2153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040880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Слоистая архитектура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040880" y="2560320"/>
            <a:ext cx="4236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ответственности: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 не знают про SQL, сервисы — про HTTP. Каждый слой меняется независимо.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Тестируемость: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тестов — 3 unit + 3 integration + 7 E2E — покрывают ingest, features и весь путь до ML.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 через .env: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БД, ML и CORS — без правок кода.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· 2/2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обработки события (поток ingest)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975104"/>
            <a:ext cx="420624" cy="420624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81328" y="1975104"/>
            <a:ext cx="420624" cy="42062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" name="Image 0" descr="icons/gamep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515" y="2101291"/>
            <a:ext cx="168250" cy="1682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03120" y="18288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батча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182880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/telemetry/ingest, валидация Pydantic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32688" y="23957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65176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" y="2798064"/>
            <a:ext cx="420624" cy="420624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481328" y="2798064"/>
            <a:ext cx="420624" cy="42062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1" descr="icons/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15" y="2924251"/>
            <a:ext cx="168250" cy="1682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03120" y="26517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77840" y="265176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PostgreSQL (JSONB payload)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932688" y="32186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" y="347472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41248" y="3621024"/>
            <a:ext cx="420624" cy="420624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25" name="Text 21"/>
          <p:cNvSpPr/>
          <p:nvPr/>
        </p:nvSpPr>
        <p:spPr>
          <a:xfrm>
            <a:off x="841248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481328" y="3621024"/>
            <a:ext cx="420624" cy="42062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7" name="Image 2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515" y="3747211"/>
            <a:ext cx="168250" cy="1682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103120" y="34747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признаков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577840" y="347472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build_features_from_events() по critical points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932688" y="40416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40080" y="429768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41248" y="4443984"/>
            <a:ext cx="420624" cy="420624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33" name="Text 28"/>
          <p:cNvSpPr/>
          <p:nvPr/>
        </p:nvSpPr>
        <p:spPr>
          <a:xfrm>
            <a:off x="841248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1481328" y="4443984"/>
            <a:ext cx="420624" cy="42062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5" name="Image 3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515" y="4570171"/>
            <a:ext cx="168250" cy="1682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2103120" y="429768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ML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577840" y="429768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ml_client → POST /predict каждые N событий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932688" y="48646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40080" y="512064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841248" y="5266944"/>
            <a:ext cx="420624" cy="420624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41" name="Text 35"/>
          <p:cNvSpPr/>
          <p:nvPr/>
        </p:nvSpPr>
        <p:spPr>
          <a:xfrm>
            <a:off x="841248" y="5266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1481328" y="5266944"/>
            <a:ext cx="420624" cy="42062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43" name="Image 4" descr="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515" y="5393131"/>
            <a:ext cx="168250" cy="16825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2103120" y="51206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адаптации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5577840" y="512064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сохранён, adaptation в ответе ingest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ЗАДЕЛЫ НА БУДУЩЕЕ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Заделы на будущее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03911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slid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20919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логирование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64208" y="2313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/predict, fallback-rate, мониторинг нагрузки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331927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489350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4208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отказов ML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64208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чёткий fallback или 503 при недоступности ML-сервиса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3434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" y="459943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4769510"/>
            <a:ext cx="226771" cy="2267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64208" y="4873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воркеров backend, пул соединений, готовность к k8s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783080"/>
            <a:ext cx="4785055" cy="4160520"/>
          </a:xfrm>
          <a:prstGeom prst="roundRect">
            <a:avLst>
              <a:gd name="adj" fmla="val 2198"/>
            </a:avLst>
          </a:prstGeom>
          <a:solidFill>
            <a:srgbClr val="0B5E88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766560" y="20574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924648" y="24688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25" name="Image 3" descr="qr_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952" y="2615184"/>
            <a:ext cx="2176272" cy="21762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50749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github.com/Antizi/diplom-Game_Plugs_Ai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766560" y="5440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 телефона на QR-код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23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Серверное решение для сбора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анализа игровых данных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в Docker · рабочие и служебные эндпоинты · слоистая архитектура, миграции и тесты — масштабируемо и поддерживаемо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Самигуллин Максим Ринатович  ·  Backend-инженер</a:t>
            </a:r>
            <a:pPr indent="0" marL="0">
              <a:buNone/>
            </a:pPr>
            <a:r>
              <a:rPr lang="en-US" sz="14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Группа МВИ-122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Минаева Н. В., ст. преподаватель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t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</a:p>
        </p:txBody>
      </p:sp>
      <p:sp>
        <p:nvSpPr>
          <p:cNvPr id="102" name="Txt"/>
          <p:cNvSpPr/>
          <p:nvPr/>
        </p:nvSpPr>
        <p:spPr>
          <a:xfrm>
            <a:off x="640080" y="749808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система</a:t>
            </a:r>
          </a:p>
        </p:txBody>
      </p:sp>
      <p:sp>
        <p:nvSpPr>
          <p:cNvPr id="103" name="R"/>
          <p:cNvSpPr/>
          <p:nvPr/>
        </p:nvSpPr>
        <p:spPr>
          <a:xfrm>
            <a:off x="3620000" y="2180000"/>
            <a:ext cx="7930000" cy="3060000"/>
          </a:xfrm>
          <a:prstGeom prst="roundRect">
            <a:avLst>
              <a:gd name="adj" fmla="val 3500"/>
            </a:avLst>
          </a:prstGeom>
          <a:solidFill>
            <a:srgbClr val="F7FBFD"/>
          </a:solidFill>
          <a:ln w="12700">
            <a:solidFill>
              <a:srgbClr val="D7E5EE"/>
            </a:solidFill>
          </a:ln>
        </p:spPr>
      </p:sp>
      <p:sp>
        <p:nvSpPr>
          <p:cNvPr id="104" name="Txt"/>
          <p:cNvSpPr/>
          <p:nvPr/>
        </p:nvSpPr>
        <p:spPr>
          <a:xfrm>
            <a:off x="3820000" y="233000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20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</a:p>
        </p:txBody>
      </p:sp>
      <p:sp>
        <p:nvSpPr>
          <p:cNvPr id="105" name="R"/>
          <p:cNvSpPr/>
          <p:nvPr/>
        </p:nvSpPr>
        <p:spPr>
          <a:xfrm>
            <a:off x="3960000" y="3200000"/>
            <a:ext cx="2200000" cy="1520000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/>
        </p:spPr>
      </p:sp>
      <p:sp>
        <p:nvSpPr>
          <p:cNvPr id="106" name="R"/>
          <p:cNvSpPr/>
          <p:nvPr/>
        </p:nvSpPr>
        <p:spPr>
          <a:xfrm>
            <a:off x="8050000" y="3750000"/>
            <a:ext cx="2200000" cy="1520000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/>
        </p:spPr>
      </p:sp>
      <p:cxnSp>
        <p:nvCxnSpPr>
          <p:cNvPr id="107" name="cxn"/>
          <p:cNvCxnSpPr/>
          <p:nvPr/>
        </p:nvCxnSpPr>
        <p:spPr>
          <a:xfrm>
            <a:off x="2420000" y="3540000"/>
            <a:ext cx="2180000" cy="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8" name="cxn"/>
          <p:cNvCxnSpPr/>
          <p:nvPr/>
        </p:nvCxnSpPr>
        <p:spPr>
          <a:xfrm flipH="1">
            <a:off x="2420000" y="3880000"/>
            <a:ext cx="2180000" cy="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9" name="cxn"/>
          <p:cNvCxnSpPr/>
          <p:nvPr/>
        </p:nvCxnSpPr>
        <p:spPr>
          <a:xfrm flipV="1">
            <a:off x="5440000" y="320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10" name="cxn"/>
          <p:cNvCxnSpPr/>
          <p:nvPr/>
        </p:nvCxnSpPr>
        <p:spPr>
          <a:xfrm flipH="1">
            <a:off x="5440000" y="333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11" name="cxn"/>
          <p:cNvCxnSpPr/>
          <p:nvPr/>
        </p:nvCxnSpPr>
        <p:spPr>
          <a:xfrm>
            <a:off x="5440000" y="384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12" name="cxn"/>
          <p:cNvCxnSpPr/>
          <p:nvPr/>
        </p:nvCxnSpPr>
        <p:spPr>
          <a:xfrm flipH="1" flipV="1">
            <a:off x="5440000" y="396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sp>
        <p:nvSpPr>
          <p:cNvPr id="113" name="C"/>
          <p:cNvSpPr/>
          <p:nvPr/>
        </p:nvSpPr>
        <p:spPr>
          <a:xfrm>
            <a:off x="1468000" y="3268000"/>
            <a:ext cx="864000" cy="864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4" name="Icon" descr="icons/scheme_game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00" y="3504000"/>
            <a:ext cx="392000" cy="392000"/>
          </a:xfrm>
          <a:prstGeom prst="rect">
            <a:avLst/>
          </a:prstGeom>
        </p:spPr>
      </p:pic>
      <p:sp>
        <p:nvSpPr>
          <p:cNvPr id="115" name="Txt"/>
          <p:cNvSpPr/>
          <p:nvPr/>
        </p:nvSpPr>
        <p:spPr>
          <a:xfrm>
            <a:off x="600000" y="4172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Godot Engine</a:t>
            </a:r>
          </a:p>
        </p:txBody>
      </p:sp>
      <p:sp>
        <p:nvSpPr>
          <p:cNvPr id="116" name="Txt"/>
          <p:cNvSpPr/>
          <p:nvPr/>
        </p:nvSpPr>
        <p:spPr>
          <a:xfrm>
            <a:off x="600000" y="4462000"/>
            <a:ext cx="26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· игра</a:t>
            </a:r>
          </a:p>
        </p:txBody>
      </p:sp>
      <p:sp>
        <p:nvSpPr>
          <p:cNvPr id="117" name="C"/>
          <p:cNvSpPr/>
          <p:nvPr/>
        </p:nvSpPr>
        <p:spPr>
          <a:xfrm>
            <a:off x="4680000" y="332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8" name="Icon" descr="icons/scheme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000" y="3524000"/>
            <a:ext cx="352000" cy="352000"/>
          </a:xfrm>
          <a:prstGeom prst="rect">
            <a:avLst/>
          </a:prstGeom>
        </p:spPr>
      </p:pic>
      <p:sp>
        <p:nvSpPr>
          <p:cNvPr id="119" name="Txt"/>
          <p:cNvSpPr/>
          <p:nvPr/>
        </p:nvSpPr>
        <p:spPr>
          <a:xfrm>
            <a:off x="3760000" y="412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</a:p>
        </p:txBody>
      </p:sp>
      <p:sp>
        <p:nvSpPr>
          <p:cNvPr id="120" name="C"/>
          <p:cNvSpPr/>
          <p:nvPr/>
        </p:nvSpPr>
        <p:spPr>
          <a:xfrm>
            <a:off x="8770000" y="277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1" name="Icon" descr="icons/scheme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000" y="2974000"/>
            <a:ext cx="352000" cy="352000"/>
          </a:xfrm>
          <a:prstGeom prst="rect">
            <a:avLst/>
          </a:prstGeom>
        </p:spPr>
      </p:pic>
      <p:sp>
        <p:nvSpPr>
          <p:cNvPr id="122" name="Txt"/>
          <p:cNvSpPr/>
          <p:nvPr/>
        </p:nvSpPr>
        <p:spPr>
          <a:xfrm>
            <a:off x="7850000" y="357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ML-сервис</a:t>
            </a:r>
          </a:p>
        </p:txBody>
      </p:sp>
      <p:sp>
        <p:nvSpPr>
          <p:cNvPr id="123" name="C"/>
          <p:cNvSpPr/>
          <p:nvPr/>
        </p:nvSpPr>
        <p:spPr>
          <a:xfrm>
            <a:off x="8770000" y="387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4" name="Icon" descr="icons/scheme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000" y="4074000"/>
            <a:ext cx="352000" cy="352000"/>
          </a:xfrm>
          <a:prstGeom prst="rect">
            <a:avLst/>
          </a:prstGeom>
        </p:spPr>
      </p:pic>
      <p:sp>
        <p:nvSpPr>
          <p:cNvPr id="125" name="Txt"/>
          <p:cNvSpPr/>
          <p:nvPr/>
        </p:nvSpPr>
        <p:spPr>
          <a:xfrm>
            <a:off x="7850000" y="467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</a:p>
        </p:txBody>
      </p:sp>
      <p:sp>
        <p:nvSpPr>
          <p:cNvPr id="126" name="Txt"/>
          <p:cNvSpPr/>
          <p:nvPr/>
        </p:nvSpPr>
        <p:spPr>
          <a:xfrm>
            <a:off x="2500000" y="330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</a:t>
            </a:r>
          </a:p>
        </p:txBody>
      </p:sp>
      <p:sp>
        <p:nvSpPr>
          <p:cNvPr id="127" name="Txt"/>
          <p:cNvSpPr/>
          <p:nvPr/>
        </p:nvSpPr>
        <p:spPr>
          <a:xfrm>
            <a:off x="2500000" y="393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</a:t>
            </a:r>
          </a:p>
        </p:txBody>
      </p:sp>
      <p:sp>
        <p:nvSpPr>
          <p:cNvPr id="128" name="Txt"/>
          <p:cNvSpPr/>
          <p:nvPr/>
        </p:nvSpPr>
        <p:spPr>
          <a:xfrm>
            <a:off x="6250000" y="284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</a:p>
        </p:txBody>
      </p:sp>
      <p:sp>
        <p:nvSpPr>
          <p:cNvPr id="129" name="Txt"/>
          <p:cNvSpPr/>
          <p:nvPr/>
        </p:nvSpPr>
        <p:spPr>
          <a:xfrm>
            <a:off x="6250000" y="440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серверного решения для сбора и анализа игровых данных</dc:title>
  <dc:subject>PptxGenJS Presentation</dc:subject>
  <dc:creator>Самигуллин Максим Ринатович</dc:creator>
  <cp:lastModifiedBy>Самигуллин Максим Ринатович</cp:lastModifiedBy>
  <cp:revision>1</cp:revision>
  <dcterms:created xsi:type="dcterms:W3CDTF">2026-06-15T11:15:39Z</dcterms:created>
  <dcterms:modified xsi:type="dcterms:W3CDTF">2026-06-15T11:15:39Z</dcterms:modified>
</cp:coreProperties>
</file>