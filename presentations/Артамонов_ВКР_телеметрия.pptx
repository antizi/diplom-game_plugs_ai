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Я делал клиентскую часть проекта — плагин для движка Godot. Его задача — дать разработчику игры простой инструмент: скопировал папку аддона, включил плагин, и игра начинает собирать телеметрию и получать адаптацию из облака. При этом разработчик не пишет ни строчки ML-кода. Расскажу про сферу инди-разработки, почему Godot, как устроен плагин, его интерфейс и контракт с сервером.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это актуально. Инди-разработчики выпускают огромное число игр, но у них почти нет доступа к серьёзной аналитике поведения и адаптивному балансу — это дорого и требует отдельной команды дата-инженеров. В результате сложность настраивается вручную, на глаз, и одинаково для всех игроков. Наша ниша — готовый плагин, который встраивает такую аналитику в любой проект на Godot за несколько шагов. Вся сложность спрятана внутри, наружу — простое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Движок мы выбрали Godot 4 и вот почему. Во-первых, он полностью открытый и бесплатный, под MIT-лицензией — никаких роялти, что принципиально для инди. Во-вторых, у Godot отличная нативная система плагинов: EditorPlugin, autoload-синглтоны, собственные панели в редакторе — всё это «из коробки», именно на этом построен наш аддон. В-третьих, GDScript даёт низкий порог входа и очень быструю итерацию. Целевая версия — 4.2 и выше, вся установка плагина — это копирование одной папки.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плагин встроен в общую систему. В игре есть autoload Analytics — единая точка с четырьмя методами: инициализация, старт игры, track событий и завершение. Модуль cloud_sender собирает события в батчи и шлёт на backend на эндпоинт ingest. Важная деталь — offline-буфер в формате JSONL: если сети нет, события не теряются, а отправляются при восстановлении связи. Обратно приходит adaptation, и AdaptationBridge превращает её в конкретные параметры баланса: сложность, плотность врагов, множитель лута.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интерфейс для разработчика. Вся настройка живёт в редакторе Godot, во вкладке Analytics — руками конфиги править не нужно. Есть четыре блока: настройки облака — URL сервера, размер буфера, интервал автоотправки, повторы и кэш на случай оффлайна; ML-профиль — список событий, критические точки с весами, архетипы и параметр bootstrap_actions; просмотр логов — что ушло на сервер и что он ответил; и проверка сервера — кнопка health-check плюс блок с последней полученной адаптацией.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как выглядят панели на практике. Слева — настройки облака: URL эндпоинта ingest, размер батча, интервал автоотправки, число повторов и переключатель offline-кэша. Справа — редактор ML-профиля: разработчик галочками задаёт архетипы, которые должна различать модель, и список критических точек с весами — это те числовые метрики, из которых сервер строит признаки. Всё это сохраняется и автоматически уходит на сервер как профиль игры.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Контракт с сервером. Плагин шлёт на эндпоинт ingest JSON из двух частей. events — это батч событий: каждое содержит id сессии и игрока, имя события, время и parameters — числовые метрики, на которых работает ML. metadata — это критические точки и архетипы из профиля игры плюс режим cloud. Ключевой момент: большую часть полей плагин подставляет сам — session_id, timestamp, game_time, состояние, — разработчику в коде нужно лишь вызвать track с именем события и своим словарём параметров.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решение масштабируется на большие проекты. Аддон полностью изолирован — переносится только своя папка, он не лезет в код игры. API минимально: четыре вызова встраиваются в проект любого размера без рефакторинга. Сеть защищена батчами, повторами и offline-очередью, так что нестабильное соединение не ломает игру. И всё конфигурируется под конкретную игру через профиль. Работает это благодаря слабой связности: плагин общается с игрой через autoload и сигналы, а вся тяжёлая логика вынесена на сервер, поэтому клиент остаётся лёгким.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Планы по плагину: оформить аддон для официальной Asset Library Godot, чтобы его можно было ставить в один клик. Расширить панель редактора — добавить визуализацию воронок событий и историю полученных адаптаций. И довести автоматические E2E-тесты интеграции как регрессионный чеклист. Весь код плагина — в репозитории по QR-коду, папка godot-plugin.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по моей части. Плагин analytics_plugin для Godot 4 даёт инди-разработчику серьёзную аналитику и адаптивный геймплей через простое API из четырёх вызовов, с настройкой прямо в редакторе и надёжной отправкой телеметрии. Спасибо за внимание.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heme_gamepad.png"/><Relationship Id="rId3" Type="http://schemas.openxmlformats.org/officeDocument/2006/relationships/image" Target="../media/scheme_server.png"/><Relationship Id="rId4" Type="http://schemas.openxmlformats.org/officeDocument/2006/relationships/image" Target="../media/scheme_brain.png"/><Relationship Id="rId5" Type="http://schemas.openxmlformats.org/officeDocument/2006/relationships/image" Target="../media/scheme_db.png"/><Relationship Id="rId6" Type="http://schemas.openxmlformats.org/officeDocument/2006/relationships/image" Target="../media/scheme_flow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8" name="Shape 6"/>
          <p:cNvSpPr/>
          <p:nvPr/>
        </p:nvSpPr>
        <p:spPr>
          <a:xfrm>
            <a:off x="97840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984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84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556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556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556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6128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128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128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 · 2026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1417320"/>
            <a:ext cx="10927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 системы сбора и передачи игровой телеметрии в распределённое хранилище данных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0E6E9E"/>
          </a:solidFill>
          <a:ln/>
          <a:effectLst>
            <a:outerShdw sx="100000" sy="100000" kx="0" ky="0" algn="bl" rotWithShape="0" blurRad="114300" dist="38100" dir="5400000">
              <a:srgbClr val="9FB6C4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5276088"/>
            <a:ext cx="603504" cy="60350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8" name="Image 0" descr="icons/gamep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" y="5457139"/>
            <a:ext cx="241402" cy="24140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783080" y="5074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783080" y="53492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Артамонов Фёдор Андреевич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783080" y="57607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МВИ-122  ·  Godot-инженер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537960" y="4892040"/>
            <a:ext cx="5013655" cy="1371600"/>
          </a:xfrm>
          <a:prstGeom prst="roundRect">
            <a:avLst>
              <a:gd name="adj" fmla="val 6667"/>
            </a:avLst>
          </a:prstGeom>
          <a:solidFill>
            <a:srgbClr val="0E6E9E"/>
          </a:solidFill>
          <a:ln/>
          <a:effectLst>
            <a:outerShdw sx="100000" sy="100000" kx="0" ky="0" algn="bl" rotWithShape="0" blurRad="114300" dist="38100" dir="5400000">
              <a:srgbClr val="9FB6C4">
                <a:alpha val="2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830568" y="507492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830568" y="5394960"/>
            <a:ext cx="4465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Минаева Н. В.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 преподаватель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Независимая разработка игр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296888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322491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0" name="Image 0" descr="icons/sto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3389504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39015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Массовый сегмент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96112" y="430390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 релизов в год; инди — заметная часть рынка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52544" y="296888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08576" y="322491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5" name="Image 1" descr="icons/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3389504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08576" y="39015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своей аналитики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08576" y="430390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малых команд нет ресурсов на data-инфраструктуру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65008" y="296888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21040" y="322491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0" name="Image 2" descr="icons/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3389504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39015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баланс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21040" y="430390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 настраивается «на глаз», одинаково для всех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ДВИЖКА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Преимущества Godot 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код, MIT-лицензия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4.2+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3832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версия движка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8288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папка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61264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установка аддона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7824" y="350215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5" name="Image 0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3666744"/>
            <a:ext cx="219456" cy="2194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77824" y="4178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и открытый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77824" y="4617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роялти и лицензионных платежей — критично для инди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52544" y="324612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90288" y="350215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0" name="Image 1" descr="icons/puzz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666744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90288" y="4178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Нативная система плагинов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590288" y="4617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EditorPlugin, автозагрузка, кастомные панели редактора «из коробки»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065008" y="324612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302752" y="350215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5" name="Image 2" descr="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666744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02752" y="4178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GDScript + быстрый цикл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8302752" y="4617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порог входа, мгновенная итерация в редакторе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Роль плагина в общей системе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1F9BD8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2203704"/>
            <a:ext cx="530352" cy="53035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gamepad_bl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642" y="2362810"/>
            <a:ext cx="212141" cy="21214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28437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209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событий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00400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74720" y="196596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94176" y="2203704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5" name="Image 1" descr="icons/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282" y="2362810"/>
            <a:ext cx="212141" cy="21214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94176" y="28437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в облако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94176" y="3209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батч + офлайн-буфер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035040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309360" y="196596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28816" y="2203704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1" name="Image 2" descr="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922" y="2362810"/>
            <a:ext cx="212141" cy="21214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28816" y="28437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528816" y="3209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/telemetry/ingest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869680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9144000" y="196596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363456" y="2203704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7" name="Image 3" descr="icons/sli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2562" y="2362810"/>
            <a:ext cx="212141" cy="21214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63456" y="28437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363456" y="3209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в игру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40080" y="393192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59536" y="4169664"/>
            <a:ext cx="512064" cy="51206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32" name="Image 4" descr="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55" y="4323283"/>
            <a:ext cx="204826" cy="20482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59536" y="480974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Автозагрузка Analytics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859536" y="5212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точка: инициализация · старт новой игры · запись события · завершение игры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4352544" y="393192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572000" y="4169664"/>
            <a:ext cx="512064" cy="51206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37" name="Image 5" descr="icons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5619" y="4323283"/>
            <a:ext cx="204826" cy="20482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572000" y="480974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Офлайн-буфер JSONL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4572000" y="5212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не теряются без сети, отправляются при восстановлении связи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8065008" y="393192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8284464" y="4169664"/>
            <a:ext cx="512064" cy="51206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42" name="Image 6" descr="icons/l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8083" y="4323283"/>
            <a:ext cx="204826" cy="20482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284464" y="480974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Мост адаптации</a:t>
            </a:r>
            <a:endParaRPr lang="en-US" sz="1350" dirty="0"/>
          </a:p>
        </p:txBody>
      </p:sp>
      <p:sp>
        <p:nvSpPr>
          <p:cNvPr id="44" name="Text 35"/>
          <p:cNvSpPr/>
          <p:nvPr/>
        </p:nvSpPr>
        <p:spPr>
          <a:xfrm>
            <a:off x="8284464" y="5212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адаптации → сложность, плотность врагов, множитель добычи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для разработчика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настройка — в редакторе Godot, во вкладке Analytics. Разработчик не редактирует конфиги вручную.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" y="256032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0" name="Image 0" descr="icons/clou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72491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25054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 облака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00200" y="288950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приёма, размер буфера, интервал автоотправки, повторы, офлайн-кэш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22860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64224" y="256032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5" name="Image 1" descr="icons/sl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72491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25054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ML-профиль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086600" y="288950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события, критические точки (веса), архетипы, стартовые действия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" y="406908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77824" y="434340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0" name="Image 2" descr="icons/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50799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4288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логов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600200" y="467258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логов: что отправлено, ответы сервера, ошибки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26480" y="406908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64224" y="434340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5" name="Image 3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50799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86600" y="4288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сервера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086600" y="467258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проверки состояния и блок последней полученной адаптации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Примеры панелей плагина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25780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C6D6E0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828800"/>
            <a:ext cx="5257800" cy="384048"/>
          </a:xfrm>
          <a:prstGeom prst="rect">
            <a:avLst/>
          </a:prstGeom>
          <a:solidFill>
            <a:srgbClr val="0B5E8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288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Настройки облака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41848" y="1965960"/>
            <a:ext cx="109728" cy="109728"/>
          </a:xfrm>
          <a:prstGeom prst="ellipse">
            <a:avLst/>
          </a:prstGeom>
          <a:solidFill>
            <a:srgbClr val="7FB8D6"/>
          </a:solidFill>
          <a:ln/>
        </p:spPr>
      </p:sp>
      <p:sp>
        <p:nvSpPr>
          <p:cNvPr id="11" name="Shape 9"/>
          <p:cNvSpPr/>
          <p:nvPr/>
        </p:nvSpPr>
        <p:spPr>
          <a:xfrm>
            <a:off x="5458968" y="1965960"/>
            <a:ext cx="109728" cy="109728"/>
          </a:xfrm>
          <a:prstGeom prst="ellipse">
            <a:avLst/>
          </a:prstGeom>
          <a:solidFill>
            <a:srgbClr val="7FB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5276088" y="1965960"/>
            <a:ext cx="109728" cy="109728"/>
          </a:xfrm>
          <a:prstGeom prst="ellipse">
            <a:avLst/>
          </a:prstGeom>
          <a:solidFill>
            <a:srgbClr val="7FB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2395728"/>
            <a:ext cx="4800600" cy="457200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395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приёма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43200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http://localhost:8000/telemetry/ingest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2962656"/>
            <a:ext cx="4800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962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батча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0" y="29626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событий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3529584"/>
            <a:ext cx="4800600" cy="457200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5295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Автоотправка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0" y="35295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каждые 5 с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" y="4096512"/>
            <a:ext cx="4800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0965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43200" y="40965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попытки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68680" y="4663440"/>
            <a:ext cx="4800600" cy="457200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Офлайн-кэш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43200" y="4663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1828800"/>
            <a:ext cx="525780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C6D6E0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828800"/>
            <a:ext cx="5257800" cy="384048"/>
          </a:xfrm>
          <a:prstGeom prst="rect">
            <a:avLst/>
          </a:prstGeom>
          <a:solidFill>
            <a:srgbClr val="0B5E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18288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· ML-профиль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1219688" y="1965960"/>
            <a:ext cx="109728" cy="109728"/>
          </a:xfrm>
          <a:prstGeom prst="ellipse">
            <a:avLst/>
          </a:prstGeom>
          <a:solidFill>
            <a:srgbClr val="7FB8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36808" y="1965960"/>
            <a:ext cx="109728" cy="109728"/>
          </a:xfrm>
          <a:prstGeom prst="ellipse">
            <a:avLst/>
          </a:prstGeom>
          <a:solidFill>
            <a:srgbClr val="7FB8D6"/>
          </a:solidFill>
          <a:ln/>
        </p:spPr>
      </p:sp>
      <p:sp>
        <p:nvSpPr>
          <p:cNvPr id="33" name="Shape 31"/>
          <p:cNvSpPr/>
          <p:nvPr/>
        </p:nvSpPr>
        <p:spPr>
          <a:xfrm>
            <a:off x="10853928" y="1965960"/>
            <a:ext cx="109728" cy="109728"/>
          </a:xfrm>
          <a:prstGeom prst="ellipse">
            <a:avLst/>
          </a:prstGeom>
          <a:solidFill>
            <a:srgbClr val="7FB8D6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Архетипы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73952" y="2670048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EAF6FC"/>
          </a:solidFill>
          <a:ln w="9525">
            <a:solidFill>
              <a:srgbClr val="C6D6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2670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942832" y="2670048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EAF6FC"/>
          </a:solidFill>
          <a:ln w="9525">
            <a:solidFill>
              <a:srgbClr val="C6D6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9992" y="2670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73952" y="3127248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EAF6FC"/>
          </a:solidFill>
          <a:ln w="9525">
            <a:solidFill>
              <a:srgbClr val="C6D6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11112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socializer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42832" y="3127248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EAF6FC"/>
          </a:solidFill>
          <a:ln w="9525">
            <a:solidFill>
              <a:srgbClr val="C6D6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79992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4652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Критические точки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46520" y="4023360"/>
            <a:ext cx="4800600" cy="384048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4023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time_sec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784080" y="4023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1.0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46520" y="4498848"/>
            <a:ext cx="4800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44988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hints_used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784080" y="44988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1.5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46520" y="4974336"/>
            <a:ext cx="4800600" cy="384048"/>
          </a:xfrm>
          <a:prstGeom prst="rect">
            <a:avLst/>
          </a:prstGeom>
          <a:solidFill>
            <a:srgbClr val="F4FAFD"/>
          </a:solidFill>
          <a:ln w="9525">
            <a:solidFill>
              <a:srgbClr val="DCE6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49743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4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deaths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784080" y="49743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1.0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для отправки на сервер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126480" cy="4023360"/>
          </a:xfrm>
          <a:prstGeom prst="roundRect">
            <a:avLst>
              <a:gd name="adj" fmla="val 2273"/>
            </a:avLst>
          </a:prstGeom>
          <a:solidFill>
            <a:srgbClr val="0E2A3A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9751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/telemetry/ingest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2688" y="2359152"/>
            <a:ext cx="5577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"events": [{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"session_id": "uuid",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"player_id": "player_1",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"event_name": "level_complete",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"timestamp": 1716812345.1,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"parameters": { "time_sec": 120,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    "deaths": 2 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}],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"metadata":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"critical_points": [...],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"archetypes": [...],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"model_mode": "cloud"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78040" y="1783080"/>
            <a:ext cx="4373575" cy="1216152"/>
          </a:xfrm>
          <a:prstGeom prst="roundRect">
            <a:avLst>
              <a:gd name="adj" fmla="val 6767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97496" y="2075688"/>
            <a:ext cx="512064" cy="51206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2" name="Image 0" descr="icons/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115" y="2229307"/>
            <a:ext cx="204826" cy="20482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92440" y="196596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events[]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92440" y="2313432"/>
            <a:ext cx="3322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батч событий: id сессии, игрока, имя, время, parameters для ML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178040" y="3154680"/>
            <a:ext cx="4373575" cy="1216152"/>
          </a:xfrm>
          <a:prstGeom prst="roundRect">
            <a:avLst>
              <a:gd name="adj" fmla="val 6767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97496" y="3447288"/>
            <a:ext cx="512064" cy="51206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7" name="Image 1" descr="icons/sl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115" y="3600907"/>
            <a:ext cx="204826" cy="20482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92440" y="333756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092440" y="3685032"/>
            <a:ext cx="3322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critical_points и archetypes из профиля; model_mode = cloud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178040" y="4526280"/>
            <a:ext cx="4373575" cy="1216152"/>
          </a:xfrm>
          <a:prstGeom prst="roundRect">
            <a:avLst>
              <a:gd name="adj" fmla="val 6767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97496" y="4818888"/>
            <a:ext cx="512064" cy="51206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2" name="Image 2" descr="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115" y="4972507"/>
            <a:ext cx="204826" cy="20482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92440" y="470916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Формируется автоматически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092440" y="5056632"/>
            <a:ext cx="3322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 сам подставляет session_id, timestamp, game_time, state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Интеграция в большие проекты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" y="2084832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puzz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243938"/>
            <a:ext cx="212141" cy="21214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29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Изоляция аддона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00200" y="239572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переносится только папка addons/analytics_plugin/ — не конфликтует с кодом игры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64224" y="2084832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4" name="Image 1" descr="icons/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0" y="2243938"/>
            <a:ext cx="212141" cy="21214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6600" y="2029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Минимальное API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086600" y="239572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вызова Analytics встраиваются в любой масштаб проекта без рефакторинга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3401568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7824" y="3657600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9" name="Image 2" descr="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3816706"/>
            <a:ext cx="212141" cy="21214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3602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 сети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00200" y="396849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батчи, повторы и офлайн-очередь выдерживают нестабильное соединение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126480" y="3401568"/>
            <a:ext cx="5257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64224" y="3657600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4" name="Image 3" descr="icons/sli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0" y="3816706"/>
            <a:ext cx="212141" cy="21214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86600" y="3602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Конфигурируемость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086600" y="396849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и архетипы задаёт сам разработчик под свою игру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40080" y="5029200"/>
            <a:ext cx="10911535" cy="777240"/>
          </a:xfrm>
          <a:prstGeom prst="roundRect">
            <a:avLst>
              <a:gd name="adj" fmla="val 10588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914400" y="5102352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Основа масштабируемости: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 слабо связан с игрой (автозагрузка + сигналы), вся тяжёлая логика — на сервере. Игра остаётся лёгкой и не зависит от размера проекта.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ЗАДЕЛЫ НА БУДУЩЕЕ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Заделы на будущее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03911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sto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2209190"/>
            <a:ext cx="226771" cy="22677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в Asset Library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64208" y="23134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 аддона для официального магазина ассетов Godot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06324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9536" y="331927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4" name="Image 1" descr="icons/sl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3489350"/>
            <a:ext cx="226771" cy="22677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64208" y="3227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панели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664208" y="3593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 воронок событий и истории адаптаций в редакторе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434340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9536" y="459943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9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4769510"/>
            <a:ext cx="226771" cy="22677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64208" y="4507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Авто-тесты интеграции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64208" y="4873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чек-лист test_integration.gd как регрессионная проверка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766560" y="1783080"/>
            <a:ext cx="4785055" cy="4160520"/>
          </a:xfrm>
          <a:prstGeom prst="roundRect">
            <a:avLst>
              <a:gd name="adj" fmla="val 2198"/>
            </a:avLst>
          </a:prstGeom>
          <a:solidFill>
            <a:srgbClr val="0B5E88"/>
          </a:solidFill>
          <a:ln/>
          <a:effectLst>
            <a:outerShdw sx="100000" sy="100000" kx="0" ky="0" algn="bl" rotWithShape="0" blurRad="114300" dist="38100" dir="5400000">
              <a:srgbClr val="9FB6C4">
                <a:alpha val="2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766560" y="205740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ПРОЕКТА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924648" y="246888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</p:spPr>
      </p:sp>
      <p:pic>
        <p:nvPicPr>
          <p:cNvPr id="25" name="Image 3" descr="qr_g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952" y="2615184"/>
            <a:ext cx="2176272" cy="21762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507492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github.com/Antizi/diplom-Game_Plugs_Ai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766560" y="544068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Наведите камеру телефона на QR-код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5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1" name="Shape 9"/>
          <p:cNvSpPr/>
          <p:nvPr/>
        </p:nvSpPr>
        <p:spPr>
          <a:xfrm>
            <a:off x="20116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7" name="Shape 15"/>
          <p:cNvSpPr/>
          <p:nvPr/>
        </p:nvSpPr>
        <p:spPr>
          <a:xfrm>
            <a:off x="29260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33832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4231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Сбор и передача игровой телеметрии</a:t>
            </a:r>
            <a:endParaRPr lang="en-US" sz="3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распределённое хранилище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F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analytics_plugin для Godot 4 · простое API из 4 вызовов · настройка в редакторе · надёжная отправка телеметрии и offline-буфер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Артамонов Фёдор Андреевич  ·  Godot-инженер</a:t>
            </a:r>
            <a:pPr indent="0" marL="0">
              <a:buNone/>
            </a:pPr>
            <a:r>
              <a:rPr lang="en-US" sz="140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Группа МВИ-122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Минаева Н. В., ст. преподаватель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t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ПРОЕКТА</a:t>
            </a:r>
          </a:p>
        </p:txBody>
      </p:sp>
      <p:sp>
        <p:nvSpPr>
          <p:cNvPr id="102" name="Txt"/>
          <p:cNvSpPr/>
          <p:nvPr/>
        </p:nvSpPr>
        <p:spPr>
          <a:xfrm>
            <a:off x="640080" y="749808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300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работает система</a:t>
            </a:r>
          </a:p>
        </p:txBody>
      </p:sp>
      <p:sp>
        <p:nvSpPr>
          <p:cNvPr id="103" name="R"/>
          <p:cNvSpPr/>
          <p:nvPr/>
        </p:nvSpPr>
        <p:spPr>
          <a:xfrm>
            <a:off x="3620000" y="2180000"/>
            <a:ext cx="7930000" cy="3060000"/>
          </a:xfrm>
          <a:prstGeom prst="roundRect">
            <a:avLst>
              <a:gd name="adj" fmla="val 3500"/>
            </a:avLst>
          </a:prstGeom>
          <a:solidFill>
            <a:srgbClr val="F7FBFD"/>
          </a:solidFill>
          <a:ln w="12700">
            <a:solidFill>
              <a:srgbClr val="D7E5EE"/>
            </a:solidFill>
          </a:ln>
        </p:spPr>
      </p:sp>
      <p:sp>
        <p:nvSpPr>
          <p:cNvPr id="104" name="Txt"/>
          <p:cNvSpPr/>
          <p:nvPr/>
        </p:nvSpPr>
        <p:spPr>
          <a:xfrm>
            <a:off x="3820000" y="2330000"/>
            <a:ext cx="3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20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</a:p>
        </p:txBody>
      </p:sp>
      <p:sp>
        <p:nvSpPr>
          <p:cNvPr id="105" name="R"/>
          <p:cNvSpPr/>
          <p:nvPr/>
        </p:nvSpPr>
        <p:spPr>
          <a:xfrm>
            <a:off x="800000" y="3148000"/>
            <a:ext cx="2200000" cy="1520000"/>
          </a:xfrm>
          <a:prstGeom prst="roundRect">
            <a:avLst>
              <a:gd name="adj" fmla="val 9000"/>
            </a:avLst>
          </a:prstGeom>
          <a:solidFill>
            <a:srgbClr val="EAF6FC"/>
          </a:solidFill>
          <a:ln/>
        </p:spPr>
      </p:sp>
      <p:cxnSp>
        <p:nvCxnSpPr>
          <p:cNvPr id="106" name="cxn"/>
          <p:cNvCxnSpPr/>
          <p:nvPr/>
        </p:nvCxnSpPr>
        <p:spPr>
          <a:xfrm>
            <a:off x="2420000" y="3540000"/>
            <a:ext cx="2180000" cy="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cxnSp>
        <p:nvCxnSpPr>
          <p:cNvPr id="107" name="cxn"/>
          <p:cNvCxnSpPr/>
          <p:nvPr/>
        </p:nvCxnSpPr>
        <p:spPr>
          <a:xfrm flipH="1">
            <a:off x="2420000" y="3880000"/>
            <a:ext cx="2180000" cy="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cxnSp>
        <p:nvCxnSpPr>
          <p:cNvPr id="108" name="cxn"/>
          <p:cNvCxnSpPr/>
          <p:nvPr/>
        </p:nvCxnSpPr>
        <p:spPr>
          <a:xfrm flipV="1">
            <a:off x="5440000" y="3200000"/>
            <a:ext cx="3330000" cy="34000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cxnSp>
        <p:nvCxnSpPr>
          <p:cNvPr id="109" name="cxn"/>
          <p:cNvCxnSpPr/>
          <p:nvPr/>
        </p:nvCxnSpPr>
        <p:spPr>
          <a:xfrm flipH="1">
            <a:off x="5440000" y="3330000"/>
            <a:ext cx="3330000" cy="34000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cxnSp>
        <p:nvCxnSpPr>
          <p:cNvPr id="110" name="cxn"/>
          <p:cNvCxnSpPr/>
          <p:nvPr/>
        </p:nvCxnSpPr>
        <p:spPr>
          <a:xfrm>
            <a:off x="5440000" y="3840000"/>
            <a:ext cx="3330000" cy="34000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cxnSp>
        <p:nvCxnSpPr>
          <p:cNvPr id="111" name="cxn"/>
          <p:cNvCxnSpPr/>
          <p:nvPr/>
        </p:nvCxnSpPr>
        <p:spPr>
          <a:xfrm flipH="1" flipV="1">
            <a:off x="5440000" y="3960000"/>
            <a:ext cx="3330000" cy="34000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sp>
        <p:nvSpPr>
          <p:cNvPr id="112" name="C"/>
          <p:cNvSpPr/>
          <p:nvPr/>
        </p:nvSpPr>
        <p:spPr>
          <a:xfrm>
            <a:off x="1468000" y="3268000"/>
            <a:ext cx="864000" cy="864000"/>
          </a:xfrm>
          <a:prstGeom prst="ellipse">
            <a:avLst/>
          </a:prstGeom>
          <a:solidFill>
            <a:srgbClr val="1F9BD8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13" name="Icon" descr="icons/scheme_gamep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00" y="3504000"/>
            <a:ext cx="392000" cy="392000"/>
          </a:xfrm>
          <a:prstGeom prst="rect">
            <a:avLst/>
          </a:prstGeom>
        </p:spPr>
      </p:pic>
      <p:sp>
        <p:nvSpPr>
          <p:cNvPr id="114" name="Txt"/>
          <p:cNvSpPr/>
          <p:nvPr/>
        </p:nvSpPr>
        <p:spPr>
          <a:xfrm>
            <a:off x="600000" y="4172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Godot Engine</a:t>
            </a:r>
          </a:p>
        </p:txBody>
      </p:sp>
      <p:sp>
        <p:nvSpPr>
          <p:cNvPr id="115" name="Txt"/>
          <p:cNvSpPr/>
          <p:nvPr/>
        </p:nvSpPr>
        <p:spPr>
          <a:xfrm>
            <a:off x="600000" y="4462000"/>
            <a:ext cx="26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95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· игра</a:t>
            </a:r>
          </a:p>
        </p:txBody>
      </p:sp>
      <p:sp>
        <p:nvSpPr>
          <p:cNvPr id="116" name="C"/>
          <p:cNvSpPr/>
          <p:nvPr/>
        </p:nvSpPr>
        <p:spPr>
          <a:xfrm>
            <a:off x="4680000" y="3320000"/>
            <a:ext cx="760000" cy="760000"/>
          </a:xfrm>
          <a:prstGeom prst="ellipse">
            <a:avLst/>
          </a:prstGeom>
          <a:solidFill>
            <a:srgbClr val="1F9BD8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17" name="Icon" descr="icons/scheme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000" y="3524000"/>
            <a:ext cx="352000" cy="352000"/>
          </a:xfrm>
          <a:prstGeom prst="rect">
            <a:avLst/>
          </a:prstGeom>
        </p:spPr>
      </p:pic>
      <p:sp>
        <p:nvSpPr>
          <p:cNvPr id="118" name="Txt"/>
          <p:cNvSpPr/>
          <p:nvPr/>
        </p:nvSpPr>
        <p:spPr>
          <a:xfrm>
            <a:off x="3760000" y="4120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</a:p>
        </p:txBody>
      </p:sp>
      <p:sp>
        <p:nvSpPr>
          <p:cNvPr id="119" name="C"/>
          <p:cNvSpPr/>
          <p:nvPr/>
        </p:nvSpPr>
        <p:spPr>
          <a:xfrm>
            <a:off x="8770000" y="2770000"/>
            <a:ext cx="760000" cy="760000"/>
          </a:xfrm>
          <a:prstGeom prst="ellipse">
            <a:avLst/>
          </a:prstGeom>
          <a:solidFill>
            <a:srgbClr val="1F9BD8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20" name="Icon" descr="icons/scheme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000" y="2974000"/>
            <a:ext cx="352000" cy="352000"/>
          </a:xfrm>
          <a:prstGeom prst="rect">
            <a:avLst/>
          </a:prstGeom>
        </p:spPr>
      </p:pic>
      <p:sp>
        <p:nvSpPr>
          <p:cNvPr id="121" name="Txt"/>
          <p:cNvSpPr/>
          <p:nvPr/>
        </p:nvSpPr>
        <p:spPr>
          <a:xfrm>
            <a:off x="7850000" y="3570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ML-сервис</a:t>
            </a:r>
          </a:p>
        </p:txBody>
      </p:sp>
      <p:sp>
        <p:nvSpPr>
          <p:cNvPr id="122" name="C"/>
          <p:cNvSpPr/>
          <p:nvPr/>
        </p:nvSpPr>
        <p:spPr>
          <a:xfrm>
            <a:off x="8770000" y="3870000"/>
            <a:ext cx="760000" cy="760000"/>
          </a:xfrm>
          <a:prstGeom prst="ellipse">
            <a:avLst/>
          </a:prstGeom>
          <a:solidFill>
            <a:srgbClr val="1F9BD8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23" name="Icon" descr="icons/scheme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4000" y="4074000"/>
            <a:ext cx="352000" cy="352000"/>
          </a:xfrm>
          <a:prstGeom prst="rect">
            <a:avLst/>
          </a:prstGeom>
        </p:spPr>
      </p:pic>
      <p:sp>
        <p:nvSpPr>
          <p:cNvPr id="124" name="Txt"/>
          <p:cNvSpPr/>
          <p:nvPr/>
        </p:nvSpPr>
        <p:spPr>
          <a:xfrm>
            <a:off x="7850000" y="4670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</a:p>
        </p:txBody>
      </p:sp>
      <p:sp>
        <p:nvSpPr>
          <p:cNvPr id="125" name="Txt"/>
          <p:cNvSpPr/>
          <p:nvPr/>
        </p:nvSpPr>
        <p:spPr>
          <a:xfrm>
            <a:off x="2500000" y="330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телеметрия</a:t>
            </a:r>
          </a:p>
        </p:txBody>
      </p:sp>
      <p:sp>
        <p:nvSpPr>
          <p:cNvPr id="126" name="Txt"/>
          <p:cNvSpPr/>
          <p:nvPr/>
        </p:nvSpPr>
        <p:spPr>
          <a:xfrm>
            <a:off x="2500000" y="393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</a:t>
            </a:r>
          </a:p>
        </p:txBody>
      </p:sp>
      <p:sp>
        <p:nvSpPr>
          <p:cNvPr id="127" name="Txt"/>
          <p:cNvSpPr/>
          <p:nvPr/>
        </p:nvSpPr>
        <p:spPr>
          <a:xfrm>
            <a:off x="6250000" y="2840000"/>
            <a:ext cx="1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</a:t>
            </a:r>
          </a:p>
        </p:txBody>
      </p:sp>
      <p:sp>
        <p:nvSpPr>
          <p:cNvPr id="128" name="Txt"/>
          <p:cNvSpPr/>
          <p:nvPr/>
        </p:nvSpPr>
        <p:spPr>
          <a:xfrm>
            <a:off x="6250000" y="4400000"/>
            <a:ext cx="1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сбора и передачи игровой телеметрии в распределённое хранилище данных</dc:title>
  <dc:subject>PptxGenJS Presentation</dc:subject>
  <dc:creator>Артамонов Фёдор Андреевич</dc:creator>
  <cp:lastModifiedBy>Артамонов Фёдор Андреевич</cp:lastModifiedBy>
  <cp:revision>1</cp:revision>
  <dcterms:created xsi:type="dcterms:W3CDTF">2026-06-15T11:15:39Z</dcterms:created>
  <dcterms:modified xsi:type="dcterms:W3CDTF">2026-06-15T11:15:39Z</dcterms:modified>
</cp:coreProperties>
</file>