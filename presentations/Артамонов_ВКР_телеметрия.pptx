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делал клиентскую часть проекта — плагин для движка Godot. Его задача — дать разработчику игры простой инструмент: скопировал папку аддона, включил плагин, и игра начинает собирать телеметрию и получать адаптацию из облака. При этом разработчик не пишет ни строчки ML-кода. Расскажу про сферу инди-разработки, почему Godot, как устроен плагин, его интерфейс и контракт с сервером.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это актуально. Инди-разработчики выпускают огромное число игр, но у них почти нет доступа к серьёзной аналитике поведения и адаптивному балансу — это дорого и требует отдельной команды дата-инженеров. В результате сложность настраивается вручную, на глаз, и одинаково для всех игроков. Наша ниша — готовый плагин, который встраивает такую аналитику в любой проект на Godot за несколько шагов. Вся сложность спрятана внутри, наружу — простое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Движок мы выбрали Godot 4 и вот почему. Во-первых, он полностью открытый и бесплатный, под MIT-лицензией — никаких роялти, что принципиально для инди. Во-вторых, у Godot отличная нативная система плагинов: EditorPlugin, autoload-синглтоны, собственные панели в редакторе — всё это «из коробки», именно на этом построен наш аддон. В-третьих, GDScript даёт низкий порог входа и очень быструю итерацию. Целевая версия — 4.2 и выше, вся установка плагина — это копирование одной папки.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плагин встроен в общую систему. В игре есть autoload Analytics — единая точка с четырьмя методами: инициализация, старт игры, track событий и завершение. Модуль cloud_sender собирает события в батчи и шлёт на backend на эндпоинт ingest. Важная деталь — offline-буфер в формате JSONL: если сети нет, события не теряются, а отправляются при восстановлении связи. Обратно приходит adaptation, и AdaptationBridge превращает её в конкретные параметры баланса: сложность, плотность врагов, множитель лута.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интерфейс для разработчика. Вся настройка живёт в редакторе Godot, во вкладке Analytics — руками конфиги править не нужно. Есть четыре блока: настройки облака — URL сервера, размер буфера, интервал автоотправки, повторы и кэш на случай оффлайна; ML-профиль — список событий, критические точки с весами, архетипы и параметр bootstrap_actions; просмотр логов — что ушло на сервер и что он ответил; и проверка сервера — кнопка health-check плюс блок с последней полученной адаптацией.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как выглядят панели на практике. Слева — настройки облака: URL эндпоинта ingest, размер батча, интервал автоотправки, число повторов и переключатель offline-кэша. Справа — редактор ML-профиля: разработчик галочками задаёт архетипы, которые должна различать модель, и список критических точек с весами — это те числовые метрики, из которых сервер строит признаки. Всё это сохраняется и автоматически уходит на сервер как профиль игры.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Контракт с сервером. Плагин шлёт на эндпоинт ingest JSON из двух частей. events — это батч событий: каждое содержит id сессии и игрока, имя события, время и parameters — числовые метрики, на которых работает ML. metadata — это критические точки и архетипы из профиля игры плюс режим cloud. Ключевой момент: большую часть полей плагин подставляет сам — session_id, timestamp, game_time, состояние, — разработчику в коде нужно лишь вызвать track с именем события и своим словарём параметров.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Почему решение масштабируется на большие проекты. Аддон полностью изолирован — переносится только своя папка, он не лезет в код игры. API минимально: четыре вызова встраиваются в проект любого размера без рефакторинга. Сеть защищена батчами, повторами и offline-очередью, так что нестабильное соединение не ломает игру. И всё конфигурируется под конкретную игру через профиль. Работает это благодаря слабой связности: плагин общается с игрой через autoload и сигналы, а вся тяжёлая логика вынесена на сервер, поэтому клиент остаётся лёгким.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плагину: оформить аддон для официальной Asset Library Godot, чтобы его можно было ставить в один клик. Расширить панель редактора — добавить визуализацию воронок событий и историю полученных адаптаций. И довести автоматические E2E-тесты интеграции как регрессионный чеклист. Весь код плагина — в репозитории по QR-коду, папка godot-plugin.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моей части. Плагин analytics_plugin для Godot 4 даёт инди-разработчику серьёзную аналитику и адаптивный геймплей через простое API из четырёх вызовов, с настройкой прямо в редакторе и надёжной отправкой телеметрии. Спасибо за внимание.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e_brain.png"/><Relationship Id="rId3" Type="http://schemas.openxmlformats.org/officeDocument/2006/relationships/image" Target="../media/scheme_brain_hot.png"/><Relationship Id="rId4" Type="http://schemas.openxmlformats.org/officeDocument/2006/relationships/image" Target="../media/scheme_brain_lb.png"/><Relationship Id="rId5" Type="http://schemas.openxmlformats.org/officeDocument/2006/relationships/image" Target="../media/scheme_brain_lh.png"/><Relationship Id="rId6" Type="http://schemas.openxmlformats.org/officeDocument/2006/relationships/image" Target="../media/scheme_brain_rose.png"/><Relationship Id="rId7" Type="http://schemas.openxmlformats.org/officeDocument/2006/relationships/image" Target="../media/scheme_db.png"/><Relationship Id="rId8" Type="http://schemas.openxmlformats.org/officeDocument/2006/relationships/image" Target="../media/scheme_db_hot.png"/><Relationship Id="rId9" Type="http://schemas.openxmlformats.org/officeDocument/2006/relationships/image" Target="../media/scheme_db_lb.png"/><Relationship Id="rId10" Type="http://schemas.openxmlformats.org/officeDocument/2006/relationships/image" Target="../media/scheme_db_lh.png"/><Relationship Id="rId11" Type="http://schemas.openxmlformats.org/officeDocument/2006/relationships/image" Target="../media/scheme_db_rose.png"/><Relationship Id="rId12" Type="http://schemas.openxmlformats.org/officeDocument/2006/relationships/image" Target="../media/scheme_flow.png"/><Relationship Id="rId13" Type="http://schemas.openxmlformats.org/officeDocument/2006/relationships/image" Target="../media/scheme_gamepad.png"/><Relationship Id="rId14" Type="http://schemas.openxmlformats.org/officeDocument/2006/relationships/image" Target="../media/scheme_gamepad_hot.png"/><Relationship Id="rId15" Type="http://schemas.openxmlformats.org/officeDocument/2006/relationships/image" Target="../media/scheme_gamepad_lb.png"/><Relationship Id="rId16" Type="http://schemas.openxmlformats.org/officeDocument/2006/relationships/image" Target="../media/scheme_gamepad_lh.png"/><Relationship Id="rId17" Type="http://schemas.openxmlformats.org/officeDocument/2006/relationships/image" Target="../media/scheme_gamepad_rose.png"/><Relationship Id="rId18" Type="http://schemas.openxmlformats.org/officeDocument/2006/relationships/image" Target="../media/scheme_server.png"/><Relationship Id="rId19" Type="http://schemas.openxmlformats.org/officeDocument/2006/relationships/image" Target="../media/scheme_server_hot.png"/><Relationship Id="rId20" Type="http://schemas.openxmlformats.org/officeDocument/2006/relationships/image" Target="../media/scheme_server_lb.png"/><Relationship Id="rId21" Type="http://schemas.openxmlformats.org/officeDocument/2006/relationships/image" Target="../media/scheme_server_lh.png"/><Relationship Id="rId22" Type="http://schemas.openxmlformats.org/officeDocument/2006/relationships/image" Target="../media/scheme_server_ros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системы сбора и передачи игровой телеметрии в распределённое хранилище данных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gamepa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Godot-инженер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Независимая разработка игр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sto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Массовый сегмент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тысячи релизов в год; инди — заметная часть рынка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своей аналитики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малых команд нет ресурсов на data-инфраструктуру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баланс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сложность настраивается «на глаз», одинаково для всех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ДВИЖКА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Godot 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открытый код, MIT-лицензия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версия движка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папка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61264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установка аддона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7824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366674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77824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Бесплатный и открытый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77824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роялти и лицензионных платежей — критично для инди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2544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puzz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6674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Нативная система плагинов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0288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EditorPlugin, автозагрузка, кастомные панели редактора «из коробки»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65008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2752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366674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2752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GDScript + быстрый цикл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2752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низкий порог входа, мгновенная итерация в редакторе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5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Жизненный цикл на клиенте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sp>
        <p:nvSpPr>
          <p:cNvPr id="104" name="S"/>
          <p:cNvSpPr/>
          <p:nvPr/>
        </p:nvSpPr>
        <p:spPr>
          <a:xfrm>
            <a:off x="640080" y="2650000"/>
            <a:ext cx="2300000" cy="760000"/>
          </a:xfrm>
          <a:prstGeom prst="chevron">
            <a:avLst>
              <a:gd name="adj" fmla="val 22000"/>
            </a:avLst>
          </a:prstGeom>
          <a:solidFill>
            <a:srgbClr val="BBD3E6"/>
          </a:solidFill>
          <a:ln w="6350">
            <a:solidFill>
              <a:srgbClr val="9AA0A6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05" name="T"/>
          <p:cNvSpPr/>
          <p:nvPr/>
        </p:nvSpPr>
        <p:spPr>
          <a:xfrm>
            <a:off x="840080" y="2650000"/>
            <a:ext cx="19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Подключение</a:t>
            </a:r>
          </a:p>
        </p:txBody>
      </p:sp>
      <p:sp>
        <p:nvSpPr>
          <p:cNvPr id="106" name="S"/>
          <p:cNvSpPr/>
          <p:nvPr/>
        </p:nvSpPr>
        <p:spPr>
          <a:xfrm>
            <a:off x="790080" y="371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7" name="T"/>
          <p:cNvSpPr/>
          <p:nvPr/>
        </p:nvSpPr>
        <p:spPr>
          <a:xfrm>
            <a:off x="1020080" y="367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Чтение настроек</a:t>
            </a:r>
          </a:p>
        </p:txBody>
      </p:sp>
      <p:sp>
        <p:nvSpPr>
          <p:cNvPr id="108" name="S"/>
          <p:cNvSpPr/>
          <p:nvPr/>
        </p:nvSpPr>
        <p:spPr>
          <a:xfrm>
            <a:off x="790080" y="407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9" name="T"/>
          <p:cNvSpPr/>
          <p:nvPr/>
        </p:nvSpPr>
        <p:spPr>
          <a:xfrm>
            <a:off x="1020080" y="403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сервера</a:t>
            </a:r>
          </a:p>
        </p:txBody>
      </p:sp>
      <p:sp>
        <p:nvSpPr>
          <p:cNvPr id="110" name="S"/>
          <p:cNvSpPr/>
          <p:nvPr/>
        </p:nvSpPr>
        <p:spPr>
          <a:xfrm>
            <a:off x="790080" y="443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1" name="T"/>
          <p:cNvSpPr/>
          <p:nvPr/>
        </p:nvSpPr>
        <p:spPr>
          <a:xfrm>
            <a:off x="1020080" y="439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модели</a:t>
            </a:r>
          </a:p>
        </p:txBody>
      </p:sp>
      <p:sp>
        <p:nvSpPr>
          <p:cNvPr id="112" name="S"/>
          <p:cNvSpPr/>
          <p:nvPr/>
        </p:nvSpPr>
        <p:spPr>
          <a:xfrm>
            <a:off x="2760080" y="2650000"/>
            <a:ext cx="2300000" cy="760000"/>
          </a:xfrm>
          <a:prstGeom prst="chevron">
            <a:avLst>
              <a:gd name="adj" fmla="val 22000"/>
            </a:avLst>
          </a:prstGeom>
          <a:solidFill>
            <a:srgbClr val="F3C89B"/>
          </a:solidFill>
          <a:ln w="6350">
            <a:solidFill>
              <a:srgbClr val="9AA0A6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13" name="T"/>
          <p:cNvSpPr/>
          <p:nvPr/>
        </p:nvSpPr>
        <p:spPr>
          <a:xfrm>
            <a:off x="2960080" y="2650000"/>
            <a:ext cx="19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Старт сессии</a:t>
            </a:r>
          </a:p>
        </p:txBody>
      </p:sp>
      <p:sp>
        <p:nvSpPr>
          <p:cNvPr id="114" name="S"/>
          <p:cNvSpPr/>
          <p:nvPr/>
        </p:nvSpPr>
        <p:spPr>
          <a:xfrm>
            <a:off x="2910080" y="371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5" name="T"/>
          <p:cNvSpPr/>
          <p:nvPr/>
        </p:nvSpPr>
        <p:spPr>
          <a:xfrm>
            <a:off x="3140080" y="367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Инициализация</a:t>
            </a:r>
          </a:p>
        </p:txBody>
      </p:sp>
      <p:sp>
        <p:nvSpPr>
          <p:cNvPr id="116" name="S"/>
          <p:cNvSpPr/>
          <p:nvPr/>
        </p:nvSpPr>
        <p:spPr>
          <a:xfrm>
            <a:off x="2910080" y="407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7" name="T"/>
          <p:cNvSpPr/>
          <p:nvPr/>
        </p:nvSpPr>
        <p:spPr>
          <a:xfrm>
            <a:off x="3140080" y="403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Открытие сессии</a:t>
            </a:r>
          </a:p>
        </p:txBody>
      </p:sp>
      <p:sp>
        <p:nvSpPr>
          <p:cNvPr id="118" name="S"/>
          <p:cNvSpPr/>
          <p:nvPr/>
        </p:nvSpPr>
        <p:spPr>
          <a:xfrm>
            <a:off x="2910080" y="443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19" name="T"/>
          <p:cNvSpPr/>
          <p:nvPr/>
        </p:nvSpPr>
        <p:spPr>
          <a:xfrm>
            <a:off x="3140080" y="439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</a:p>
        </p:txBody>
      </p:sp>
      <p:sp>
        <p:nvSpPr>
          <p:cNvPr id="120" name="S"/>
          <p:cNvSpPr/>
          <p:nvPr/>
        </p:nvSpPr>
        <p:spPr>
          <a:xfrm>
            <a:off x="4880080" y="2650000"/>
            <a:ext cx="2300000" cy="760000"/>
          </a:xfrm>
          <a:prstGeom prst="chevron">
            <a:avLst>
              <a:gd name="adj" fmla="val 22000"/>
            </a:avLst>
          </a:prstGeom>
          <a:solidFill>
            <a:srgbClr val="D2C8DF"/>
          </a:solidFill>
          <a:ln w="6350">
            <a:solidFill>
              <a:srgbClr val="9AA0A6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21" name="T"/>
          <p:cNvSpPr/>
          <p:nvPr/>
        </p:nvSpPr>
        <p:spPr>
          <a:xfrm>
            <a:off x="5080080" y="2650000"/>
            <a:ext cx="19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Сбор событий</a:t>
            </a:r>
          </a:p>
        </p:txBody>
      </p:sp>
      <p:sp>
        <p:nvSpPr>
          <p:cNvPr id="122" name="S"/>
          <p:cNvSpPr/>
          <p:nvPr/>
        </p:nvSpPr>
        <p:spPr>
          <a:xfrm>
            <a:off x="5030080" y="371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3" name="T"/>
          <p:cNvSpPr/>
          <p:nvPr/>
        </p:nvSpPr>
        <p:spPr>
          <a:xfrm>
            <a:off x="5260080" y="367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track() событий</a:t>
            </a:r>
          </a:p>
        </p:txBody>
      </p:sp>
      <p:sp>
        <p:nvSpPr>
          <p:cNvPr id="124" name="S"/>
          <p:cNvSpPr/>
          <p:nvPr/>
        </p:nvSpPr>
        <p:spPr>
          <a:xfrm>
            <a:off x="5030080" y="407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5" name="T"/>
          <p:cNvSpPr/>
          <p:nvPr/>
        </p:nvSpPr>
        <p:spPr>
          <a:xfrm>
            <a:off x="5260080" y="403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Буферизация</a:t>
            </a:r>
          </a:p>
        </p:txBody>
      </p:sp>
      <p:sp>
        <p:nvSpPr>
          <p:cNvPr id="126" name="S"/>
          <p:cNvSpPr/>
          <p:nvPr/>
        </p:nvSpPr>
        <p:spPr>
          <a:xfrm>
            <a:off x="5030080" y="443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7" name="T"/>
          <p:cNvSpPr/>
          <p:nvPr/>
        </p:nvSpPr>
        <p:spPr>
          <a:xfrm>
            <a:off x="5260080" y="439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Метки времени</a:t>
            </a:r>
          </a:p>
        </p:txBody>
      </p:sp>
      <p:sp>
        <p:nvSpPr>
          <p:cNvPr id="128" name="S"/>
          <p:cNvSpPr/>
          <p:nvPr/>
        </p:nvSpPr>
        <p:spPr>
          <a:xfrm>
            <a:off x="7000080" y="2650000"/>
            <a:ext cx="2300000" cy="760000"/>
          </a:xfrm>
          <a:prstGeom prst="chevron">
            <a:avLst>
              <a:gd name="adj" fmla="val 22000"/>
            </a:avLst>
          </a:prstGeom>
          <a:solidFill>
            <a:srgbClr val="EFE98C"/>
          </a:solidFill>
          <a:ln w="6350">
            <a:solidFill>
              <a:srgbClr val="9AA0A6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29" name="T"/>
          <p:cNvSpPr/>
          <p:nvPr/>
        </p:nvSpPr>
        <p:spPr>
          <a:xfrm>
            <a:off x="7200080" y="2650000"/>
            <a:ext cx="19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Отправка</a:t>
            </a:r>
          </a:p>
        </p:txBody>
      </p:sp>
      <p:sp>
        <p:nvSpPr>
          <p:cNvPr id="130" name="S"/>
          <p:cNvSpPr/>
          <p:nvPr/>
        </p:nvSpPr>
        <p:spPr>
          <a:xfrm>
            <a:off x="7150080" y="371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31" name="T"/>
          <p:cNvSpPr/>
          <p:nvPr/>
        </p:nvSpPr>
        <p:spPr>
          <a:xfrm>
            <a:off x="7380080" y="367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→ /ingest</a:t>
            </a:r>
          </a:p>
        </p:txBody>
      </p:sp>
      <p:sp>
        <p:nvSpPr>
          <p:cNvPr id="132" name="S"/>
          <p:cNvSpPr/>
          <p:nvPr/>
        </p:nvSpPr>
        <p:spPr>
          <a:xfrm>
            <a:off x="7150080" y="407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33" name="T"/>
          <p:cNvSpPr/>
          <p:nvPr/>
        </p:nvSpPr>
        <p:spPr>
          <a:xfrm>
            <a:off x="7380080" y="403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таймеру/буферу</a:t>
            </a:r>
          </a:p>
        </p:txBody>
      </p:sp>
      <p:sp>
        <p:nvSpPr>
          <p:cNvPr id="134" name="S"/>
          <p:cNvSpPr/>
          <p:nvPr/>
        </p:nvSpPr>
        <p:spPr>
          <a:xfrm>
            <a:off x="7150080" y="443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35" name="T"/>
          <p:cNvSpPr/>
          <p:nvPr/>
        </p:nvSpPr>
        <p:spPr>
          <a:xfrm>
            <a:off x="7380080" y="439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Повторные попытки</a:t>
            </a:r>
          </a:p>
        </p:txBody>
      </p:sp>
      <p:sp>
        <p:nvSpPr>
          <p:cNvPr id="136" name="S"/>
          <p:cNvSpPr/>
          <p:nvPr/>
        </p:nvSpPr>
        <p:spPr>
          <a:xfrm>
            <a:off x="9120080" y="2650000"/>
            <a:ext cx="2300000" cy="760000"/>
          </a:xfrm>
          <a:prstGeom prst="chevron">
            <a:avLst>
              <a:gd name="adj" fmla="val 22000"/>
            </a:avLst>
          </a:prstGeom>
          <a:solidFill>
            <a:srgbClr val="8FD6A0"/>
          </a:solidFill>
          <a:ln w="6350">
            <a:solidFill>
              <a:srgbClr val="9AA0A6"/>
            </a:solidFill>
          </a:ln>
          <a:effectLst>
            <a:outerShdw sx="100000" sy="100000" kx="0" ky="0" algn="bl" rotWithShape="0" blurRad="76200" dist="20000" dir="5400000">
              <a:srgbClr val="B8C9D4">
                <a:alpha val="20000"/>
              </a:srgbClr>
            </a:outerShdw>
          </a:effectLst>
        </p:spPr>
      </p:sp>
      <p:sp>
        <p:nvSpPr>
          <p:cNvPr id="137" name="T"/>
          <p:cNvSpPr/>
          <p:nvPr/>
        </p:nvSpPr>
        <p:spPr>
          <a:xfrm>
            <a:off x="9320080" y="2650000"/>
            <a:ext cx="1960000" cy="7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150" b="1" kern="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Адаптация</a:t>
            </a:r>
          </a:p>
        </p:txBody>
      </p:sp>
      <p:sp>
        <p:nvSpPr>
          <p:cNvPr id="138" name="S"/>
          <p:cNvSpPr/>
          <p:nvPr/>
        </p:nvSpPr>
        <p:spPr>
          <a:xfrm>
            <a:off x="9270080" y="371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39" name="T"/>
          <p:cNvSpPr/>
          <p:nvPr/>
        </p:nvSpPr>
        <p:spPr>
          <a:xfrm>
            <a:off x="9500080" y="367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параметров</a:t>
            </a:r>
          </a:p>
        </p:txBody>
      </p:sp>
      <p:sp>
        <p:nvSpPr>
          <p:cNvPr id="140" name="S"/>
          <p:cNvSpPr/>
          <p:nvPr/>
        </p:nvSpPr>
        <p:spPr>
          <a:xfrm>
            <a:off x="9270080" y="407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1" name="T"/>
          <p:cNvSpPr/>
          <p:nvPr/>
        </p:nvSpPr>
        <p:spPr>
          <a:xfrm>
            <a:off x="9500080" y="403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Применение в игре</a:t>
            </a:r>
          </a:p>
        </p:txBody>
      </p:sp>
      <p:sp>
        <p:nvSpPr>
          <p:cNvPr id="142" name="S"/>
          <p:cNvSpPr/>
          <p:nvPr/>
        </p:nvSpPr>
        <p:spPr>
          <a:xfrm>
            <a:off x="9270080" y="4434000"/>
            <a:ext cx="130000" cy="13000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3" name="T"/>
          <p:cNvSpPr/>
          <p:nvPr/>
        </p:nvSpPr>
        <p:spPr>
          <a:xfrm>
            <a:off x="9500080" y="4390000"/>
            <a:ext cx="18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00" kern="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end_game, досыл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UI/UX для разработчика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настройка — в редакторе Godot, во вкладке Analytics. Разработчик не редактирует конфиги вручную.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778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clou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72491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002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 облака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002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приёма, размер буфера, интервал автоотправки, повторы, офлайн-кэш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22860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64224" y="25603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724912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086600" y="25054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ML-профиль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086600" y="28895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события, критические точки (веса), архетипы, стартовые действия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00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778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507992"/>
            <a:ext cx="219456" cy="21945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002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логов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002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логов: что отправлено, ответы сервера, ошибки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126480" y="40690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364224" y="43434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3" descr="icons/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507992"/>
            <a:ext cx="219456" cy="21945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086600" y="42885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сервера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086600" y="46725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проверки состояния и блок последней полученной адаптации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Примеры панелей плагина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Настройки облака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4184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45896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52760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868680" y="2395728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95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приёма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43200" y="239572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http://localhost:8000/telemetry/ingest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68680" y="2962656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9626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 батча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743200" y="296265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событий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8680" y="3529584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5295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Автоотправка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4320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каждые 5 с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096512"/>
            <a:ext cx="48006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0965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743200" y="40965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попытки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68680" y="4663440"/>
            <a:ext cx="4800600" cy="457200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05840" y="46634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Офлайн-кэш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743200" y="4663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0" y="1828800"/>
            <a:ext cx="5257800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C6D6E0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1828800"/>
            <a:ext cx="5257800" cy="384048"/>
          </a:xfrm>
          <a:prstGeom prst="rect">
            <a:avLst/>
          </a:prstGeom>
          <a:solidFill>
            <a:srgbClr val="0B5E88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1828800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· ML-профиль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121968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103680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853928" y="1965960"/>
            <a:ext cx="109728" cy="109728"/>
          </a:xfrm>
          <a:prstGeom prst="ellipse">
            <a:avLst/>
          </a:prstGeom>
          <a:solidFill>
            <a:srgbClr val="7FB8D6"/>
          </a:solidFill>
          <a:ln/>
        </p:spPr>
      </p:sp>
      <p:sp>
        <p:nvSpPr>
          <p:cNvPr id="34" name="Text 32"/>
          <p:cNvSpPr/>
          <p:nvPr/>
        </p:nvSpPr>
        <p:spPr>
          <a:xfrm>
            <a:off x="644652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Архетипы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7395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942832" y="26700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79992" y="2670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achiever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7395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1111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socializer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942832" y="3127248"/>
            <a:ext cx="2286000" cy="347472"/>
          </a:xfrm>
          <a:prstGeom prst="roundRect">
            <a:avLst>
              <a:gd name="adj" fmla="val 13158"/>
            </a:avLst>
          </a:prstGeom>
          <a:solidFill>
            <a:srgbClr val="EAF6FC"/>
          </a:solidFill>
          <a:ln w="9525">
            <a:solidFill>
              <a:srgbClr val="C6D6E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79992" y="3127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5E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44652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Критические точки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446520" y="4023360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0" y="4023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time_sec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784080" y="4023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446520" y="4498848"/>
            <a:ext cx="48006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83680" y="44988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hints_used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784080" y="44988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1.5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46520" y="4974336"/>
            <a:ext cx="4800600" cy="384048"/>
          </a:xfrm>
          <a:prstGeom prst="rect">
            <a:avLst/>
          </a:prstGeom>
          <a:solidFill>
            <a:srgbClr val="F4FAFD"/>
          </a:solidFill>
          <a:ln w="9525">
            <a:solidFill>
              <a:srgbClr val="DC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497433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deaths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9784080" y="497433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вес 1.0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для отправки на сервер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126480" cy="4023360"/>
          </a:xfrm>
          <a:prstGeom prst="roundRect">
            <a:avLst>
              <a:gd name="adj" fmla="val 2273"/>
            </a:avLst>
          </a:prstGeom>
          <a:solidFill>
            <a:srgbClr val="0E2A3A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1975104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2688" y="2359152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"events": [{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"session_id": "uuid",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"player_id": "player_1",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"event_name": "level_complete",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"timestamp": 1716812345.1,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"parameters": { "time_sec": 120,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            "deaths": 2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}],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"metadata": {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"critical_points": [...],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"archetypes": [...],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"model_mode": "cloud"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}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C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178040" y="17830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97496" y="20756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2" name="Image 0" descr="icons/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1115" y="2229307"/>
            <a:ext cx="204826" cy="20482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92440" y="19659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events[]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092440" y="23134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 событий: id сессии, игрока, имя, время, parameters для ML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178040" y="31546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97496" y="34472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7" name="Image 1" descr="icons/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1115" y="3600907"/>
            <a:ext cx="204826" cy="20482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92440" y="33375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092440" y="36850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critical_points и archetypes из профиля; model_mode = cloud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178040" y="4526280"/>
            <a:ext cx="4373575" cy="1216152"/>
          </a:xfrm>
          <a:prstGeom prst="roundRect">
            <a:avLst>
              <a:gd name="adj" fmla="val 6767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397496" y="4818888"/>
            <a:ext cx="512064" cy="51206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2" name="Image 2" descr="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1115" y="4972507"/>
            <a:ext cx="204826" cy="20482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092440" y="470916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Формируется автоматически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8092440" y="5056632"/>
            <a:ext cx="3322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сам подставляет session_id, timestamp, game_time, state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 в большие проекты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puzz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930" y="2243938"/>
            <a:ext cx="212141" cy="21214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Изоляция аддона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002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переносится только папка addons/analytics_plugin/ — не конфликтует с кодом игры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64224" y="2084832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bo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3330" y="2243938"/>
            <a:ext cx="212141" cy="21214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299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Минимальное API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086600" y="23957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вызова Analytics встраиваются в любой масштаб проекта без рефакторинга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930" y="3816706"/>
            <a:ext cx="212141" cy="21214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сети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002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батчи, повторы и офлайн-очередь выдерживают нестабильное соединение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126480" y="3401568"/>
            <a:ext cx="52578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64224" y="3657600"/>
            <a:ext cx="530352" cy="530352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lid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3816706"/>
            <a:ext cx="212141" cy="21214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86600" y="36027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Конфигурируемость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7086600" y="396849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и архетипы задаёт сам разработчик под свою игру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40080" y="5029200"/>
            <a:ext cx="10911535" cy="777240"/>
          </a:xfrm>
          <a:prstGeom prst="roundRect">
            <a:avLst>
              <a:gd name="adj" fmla="val 10588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914400" y="5102352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Основа масштабируемости:  </a:t>
            </a:r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плагин слабо связан с игрой (автозагрузка + сигналы), вся тяжёлая логика — на сервере. Игра остаётся лёгкой и не зависит от размера проекта.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to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Asset Library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оформление аддона для официального магазина ассетов Godot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li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Расширение панели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визуализация воронок событий и истории адаптаций в редакторе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Авто-тесты интеграции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чек-лист test_integration.gd как регрессионная проверка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Сбор и передача игровой телеметрии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 распределённое хранилище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analytics_plugin для Godot 4 · простое API из 4 вызовов · настройка в редакторе · надёжная отправка телеметрии и offline-буфер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Артамонов Фёдор Андреевич  ·  Godot-инженер</a:t>
            </a:r>
            <a:pPr indent="0" marL="0">
              <a:buNone/>
            </a:pP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R"/>
          <p:cNvSpPr/>
          <p:nvPr/>
        </p:nvSpPr>
        <p:spPr>
          <a:xfrm>
            <a:off x="3360000" y="1560000"/>
            <a:ext cx="8260000" cy="3760000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560000" y="17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50" b="1" spc="20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200000" y="33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200000" y="35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150000" y="26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150000" y="28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150000" y="34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150000" y="36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490000" y="31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1F9BD8"/>
          </a:solidFill>
          <a:ln/>
        </p:spPr>
      </p:sp>
      <p:sp>
        <p:nvSpPr>
          <p:cNvPr id="113" name="R"/>
          <p:cNvSpPr/>
          <p:nvPr/>
        </p:nvSpPr>
        <p:spPr>
          <a:xfrm>
            <a:off x="1558000" y="31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1774000" y="3550000"/>
            <a:ext cx="92000" cy="96000"/>
          </a:xfrm>
          <a:prstGeom prst="roundRect">
            <a:avLst>
              <a:gd name="adj" fmla="val 0"/>
            </a:avLst>
          </a:prstGeom>
          <a:solidFill>
            <a:srgbClr val="1F9BD8"/>
          </a:solidFill>
          <a:ln/>
        </p:spPr>
      </p:sp>
      <p:sp>
        <p:nvSpPr>
          <p:cNvPr id="115" name="R"/>
          <p:cNvSpPr/>
          <p:nvPr/>
        </p:nvSpPr>
        <p:spPr>
          <a:xfrm>
            <a:off x="1655000" y="36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1F9BD8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50000" y="29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7760000" y="24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7760000" y="268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7760000" y="29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060000" y="243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060000" y="243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060000" y="254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060000" y="268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060000" y="254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060000" y="282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sp>
        <p:nvSpPr>
          <p:cNvPr id="132" name="n"/>
          <p:cNvSpPr/>
          <p:nvPr/>
        </p:nvSpPr>
        <p:spPr>
          <a:xfrm>
            <a:off x="7700000" y="23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3" name="n"/>
          <p:cNvSpPr/>
          <p:nvPr/>
        </p:nvSpPr>
        <p:spPr>
          <a:xfrm>
            <a:off x="7700000" y="26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4" name="n"/>
          <p:cNvSpPr/>
          <p:nvPr/>
        </p:nvSpPr>
        <p:spPr>
          <a:xfrm>
            <a:off x="7700000" y="28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5" name="n"/>
          <p:cNvSpPr/>
          <p:nvPr/>
        </p:nvSpPr>
        <p:spPr>
          <a:xfrm>
            <a:off x="8000000" y="23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6" name="n"/>
          <p:cNvSpPr/>
          <p:nvPr/>
        </p:nvSpPr>
        <p:spPr>
          <a:xfrm>
            <a:off x="8000000" y="26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7" name="n"/>
          <p:cNvSpPr/>
          <p:nvPr/>
        </p:nvSpPr>
        <p:spPr>
          <a:xfrm>
            <a:off x="8000000" y="28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8" name="n"/>
          <p:cNvSpPr/>
          <p:nvPr/>
        </p:nvSpPr>
        <p:spPr>
          <a:xfrm>
            <a:off x="8300000" y="248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9" name="n"/>
          <p:cNvSpPr/>
          <p:nvPr/>
        </p:nvSpPr>
        <p:spPr>
          <a:xfrm>
            <a:off x="8300000" y="276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0000" y="40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42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28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660000" y="19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660000" y="50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375000" y="30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225000" y="36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5900000" y="26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5900000" y="43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системы сбора и передачи игровой телеметрии в распределённое хранилище данных</dc:title>
  <dc:subject>PptxGenJS Presentation</dc:subject>
  <dc:creator>Артамонов Фёдор Андреевич</dc:creator>
  <cp:lastModifiedBy>Артамонов Фёдор Андреевич</cp:lastModifiedBy>
  <cp:revision>1</cp:revision>
  <dcterms:created xsi:type="dcterms:W3CDTF">2026-06-15T11:15:39Z</dcterms:created>
  <dcterms:modified xsi:type="dcterms:W3CDTF">2026-06-15T11:15:39Z</dcterms:modified>
</cp:coreProperties>
</file>