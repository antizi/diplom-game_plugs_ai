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6" r:id="rId4"/>
    <p:sldId id="258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43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76623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Я делал клиентскую часть проекта — плагин для движка Godot. Его задача — дать разработчику игры простой инструмент: скопировал папку аддона, включил плагин, и игра начинает собирать телеметрию и получать адаптацию из облака. При этом разработчик не пишет ни строчки ML-кода. Расскажу про сферу инди-разработки, почему Godot, как устроен плагин, его интерфейс и контракт с сервером.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Почему это актуально. Инди-разработчики выпускают огромное число игр, но у них почти нет доступа к серьёзной аналитике поведения и адаптивному балансу — это дорого и требует отдельной команды дата-инженеров. В результате сложность настраивается вручную, на глаз, и одинаково для всех игроков. Наша ниша — готовый плагин, который встраивает такую аналитику в любой проект на Godot за несколько шагов. Вся сложность спрятана внутри, наружу — простое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Движок мы выбрали Godot 4 и вот почему. Во-первых, он полностью открытый и бесплатный, под MIT-лицензией — никаких роялти, что принципиально для инди. Во-вторых, у Godot отличная нативная система плагинов: EditorPlugin, autoload-синглтоны, собственные панели в редакторе — всё это «из коробки», именно на этом построен наш аддон. В-третьих, GDScript даёт низкий порог входа и очень быструю итерацию. Целевая версия — 4.2 и выше, вся установка плагина — это копирование одной папки.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интерфейс для разработчика. Вся настройка живёт в редакторе Godot, во вкладке Analytics — руками конфиги править не нужно. Есть четыре блока: настройки облака — URL сервера, размер буфера, интервал автоотправки, повторы и кэш на случай оффлайна; ML-профиль — список событий, критические точки с весами, архетипы и параметр bootstrap_actions; просмотр логов — что ушло на сервер и что он ответил; и проверка сервера — кнопка health-check плюс блок с последней полученной адаптацией.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Вот как выглядят панели на практике. Слева — настройки облака: URL эндпоинта ingest, размер батча, интервал автоотправки, число повторов и переключатель offline-кэша. Справа — редактор ML-профиля: разработчик галочками задаёт архетипы, которые должна различать модель, и список критических точек с весами — это те числовые метрики, из которых сервер строит признаки. Всё это сохраняется и автоматически уходит на сервер как профиль игры.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Контракт с сервером. Плагин шлёт на эндпоинт ingest JSON из двух частей. events — это батч событий: каждое содержит id сессии и игрока, имя события, время и parameters — числовые метрики, на которых работает ML. metadata — это критические точки и архетипы из профиля игры плюс режим cloud. Ключевой момент: большую часть полей плагин подставляет сам — session_id, timestamp, game_time, состояние, — разработчику в коде нужно лишь вызвать track с именем события и своим словарём параметров.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Почему решение масштабируется на большие проекты. Аддон полностью изолирован — переносится только своя папка, он не лезет в код игры. API минимально: четыре вызова встраиваются в проект любого размера без рефакторинга. Сеть защищена батчами, повторами и offline-очередью, так что нестабильное соединение не ломает игру. И всё конфигурируется под конкретную игру через профиль. Работает это благодаря слабой связности: плагин общается с игрой через autoload и сигналы, а вся тяжёлая логика вынесена на сервер, поэтому клиент остаётся лёгким.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Планы по плагину: оформить аддон для официальной Asset Library Godot, чтобы его можно было ставить в один клик. Расширить панель редактора — добавить визуализацию воронок событий и историю полученных адаптаций. И довести автоматические E2E-тесты интеграции как регрессионный чеклист. Весь код плагина — в репозитории по QR-коду, папка godot-plugin.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 по моей части. Плагин analytics_plugin для Godot 4 даёт инди-разработчику серьёзную аналитику и адаптивный геймплей через простое API из четырёх вызовов, с настройкой прямо в редакторе и надёжной отправкой телеметрии. Спасибо за внимание.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5E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3" name="Shape 1"/>
          <p:cNvSpPr/>
          <p:nvPr/>
        </p:nvSpPr>
        <p:spPr>
          <a:xfrm>
            <a:off x="88696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4" name="Shape 2"/>
          <p:cNvSpPr/>
          <p:nvPr/>
        </p:nvSpPr>
        <p:spPr>
          <a:xfrm>
            <a:off x="88696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5" name="Shape 3"/>
          <p:cNvSpPr/>
          <p:nvPr/>
        </p:nvSpPr>
        <p:spPr>
          <a:xfrm>
            <a:off x="93268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7" name="Shape 5"/>
          <p:cNvSpPr/>
          <p:nvPr/>
        </p:nvSpPr>
        <p:spPr>
          <a:xfrm>
            <a:off x="93268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8" name="Shape 6"/>
          <p:cNvSpPr/>
          <p:nvPr/>
        </p:nvSpPr>
        <p:spPr>
          <a:xfrm>
            <a:off x="97840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9" name="Shape 7"/>
          <p:cNvSpPr/>
          <p:nvPr/>
        </p:nvSpPr>
        <p:spPr>
          <a:xfrm>
            <a:off x="97840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0" name="Shape 8"/>
          <p:cNvSpPr/>
          <p:nvPr/>
        </p:nvSpPr>
        <p:spPr>
          <a:xfrm>
            <a:off x="97840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1" name="Shape 9"/>
          <p:cNvSpPr/>
          <p:nvPr/>
        </p:nvSpPr>
        <p:spPr>
          <a:xfrm>
            <a:off x="102412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412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3" name="Shape 11"/>
          <p:cNvSpPr/>
          <p:nvPr/>
        </p:nvSpPr>
        <p:spPr>
          <a:xfrm>
            <a:off x="102412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984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984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6" name="Shape 14"/>
          <p:cNvSpPr/>
          <p:nvPr/>
        </p:nvSpPr>
        <p:spPr>
          <a:xfrm>
            <a:off x="106984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556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8" name="Shape 16"/>
          <p:cNvSpPr/>
          <p:nvPr/>
        </p:nvSpPr>
        <p:spPr>
          <a:xfrm>
            <a:off x="111556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9" name="Shape 17"/>
          <p:cNvSpPr/>
          <p:nvPr/>
        </p:nvSpPr>
        <p:spPr>
          <a:xfrm>
            <a:off x="111556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0" name="Shape 18"/>
          <p:cNvSpPr/>
          <p:nvPr/>
        </p:nvSpPr>
        <p:spPr>
          <a:xfrm>
            <a:off x="116128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1" name="Shape 19"/>
          <p:cNvSpPr/>
          <p:nvPr/>
        </p:nvSpPr>
        <p:spPr>
          <a:xfrm>
            <a:off x="116128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128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960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5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ВЫПУСКНАЯ КВАЛИФИКАЦИОННАЯ РАБОТА · 2026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1417320"/>
            <a:ext cx="109270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Разработка системы сбора и передачи игровой телеметрии в распределённое хранилище данных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640080" y="38404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 err="1">
                <a:solidFill>
                  <a:srgbClr val="CFE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Плагин</a:t>
            </a:r>
            <a:r>
              <a:rPr lang="en-US" sz="1450" dirty="0">
                <a:solidFill>
                  <a:srgbClr val="CFE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dirty="0" err="1">
                <a:solidFill>
                  <a:srgbClr val="CFE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</a:t>
            </a:r>
            <a:r>
              <a:rPr lang="en-US" sz="1450" dirty="0">
                <a:solidFill>
                  <a:srgbClr val="CFE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Godot 4: сбор игровых событий и передача телеметрии на сервер с </a:t>
            </a:r>
            <a:r>
              <a:rPr lang="en-US" sz="1450" dirty="0" err="1">
                <a:solidFill>
                  <a:srgbClr val="CFE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доставкой</a:t>
            </a:r>
            <a:r>
              <a:rPr lang="en-US" sz="1450" dirty="0">
                <a:solidFill>
                  <a:srgbClr val="CFE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 offline-буфером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640080" y="489204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0E6E9E"/>
          </a:solidFill>
          <a:ln/>
          <a:effectLst>
            <a:outerShdw blurRad="114300" dist="38100" dir="5400000" algn="bl" rotWithShape="0">
              <a:srgbClr val="9FB6C4">
                <a:alpha val="2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14400" y="5276088"/>
            <a:ext cx="603504" cy="603504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8" name="Image 0" descr="icons/gamep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" y="5457139"/>
            <a:ext cx="241402" cy="241402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783080" y="50749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ВЫПОЛНИЛ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1783080" y="5349240"/>
            <a:ext cx="4251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Артамонов Фёдор Андреевич</a:t>
            </a:r>
            <a:endParaRPr lang="en-US" sz="1650" dirty="0"/>
          </a:p>
        </p:txBody>
      </p:sp>
      <p:sp>
        <p:nvSpPr>
          <p:cNvPr id="31" name="Text 28"/>
          <p:cNvSpPr/>
          <p:nvPr/>
        </p:nvSpPr>
        <p:spPr>
          <a:xfrm>
            <a:off x="1783080" y="576072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 МВИ-122  ·  Godot-инженер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6537960" y="4892040"/>
            <a:ext cx="5013655" cy="1371600"/>
          </a:xfrm>
          <a:prstGeom prst="roundRect">
            <a:avLst>
              <a:gd name="adj" fmla="val 6667"/>
            </a:avLst>
          </a:prstGeom>
          <a:solidFill>
            <a:srgbClr val="0E6E9E"/>
          </a:solidFill>
          <a:ln/>
          <a:effectLst>
            <a:outerShdw blurRad="114300" dist="38100" dir="5400000" algn="bl" rotWithShape="0">
              <a:srgbClr val="9FB6C4">
                <a:alpha val="28000"/>
              </a:srgbClr>
            </a:outerShdw>
          </a:effectLst>
        </p:spPr>
      </p:sp>
      <p:sp>
        <p:nvSpPr>
          <p:cNvPr id="33" name="Text 30"/>
          <p:cNvSpPr/>
          <p:nvPr/>
        </p:nvSpPr>
        <p:spPr>
          <a:xfrm>
            <a:off x="6830568" y="5074920"/>
            <a:ext cx="4465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НАУЧНЫЙ РУКОВОДИТЕЛЬ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830568" y="5394960"/>
            <a:ext cx="4465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Минаева Н. В.</a:t>
            </a:r>
            <a:endParaRPr lang="en-US" sz="15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ст. преподаватель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АКТУАЛЬНОСТЬ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Независимая разработка игр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1691640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Инди-студии и соло-разработчики выпускают большую долю игр, но почти не имеют доступа к аналитике поведения игроков и адаптивному балансу — это дорого и требует отдельной команды.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468880"/>
            <a:ext cx="3474720" cy="18288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96112" y="2724912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0" name="Image 0" descr="icons/st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" y="2889504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96112" y="3401568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Массовый сегмент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896112" y="3803904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тысячи релизов в год; инди — заметная часть рынка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352544" y="2468880"/>
            <a:ext cx="3474720" cy="18288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08576" y="2724912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5" name="Image 1" descr="icons/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3168" y="2889504"/>
            <a:ext cx="219456" cy="21945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608576" y="3401568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своей аналитики</a:t>
            </a:r>
            <a:endParaRPr lang="en-US" sz="1550" dirty="0"/>
          </a:p>
        </p:txBody>
      </p:sp>
      <p:sp>
        <p:nvSpPr>
          <p:cNvPr id="17" name="Text 13"/>
          <p:cNvSpPr/>
          <p:nvPr/>
        </p:nvSpPr>
        <p:spPr>
          <a:xfrm>
            <a:off x="4608576" y="3803904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малых команд нет ресурсов на data-инфраструктуру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8065008" y="2468880"/>
            <a:ext cx="3474720" cy="18288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321040" y="2724912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0" name="Image 2" descr="icons/slid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2889504"/>
            <a:ext cx="219456" cy="219456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321040" y="3401568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Ручной баланс</a:t>
            </a:r>
            <a:endParaRPr lang="en-US" sz="1550" dirty="0"/>
          </a:p>
        </p:txBody>
      </p:sp>
      <p:sp>
        <p:nvSpPr>
          <p:cNvPr id="22" name="Text 17"/>
          <p:cNvSpPr/>
          <p:nvPr/>
        </p:nvSpPr>
        <p:spPr>
          <a:xfrm>
            <a:off x="8321040" y="3803904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сложность настраивается «на глаз», одинаково для всех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640080" y="4572000"/>
            <a:ext cx="10911535" cy="1234440"/>
          </a:xfrm>
          <a:prstGeom prst="roundRect">
            <a:avLst>
              <a:gd name="adj" fmla="val 6667"/>
            </a:avLst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14400" y="4846320"/>
            <a:ext cx="658368" cy="658368"/>
          </a:xfrm>
          <a:prstGeom prst="ellipse">
            <a:avLst/>
          </a:prstGeom>
          <a:solidFill>
            <a:srgbClr val="0E7FB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5" name="Image 3" descr="icons/puzz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1910" y="5043830"/>
            <a:ext cx="263347" cy="263347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783080" y="4828032"/>
            <a:ext cx="95399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3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Ниша проекта:  </a:t>
            </a:r>
            <a:r>
              <a:rPr lang="en-US" sz="13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готовый плагин, который </a:t>
            </a:r>
            <a:r>
              <a:rPr lang="en-US" sz="1350" dirty="0" err="1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встраивает</a:t>
            </a:r>
            <a:r>
              <a:rPr lang="en-US" sz="135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аналитику</a:t>
            </a:r>
            <a:r>
              <a:rPr lang="en-US" sz="13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 адаптивный геймплей в любой Godot-проект за несколько шагов. 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ПРОЕКТА</a:t>
            </a:r>
          </a:p>
        </p:txBody>
      </p:sp>
      <p:sp>
        <p:nvSpPr>
          <p:cNvPr id="102" name="Text"/>
          <p:cNvSpPr/>
          <p:nvPr/>
        </p:nvSpPr>
        <p:spPr>
          <a:xfrm>
            <a:off x="640080" y="749808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30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устроен проект целиком</a:t>
            </a:r>
          </a:p>
        </p:txBody>
      </p:sp>
      <p:sp>
        <p:nvSpPr>
          <p:cNvPr id="103" name="Text"/>
          <p:cNvSpPr/>
          <p:nvPr/>
        </p:nvSpPr>
        <p:spPr>
          <a:xfrm>
            <a:off x="640501" y="1509697"/>
            <a:ext cx="1091184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30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Игра собирает события, сервер их обрабатывает и хранит, нейросетевая модель возвращает параметры адаптации — и геймплей подстраивается под игрока.</a:t>
            </a:r>
          </a:p>
        </p:txBody>
      </p:sp>
      <p:sp>
        <p:nvSpPr>
          <p:cNvPr id="104" name="Card"/>
          <p:cNvSpPr/>
          <p:nvPr/>
        </p:nvSpPr>
        <p:spPr>
          <a:xfrm>
            <a:off x="640080" y="2360000"/>
            <a:ext cx="3300000" cy="2120000"/>
          </a:xfrm>
          <a:prstGeom prst="roundRect">
            <a:avLst>
              <a:gd name="adj" fmla="val 4865"/>
            </a:avLst>
          </a:prstGeom>
          <a:solidFill>
            <a:srgbClr val="1F9BD8"/>
          </a:solidFill>
          <a:ln w="19050">
            <a:solidFill>
              <a:srgbClr val="1F9BD8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05" name="Text"/>
          <p:cNvSpPr/>
          <p:nvPr/>
        </p:nvSpPr>
        <p:spPr>
          <a:xfrm>
            <a:off x="900080" y="2530000"/>
            <a:ext cx="278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950" b="1" kern="0" spc="180" dirty="0">
                <a:solidFill>
                  <a:srgbClr val="CFE9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ПЛАГИН · GODOT</a:t>
            </a:r>
          </a:p>
        </p:txBody>
      </p:sp>
      <p:sp>
        <p:nvSpPr>
          <p:cNvPr id="106" name="Text"/>
          <p:cNvSpPr/>
          <p:nvPr/>
        </p:nvSpPr>
        <p:spPr>
          <a:xfrm>
            <a:off x="900080" y="2810000"/>
            <a:ext cx="278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600" b="1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Игра</a:t>
            </a:r>
          </a:p>
        </p:txBody>
      </p:sp>
      <p:sp>
        <p:nvSpPr>
          <p:cNvPr id="107" name="Text"/>
          <p:cNvSpPr/>
          <p:nvPr/>
        </p:nvSpPr>
        <p:spPr>
          <a:xfrm>
            <a:off x="900080" y="3220000"/>
            <a:ext cx="278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100" kern="0" dirty="0">
                <a:solidFill>
                  <a:srgbClr val="DC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аддон analytics_plugin</a:t>
            </a:r>
          </a:p>
        </p:txBody>
      </p:sp>
      <p:sp>
        <p:nvSpPr>
          <p:cNvPr id="108" name="Text"/>
          <p:cNvSpPr/>
          <p:nvPr/>
        </p:nvSpPr>
        <p:spPr>
          <a:xfrm>
            <a:off x="900080" y="3580000"/>
            <a:ext cx="2780000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ru-RU" sz="1000" kern="0" dirty="0">
                <a:solidFill>
                  <a:srgbClr val="E6F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сбор игровых событий</a:t>
            </a:r>
          </a:p>
          <a:p>
            <a:pPr marL="0" indent="0" algn="l">
              <a:buNone/>
            </a:pPr>
            <a:r>
              <a:rPr lang="ru-RU" sz="1000" kern="0" dirty="0">
                <a:solidFill>
                  <a:srgbClr val="E6F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отправка телеметрии</a:t>
            </a:r>
          </a:p>
          <a:p>
            <a:pPr marL="0" indent="0" algn="l">
              <a:buNone/>
            </a:pPr>
            <a:r>
              <a:rPr lang="ru-RU" sz="1000" kern="0" dirty="0">
                <a:solidFill>
                  <a:srgbClr val="E6F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приём адаптации</a:t>
            </a:r>
          </a:p>
        </p:txBody>
      </p:sp>
      <p:sp>
        <p:nvSpPr>
          <p:cNvPr id="109" name="Card"/>
          <p:cNvSpPr/>
          <p:nvPr/>
        </p:nvSpPr>
        <p:spPr>
          <a:xfrm>
            <a:off x="4446000" y="2360000"/>
            <a:ext cx="3300000" cy="2120000"/>
          </a:xfrm>
          <a:prstGeom prst="roundRect">
            <a:avLst>
              <a:gd name="adj" fmla="val 4865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10" name="Text"/>
          <p:cNvSpPr/>
          <p:nvPr/>
        </p:nvSpPr>
        <p:spPr>
          <a:xfrm>
            <a:off x="4706000" y="2530000"/>
            <a:ext cx="278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950" b="1" kern="0" spc="18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</a:t>
            </a:r>
          </a:p>
        </p:txBody>
      </p:sp>
      <p:sp>
        <p:nvSpPr>
          <p:cNvPr id="111" name="Text"/>
          <p:cNvSpPr/>
          <p:nvPr/>
        </p:nvSpPr>
        <p:spPr>
          <a:xfrm>
            <a:off x="4706000" y="2810000"/>
            <a:ext cx="278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6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</a:t>
            </a:r>
          </a:p>
        </p:txBody>
      </p:sp>
      <p:sp>
        <p:nvSpPr>
          <p:cNvPr id="112" name="Text"/>
          <p:cNvSpPr/>
          <p:nvPr/>
        </p:nvSpPr>
        <p:spPr>
          <a:xfrm>
            <a:off x="4706000" y="3220000"/>
            <a:ext cx="278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10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PostgreSQL</a:t>
            </a:r>
          </a:p>
        </p:txBody>
      </p:sp>
      <p:sp>
        <p:nvSpPr>
          <p:cNvPr id="113" name="Text"/>
          <p:cNvSpPr/>
          <p:nvPr/>
        </p:nvSpPr>
        <p:spPr>
          <a:xfrm>
            <a:off x="4706000" y="3580000"/>
            <a:ext cx="2780000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ru-RU" sz="1000" kern="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приём и хранение событий</a:t>
            </a:r>
          </a:p>
          <a:p>
            <a:pPr marL="0" indent="0" algn="l">
              <a:buNone/>
            </a:pPr>
            <a:r>
              <a:rPr lang="ru-RU" sz="1000" kern="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построение признаков</a:t>
            </a:r>
          </a:p>
          <a:p>
            <a:pPr marL="0" indent="0" algn="l">
              <a:buNone/>
            </a:pPr>
            <a:r>
              <a:rPr lang="ru-RU" sz="1000" kern="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вызов ML, ответ игре</a:t>
            </a:r>
          </a:p>
        </p:txBody>
      </p:sp>
      <p:sp>
        <p:nvSpPr>
          <p:cNvPr id="114" name="Card"/>
          <p:cNvSpPr/>
          <p:nvPr/>
        </p:nvSpPr>
        <p:spPr>
          <a:xfrm>
            <a:off x="8251920" y="2360000"/>
            <a:ext cx="3300000" cy="2120000"/>
          </a:xfrm>
          <a:prstGeom prst="roundRect">
            <a:avLst>
              <a:gd name="adj" fmla="val 4865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15" name="Text"/>
          <p:cNvSpPr/>
          <p:nvPr/>
        </p:nvSpPr>
        <p:spPr>
          <a:xfrm>
            <a:off x="8511920" y="2530000"/>
            <a:ext cx="278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950" b="1" kern="0" spc="18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</a:t>
            </a:r>
          </a:p>
        </p:txBody>
      </p:sp>
      <p:sp>
        <p:nvSpPr>
          <p:cNvPr id="116" name="Text"/>
          <p:cNvSpPr/>
          <p:nvPr/>
        </p:nvSpPr>
        <p:spPr>
          <a:xfrm>
            <a:off x="8511920" y="2810000"/>
            <a:ext cx="278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6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ML-сервис</a:t>
            </a:r>
          </a:p>
        </p:txBody>
      </p:sp>
      <p:sp>
        <p:nvSpPr>
          <p:cNvPr id="117" name="Text"/>
          <p:cNvSpPr/>
          <p:nvPr/>
        </p:nvSpPr>
        <p:spPr>
          <a:xfrm>
            <a:off x="8511920" y="3220000"/>
            <a:ext cx="278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10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нейросеть · ONNX</a:t>
            </a:r>
          </a:p>
        </p:txBody>
      </p:sp>
      <p:sp>
        <p:nvSpPr>
          <p:cNvPr id="118" name="Text"/>
          <p:cNvSpPr/>
          <p:nvPr/>
        </p:nvSpPr>
        <p:spPr>
          <a:xfrm>
            <a:off x="8511920" y="3580000"/>
            <a:ext cx="2780000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ru-RU" sz="1000" kern="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определение архетипа</a:t>
            </a:r>
          </a:p>
          <a:p>
            <a:pPr marL="0" indent="0" algn="l">
              <a:buNone/>
            </a:pPr>
            <a:r>
              <a:rPr lang="ru-RU" sz="1000" kern="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расчёт параметров адаптации</a:t>
            </a:r>
          </a:p>
          <a:p>
            <a:pPr marL="0" indent="0" algn="l">
              <a:buNone/>
            </a:pPr>
            <a:r>
              <a:rPr lang="ru-RU" sz="1000" kern="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обучение на данных</a:t>
            </a:r>
          </a:p>
        </p:txBody>
      </p:sp>
      <p:sp>
        <p:nvSpPr>
          <p:cNvPr id="119" name="Text"/>
          <p:cNvSpPr/>
          <p:nvPr/>
        </p:nvSpPr>
        <p:spPr>
          <a:xfrm>
            <a:off x="4013040" y="3220000"/>
            <a:ext cx="36004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70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</a:p>
        </p:txBody>
      </p:sp>
      <p:sp>
        <p:nvSpPr>
          <p:cNvPr id="121" name="Text"/>
          <p:cNvSpPr/>
          <p:nvPr/>
        </p:nvSpPr>
        <p:spPr>
          <a:xfrm>
            <a:off x="7818960" y="3220000"/>
            <a:ext cx="36004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70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</a:p>
        </p:txBody>
      </p:sp>
      <p:sp>
        <p:nvSpPr>
          <p:cNvPr id="123" name="Card"/>
          <p:cNvSpPr/>
          <p:nvPr/>
        </p:nvSpPr>
        <p:spPr>
          <a:xfrm>
            <a:off x="640080" y="4680000"/>
            <a:ext cx="10911840" cy="580000"/>
          </a:xfrm>
          <a:prstGeom prst="roundRect">
            <a:avLst>
              <a:gd name="adj" fmla="val 8000"/>
            </a:avLst>
          </a:prstGeom>
          <a:solidFill>
            <a:srgbClr val="EAF6FC"/>
          </a:solidFill>
          <a:ln w="12700">
            <a:solidFill>
              <a:srgbClr val="CFE6F4"/>
            </a:solidFill>
            <a:prstDash val="solid"/>
          </a:ln>
        </p:spPr>
      </p:sp>
      <p:sp>
        <p:nvSpPr>
          <p:cNvPr id="124" name="Text"/>
          <p:cNvSpPr/>
          <p:nvPr/>
        </p:nvSpPr>
        <p:spPr>
          <a:xfrm>
            <a:off x="940080" y="4680000"/>
            <a:ext cx="10311840" cy="5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100" b="1" kern="0" dirty="0">
                <a:solidFill>
                  <a:srgbClr val="1571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Адаптация возвращается в игру в ответе сервера:  </a:t>
            </a:r>
            <a:r>
              <a:rPr lang="ru-RU" sz="110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сложность · плотность врагов · множитель добычи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 ДВИЖКА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Преимущества Godot 4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981200" y="1816636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0E7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5000" dirty="0"/>
          </a:p>
        </p:txBody>
      </p:sp>
      <p:sp>
        <p:nvSpPr>
          <p:cNvPr id="8" name="Text 6"/>
          <p:cNvSpPr/>
          <p:nvPr/>
        </p:nvSpPr>
        <p:spPr>
          <a:xfrm>
            <a:off x="1981200" y="26853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открытый код, MIT-лицензия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724400" y="1816636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0E7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4.2+</a:t>
            </a:r>
            <a:endParaRPr lang="en-US" sz="5000" dirty="0"/>
          </a:p>
        </p:txBody>
      </p:sp>
      <p:sp>
        <p:nvSpPr>
          <p:cNvPr id="10" name="Text 8"/>
          <p:cNvSpPr/>
          <p:nvPr/>
        </p:nvSpPr>
        <p:spPr>
          <a:xfrm>
            <a:off x="4724400" y="26853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целевая версия движка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467600" y="1816636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0E7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папка</a:t>
            </a:r>
            <a:endParaRPr lang="en-US" sz="5000" dirty="0"/>
          </a:p>
        </p:txBody>
      </p:sp>
      <p:sp>
        <p:nvSpPr>
          <p:cNvPr id="12" name="Text 10"/>
          <p:cNvSpPr/>
          <p:nvPr/>
        </p:nvSpPr>
        <p:spPr>
          <a:xfrm>
            <a:off x="7467600" y="26853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вся установка аддона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246120"/>
            <a:ext cx="3474720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77824" y="3502152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5" name="Image 0" descr="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3666744"/>
            <a:ext cx="219456" cy="21945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77824" y="41788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Бесплатный и открытый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877824" y="46177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роялти и лицензионных платежей — критично для инди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352544" y="3246120"/>
            <a:ext cx="3474720" cy="2194560"/>
          </a:xfrm>
          <a:prstGeom prst="roundRect">
            <a:avLst>
              <a:gd name="adj" fmla="val 3750"/>
            </a:avLst>
          </a:prstGeom>
          <a:noFill/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590288" y="3502152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0" name="Image 1" descr="icons/puzz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3666744"/>
            <a:ext cx="219456" cy="219456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4590288" y="41788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Нативная система плагинов</a:t>
            </a:r>
            <a:endParaRPr lang="en-US" sz="1450" dirty="0"/>
          </a:p>
        </p:txBody>
      </p:sp>
      <p:sp>
        <p:nvSpPr>
          <p:cNvPr id="22" name="Text 18"/>
          <p:cNvSpPr/>
          <p:nvPr/>
        </p:nvSpPr>
        <p:spPr>
          <a:xfrm>
            <a:off x="4590288" y="46177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EditorPlugin, </a:t>
            </a:r>
            <a:r>
              <a:rPr lang="en-US" sz="1200" dirty="0" err="1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автозагрузка</a:t>
            </a: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кастомные</a:t>
            </a: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панели</a:t>
            </a: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редактора</a:t>
            </a: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«</a:t>
            </a:r>
            <a:r>
              <a:rPr lang="en-US" sz="1200" dirty="0" err="1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</a:t>
            </a: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коробки</a:t>
            </a: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8065008" y="3246120"/>
            <a:ext cx="3474720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8302752" y="3502152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5" name="Image 2" descr="icons/bo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67344" y="3666744"/>
            <a:ext cx="219456" cy="219456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8302752" y="41788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GDScript + быстрый цикл</a:t>
            </a:r>
            <a:endParaRPr lang="en-US" sz="1450" dirty="0"/>
          </a:p>
        </p:txBody>
      </p:sp>
      <p:sp>
        <p:nvSpPr>
          <p:cNvPr id="27" name="Text 22"/>
          <p:cNvSpPr/>
          <p:nvPr/>
        </p:nvSpPr>
        <p:spPr>
          <a:xfrm>
            <a:off x="8302752" y="46177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низкий порог входа, мгновенная итерация в редакторе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UI/UX для разработчика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16916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4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Вся настройка — в редакторе Godot, во вкладке Analytics. Разработчик не редактирует конфиги вручную.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22860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77824" y="2560320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0" name="Image 0" descr="icons/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272491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600200" y="250545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Настройки облака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600200" y="2889504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приёма, размер буфера, интервал автоотправки, повторы, офлайн-кэш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26480" y="22860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64224" y="2560320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5" name="Image 1" descr="icons/slid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816" y="2724912"/>
            <a:ext cx="219456" cy="21945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086600" y="250545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ML-профиль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7086600" y="2889504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события, критические точки (веса), архетипы, стартовые действия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40080" y="406908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77824" y="4343400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0" name="Image 2" descr="icons/docum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416" y="4507992"/>
            <a:ext cx="219456" cy="219456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600200" y="42885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Просмотр логов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1600200" y="4672584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панель логов: что отправлено, ответы сервера, ошибки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6126480" y="406908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364224" y="4343400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5" name="Image 3" descr="icons/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8816" y="4507992"/>
            <a:ext cx="219456" cy="219456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086600" y="42885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сервера</a:t>
            </a: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7086600" y="4672584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кнопка проверки состояния и блок последней полученной адаптации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Примеры панелей плагина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257800" cy="3977640"/>
          </a:xfrm>
          <a:prstGeom prst="roundRect">
            <a:avLst>
              <a:gd name="adj" fmla="val 1379"/>
            </a:avLst>
          </a:prstGeom>
          <a:solidFill>
            <a:srgbClr val="FFFFFF"/>
          </a:solidFill>
          <a:ln w="12700">
            <a:solidFill>
              <a:srgbClr val="C6D6E0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828800"/>
            <a:ext cx="5257800" cy="384048"/>
          </a:xfrm>
          <a:prstGeom prst="rect">
            <a:avLst/>
          </a:prstGeom>
          <a:solidFill>
            <a:srgbClr val="0B5E88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828800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· Настройки облака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41848" y="1965960"/>
            <a:ext cx="109728" cy="109728"/>
          </a:xfrm>
          <a:prstGeom prst="ellipse">
            <a:avLst/>
          </a:prstGeom>
          <a:solidFill>
            <a:srgbClr val="7FB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458968" y="1965960"/>
            <a:ext cx="109728" cy="109728"/>
          </a:xfrm>
          <a:prstGeom prst="ellipse">
            <a:avLst/>
          </a:prstGeom>
          <a:solidFill>
            <a:srgbClr val="7FB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5276088" y="1965960"/>
            <a:ext cx="109728" cy="109728"/>
          </a:xfrm>
          <a:prstGeom prst="ellipse">
            <a:avLst/>
          </a:prstGeom>
          <a:solidFill>
            <a:srgbClr val="7FB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868680" y="2395728"/>
            <a:ext cx="4800600" cy="457200"/>
          </a:xfrm>
          <a:prstGeom prst="rect">
            <a:avLst/>
          </a:prstGeom>
          <a:solidFill>
            <a:srgbClr val="F4FAFD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3957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приёма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743200" y="239572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http://localhost:8000/telemetry/ingest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68680" y="2962656"/>
            <a:ext cx="48006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296265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 err="1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Размер</a:t>
            </a: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буфера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743200" y="296265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событий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68680" y="3529584"/>
            <a:ext cx="4800600" cy="457200"/>
          </a:xfrm>
          <a:prstGeom prst="rect">
            <a:avLst/>
          </a:prstGeom>
          <a:solidFill>
            <a:srgbClr val="F4FAFD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" y="352958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Автоотправка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743200" y="352958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каждые 5 с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68680" y="4096512"/>
            <a:ext cx="48006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" y="40965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Повторы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743200" y="409651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попытки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68680" y="4663440"/>
            <a:ext cx="4800600" cy="457200"/>
          </a:xfrm>
          <a:prstGeom prst="rect">
            <a:avLst/>
          </a:prstGeom>
          <a:solidFill>
            <a:srgbClr val="F4FAFD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05840" y="46634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Офлайн-кэш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743200" y="46634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вкл.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17920" y="1828800"/>
            <a:ext cx="5257800" cy="3977640"/>
          </a:xfrm>
          <a:prstGeom prst="roundRect">
            <a:avLst>
              <a:gd name="adj" fmla="val 1379"/>
            </a:avLst>
          </a:prstGeom>
          <a:solidFill>
            <a:srgbClr val="FFFFFF"/>
          </a:solidFill>
          <a:ln w="12700">
            <a:solidFill>
              <a:srgbClr val="C6D6E0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217920" y="1828800"/>
            <a:ext cx="5257800" cy="384048"/>
          </a:xfrm>
          <a:prstGeom prst="rect">
            <a:avLst/>
          </a:prstGeom>
          <a:solidFill>
            <a:srgbClr val="0B5E88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0" y="1828800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· ML-профиль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1219688" y="1965960"/>
            <a:ext cx="109728" cy="109728"/>
          </a:xfrm>
          <a:prstGeom prst="ellipse">
            <a:avLst/>
          </a:prstGeom>
          <a:solidFill>
            <a:srgbClr val="7FB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11036808" y="1965960"/>
            <a:ext cx="109728" cy="109728"/>
          </a:xfrm>
          <a:prstGeom prst="ellipse">
            <a:avLst/>
          </a:prstGeom>
          <a:solidFill>
            <a:srgbClr val="7FB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10853928" y="1965960"/>
            <a:ext cx="109728" cy="109728"/>
          </a:xfrm>
          <a:prstGeom prst="ellipse">
            <a:avLst/>
          </a:prstGeom>
          <a:solidFill>
            <a:srgbClr val="7FB8D6"/>
          </a:solidFill>
          <a:ln/>
        </p:spPr>
      </p:sp>
      <p:sp>
        <p:nvSpPr>
          <p:cNvPr id="34" name="Text 32"/>
          <p:cNvSpPr/>
          <p:nvPr/>
        </p:nvSpPr>
        <p:spPr>
          <a:xfrm>
            <a:off x="6446520" y="2377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Архетипы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73952" y="2670048"/>
            <a:ext cx="2286000" cy="347472"/>
          </a:xfrm>
          <a:prstGeom prst="roundRect">
            <a:avLst>
              <a:gd name="adj" fmla="val 13158"/>
            </a:avLst>
          </a:prstGeom>
          <a:solidFill>
            <a:srgbClr val="EAF6FC"/>
          </a:solidFill>
          <a:ln w="9525">
            <a:solidFill>
              <a:srgbClr val="C6D6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11112" y="26700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100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Исследователь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942832" y="2670048"/>
            <a:ext cx="2286000" cy="347472"/>
          </a:xfrm>
          <a:prstGeom prst="roundRect">
            <a:avLst>
              <a:gd name="adj" fmla="val 13158"/>
            </a:avLst>
          </a:prstGeom>
          <a:solidFill>
            <a:srgbClr val="EAF6FC"/>
          </a:solidFill>
          <a:ln w="9525">
            <a:solidFill>
              <a:srgbClr val="C6D6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079992" y="26700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100" dirty="0">
                <a:solidFill>
                  <a:srgbClr val="0B5E88"/>
                </a:solidFill>
                <a:latin typeface="Calibri" pitchFamily="34" charset="0"/>
                <a:cs typeface="Calibri" pitchFamily="34" charset="-120"/>
              </a:rPr>
              <a:t>Собиратель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473952" y="3127248"/>
            <a:ext cx="2286000" cy="347472"/>
          </a:xfrm>
          <a:prstGeom prst="roundRect">
            <a:avLst>
              <a:gd name="adj" fmla="val 13158"/>
            </a:avLst>
          </a:prstGeom>
          <a:solidFill>
            <a:srgbClr val="EAF6FC"/>
          </a:solidFill>
          <a:ln w="9525">
            <a:solidFill>
              <a:srgbClr val="C6D6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11112" y="31272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100" dirty="0">
                <a:solidFill>
                  <a:srgbClr val="0B5E88"/>
                </a:solidFill>
                <a:latin typeface="Calibri" pitchFamily="34" charset="0"/>
                <a:cs typeface="Calibri" pitchFamily="34" charset="-120"/>
              </a:rPr>
              <a:t>Коммуникант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942832" y="3127248"/>
            <a:ext cx="2286000" cy="347472"/>
          </a:xfrm>
          <a:prstGeom prst="roundRect">
            <a:avLst>
              <a:gd name="adj" fmla="val 13158"/>
            </a:avLst>
          </a:prstGeom>
          <a:solidFill>
            <a:srgbClr val="EAF6FC"/>
          </a:solidFill>
          <a:ln w="9525">
            <a:solidFill>
              <a:srgbClr val="C6D6E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079992" y="31272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100" dirty="0">
                <a:solidFill>
                  <a:srgbClr val="0B5E88"/>
                </a:solidFill>
                <a:latin typeface="Calibri" pitchFamily="34" charset="0"/>
                <a:cs typeface="Calibri" pitchFamily="34" charset="-120"/>
              </a:rPr>
              <a:t>Боец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446520" y="3703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Критические точки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446520" y="4023360"/>
            <a:ext cx="4800600" cy="384048"/>
          </a:xfrm>
          <a:prstGeom prst="rect">
            <a:avLst/>
          </a:prstGeom>
          <a:solidFill>
            <a:srgbClr val="F4FAFD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583680" y="402336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time_sec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9784080" y="402336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 1.0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446520" y="4498848"/>
            <a:ext cx="48006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583680" y="449884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hints_used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9784080" y="44988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 1.5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446520" y="4974336"/>
            <a:ext cx="4800600" cy="384048"/>
          </a:xfrm>
          <a:prstGeom prst="rect">
            <a:avLst/>
          </a:prstGeom>
          <a:solidFill>
            <a:srgbClr val="F4FAFD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83680" y="497433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deaths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9784080" y="497433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 1.0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КОНТРАКТ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JSON для отправки на сервер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6126480" cy="4023360"/>
          </a:xfrm>
          <a:prstGeom prst="roundRect">
            <a:avLst>
              <a:gd name="adj" fmla="val 2273"/>
            </a:avLst>
          </a:prstGeom>
          <a:solidFill>
            <a:srgbClr val="0E2A3A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32688" y="1975104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/telemetry/ingest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32688" y="2359152"/>
            <a:ext cx="5577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"events": [{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"session_id": "uuid",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"player_id": "player_1",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"event_name": "level_complete",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"timestamp": 1716812345.1,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"parameters": { "time_sec": 120,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"deaths": 2 }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}],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"metadata": {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"critical_points": [...],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"archetypes": [...],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"model_mode": "cloud"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178040" y="1783080"/>
            <a:ext cx="4373575" cy="1216152"/>
          </a:xfrm>
          <a:prstGeom prst="roundRect">
            <a:avLst>
              <a:gd name="adj" fmla="val 6767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397496" y="2075688"/>
            <a:ext cx="512064" cy="512064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2" name="Image 0" descr="icons/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1115" y="2229307"/>
            <a:ext cx="204826" cy="204826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8092440" y="1965960"/>
            <a:ext cx="3322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5E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events[]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092440" y="2313432"/>
            <a:ext cx="3322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u-RU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Буфер</a:t>
            </a: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событий: id сессии, игрока, имя, время, parameters для ML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178040" y="3154680"/>
            <a:ext cx="4373575" cy="1216152"/>
          </a:xfrm>
          <a:prstGeom prst="roundRect">
            <a:avLst>
              <a:gd name="adj" fmla="val 6767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97496" y="3447288"/>
            <a:ext cx="512064" cy="512064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7" name="Image 1" descr="icons/slid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1115" y="3600907"/>
            <a:ext cx="204826" cy="204826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8092440" y="3337560"/>
            <a:ext cx="3322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5E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8092440" y="3685032"/>
            <a:ext cx="3322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critical_points и archetypes </a:t>
            </a:r>
            <a:r>
              <a:rPr lang="ru-RU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берутся </a:t>
            </a:r>
            <a:r>
              <a:rPr lang="en-US" sz="1150" dirty="0" err="1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</a:t>
            </a: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профиля</a:t>
            </a:r>
            <a:r>
              <a:rPr lang="ru-RU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model_mode = cloud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7178040" y="4526280"/>
            <a:ext cx="4373575" cy="1216152"/>
          </a:xfrm>
          <a:prstGeom prst="roundRect">
            <a:avLst>
              <a:gd name="adj" fmla="val 6767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7397496" y="4818888"/>
            <a:ext cx="512064" cy="512064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2" name="Image 2" descr="icons/bo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1115" y="4972507"/>
            <a:ext cx="204826" cy="20482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8092440" y="4709160"/>
            <a:ext cx="3322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5E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Формируется автоматически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8092440" y="5056632"/>
            <a:ext cx="3322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u-RU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</a:t>
            </a:r>
            <a:r>
              <a:rPr lang="en-US" sz="1150" dirty="0" err="1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лагин</a:t>
            </a: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сам подставляет session_id, timestamp, game_time, state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МАСШТАБИРОВАНИЕ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Интеграция в большие проекты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2578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77824" y="2084832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9" name="Image 0" descr="icons/puzz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930" y="2243938"/>
            <a:ext cx="212141" cy="21214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00200" y="20299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Изоляция аддона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1600200" y="2395728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переносится только папка addons/analytics_plugin/ — не конфликтует с кодом игры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2578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364224" y="2084832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4" name="Image 1" descr="icons/bo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3330" y="2243938"/>
            <a:ext cx="212141" cy="21214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086600" y="20299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Минимальное API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7086600" y="2395728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вызова Analytics встраиваются в любой масштаб проекта без рефакторинга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40080" y="3401568"/>
            <a:ext cx="52578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77824" y="3657600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9" name="Image 2" descr="icons/clou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30" y="3816706"/>
            <a:ext cx="212141" cy="212141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00200" y="36027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Надёжность сети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1600200" y="3968496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батчи, повторы и офлайн-очередь выдерживают нестабильное соединение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126480" y="3401568"/>
            <a:ext cx="52578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64224" y="3657600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4" name="Image 3" descr="icons/slid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3330" y="3816706"/>
            <a:ext cx="212141" cy="212141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086600" y="36027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Конфигурируемость</a:t>
            </a:r>
            <a:endParaRPr lang="en-US" sz="1450" dirty="0"/>
          </a:p>
        </p:txBody>
      </p:sp>
      <p:sp>
        <p:nvSpPr>
          <p:cNvPr id="26" name="Text 20"/>
          <p:cNvSpPr/>
          <p:nvPr/>
        </p:nvSpPr>
        <p:spPr>
          <a:xfrm>
            <a:off x="7086600" y="3968496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события и архетипы задаёт сам разработчик под свою игру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640080" y="5029200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914400" y="5102352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Основа масштабируемости:  </a:t>
            </a: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плагин слабо связан с игрой (автозагрузка + сигналы), вся тяжёлая логика — на сервере. Игра остаётся лёгкой и не зависит от размера проекта.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ЗАДЕЛЫ НА БУДУЩЕЕ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Заделы на будущее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9536" y="203911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9" name="Image 0" descr="icons/st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614" y="2209190"/>
            <a:ext cx="226771" cy="22677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64208" y="19476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Публикация в Asset Library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1664208" y="231343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оформление аддона для официального магазина ассетов Godot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306324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59536" y="331927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4" name="Image 1" descr="icons/slid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614" y="3489350"/>
            <a:ext cx="226771" cy="22677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664208" y="32278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Расширение панели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1664208" y="359359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визуализация воронок событий и истории адаптаций в редакторе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40080" y="434340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59536" y="459943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9" name="Image 2" descr="icons/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9614" y="4769510"/>
            <a:ext cx="226771" cy="226771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64208" y="45079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Авто-тесты интеграции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1664208" y="487375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Сквозной чек-лист test_integration.gd как регрессионная проверка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766560" y="1783080"/>
            <a:ext cx="4785055" cy="4160520"/>
          </a:xfrm>
          <a:prstGeom prst="roundRect">
            <a:avLst>
              <a:gd name="adj" fmla="val 2198"/>
            </a:avLst>
          </a:prstGeom>
          <a:solidFill>
            <a:srgbClr val="0B5E88"/>
          </a:solidFill>
          <a:ln/>
          <a:effectLst>
            <a:outerShdw blurRad="114300" dist="38100" dir="5400000" algn="bl" rotWithShape="0">
              <a:srgbClr val="9FB6C4">
                <a:alpha val="28000"/>
              </a:srgbClr>
            </a:outerShdw>
          </a:effectLst>
        </p:spPr>
      </p:sp>
      <p:sp>
        <p:nvSpPr>
          <p:cNvPr id="23" name="Text 18"/>
          <p:cNvSpPr/>
          <p:nvPr/>
        </p:nvSpPr>
        <p:spPr>
          <a:xfrm>
            <a:off x="6766560" y="2057400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РЕПОЗИТОРИЙ ПРОЕКТА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7924648" y="2468880"/>
            <a:ext cx="24688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</p:spPr>
      </p:sp>
      <p:pic>
        <p:nvPicPr>
          <p:cNvPr id="25" name="Image 3" descr="qr_gi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0952" y="2615184"/>
            <a:ext cx="2176272" cy="217627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766560" y="5074920"/>
            <a:ext cx="4785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github.com/Antizi/diplom-Game_Plugs_Ai</a:t>
            </a:r>
            <a:endParaRPr lang="en-US" sz="1150" dirty="0"/>
          </a:p>
        </p:txBody>
      </p:sp>
      <p:sp>
        <p:nvSpPr>
          <p:cNvPr id="27" name="Text 21"/>
          <p:cNvSpPr/>
          <p:nvPr/>
        </p:nvSpPr>
        <p:spPr>
          <a:xfrm>
            <a:off x="6766560" y="5440680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Наведите камеру телефона на QR-код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5E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8" name="Shape 6"/>
          <p:cNvSpPr/>
          <p:nvPr/>
        </p:nvSpPr>
        <p:spPr>
          <a:xfrm>
            <a:off x="15544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9" name="Shape 7"/>
          <p:cNvSpPr/>
          <p:nvPr/>
        </p:nvSpPr>
        <p:spPr>
          <a:xfrm>
            <a:off x="15544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0" name="Shape 8"/>
          <p:cNvSpPr/>
          <p:nvPr/>
        </p:nvSpPr>
        <p:spPr>
          <a:xfrm>
            <a:off x="15544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1" name="Shape 9"/>
          <p:cNvSpPr/>
          <p:nvPr/>
        </p:nvSpPr>
        <p:spPr>
          <a:xfrm>
            <a:off x="20116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2" name="Shape 10"/>
          <p:cNvSpPr/>
          <p:nvPr/>
        </p:nvSpPr>
        <p:spPr>
          <a:xfrm>
            <a:off x="20116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3" name="Shape 11"/>
          <p:cNvSpPr/>
          <p:nvPr/>
        </p:nvSpPr>
        <p:spPr>
          <a:xfrm>
            <a:off x="20116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4" name="Shape 12"/>
          <p:cNvSpPr/>
          <p:nvPr/>
        </p:nvSpPr>
        <p:spPr>
          <a:xfrm>
            <a:off x="24688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5" name="Shape 13"/>
          <p:cNvSpPr/>
          <p:nvPr/>
        </p:nvSpPr>
        <p:spPr>
          <a:xfrm>
            <a:off x="24688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6" name="Shape 14"/>
          <p:cNvSpPr/>
          <p:nvPr/>
        </p:nvSpPr>
        <p:spPr>
          <a:xfrm>
            <a:off x="24688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7" name="Shape 15"/>
          <p:cNvSpPr/>
          <p:nvPr/>
        </p:nvSpPr>
        <p:spPr>
          <a:xfrm>
            <a:off x="29260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8" name="Shape 16"/>
          <p:cNvSpPr/>
          <p:nvPr/>
        </p:nvSpPr>
        <p:spPr>
          <a:xfrm>
            <a:off x="29260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9" name="Shape 17"/>
          <p:cNvSpPr/>
          <p:nvPr/>
        </p:nvSpPr>
        <p:spPr>
          <a:xfrm>
            <a:off x="29260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0" name="Shape 18"/>
          <p:cNvSpPr/>
          <p:nvPr/>
        </p:nvSpPr>
        <p:spPr>
          <a:xfrm>
            <a:off x="33832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1" name="Shape 19"/>
          <p:cNvSpPr/>
          <p:nvPr/>
        </p:nvSpPr>
        <p:spPr>
          <a:xfrm>
            <a:off x="33832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2" name="Shape 20"/>
          <p:cNvSpPr/>
          <p:nvPr/>
        </p:nvSpPr>
        <p:spPr>
          <a:xfrm>
            <a:off x="33832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011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42316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Сбор и передача игровой телеметрии</a:t>
            </a:r>
            <a:endParaRPr lang="en-US" sz="34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распределённое хранилище</a:t>
            </a:r>
            <a:endParaRPr lang="en-US" sz="3400" dirty="0"/>
          </a:p>
        </p:txBody>
      </p:sp>
      <p:sp>
        <p:nvSpPr>
          <p:cNvPr id="25" name="Text 23"/>
          <p:cNvSpPr/>
          <p:nvPr/>
        </p:nvSpPr>
        <p:spPr>
          <a:xfrm>
            <a:off x="640080" y="3977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ru-RU" sz="1500" dirty="0">
                <a:solidFill>
                  <a:srgbClr val="CFE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Плагин </a:t>
            </a:r>
            <a:r>
              <a:rPr lang="en-US" sz="1500" dirty="0" err="1">
                <a:solidFill>
                  <a:srgbClr val="CFE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</a:t>
            </a:r>
            <a:r>
              <a:rPr lang="en-US" sz="1500" dirty="0">
                <a:solidFill>
                  <a:srgbClr val="CFE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Godot 4 · настройка в редакторе ·  </a:t>
            </a:r>
            <a:r>
              <a:rPr lang="en-US" sz="1500" dirty="0" err="1">
                <a:solidFill>
                  <a:srgbClr val="CFE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отправка</a:t>
            </a:r>
            <a:r>
              <a:rPr lang="en-US" sz="1500" dirty="0">
                <a:solidFill>
                  <a:srgbClr val="CFE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CFE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телеметрии</a:t>
            </a:r>
            <a:r>
              <a:rPr lang="en-US" sz="1500" dirty="0">
                <a:solidFill>
                  <a:srgbClr val="CFE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  offline-буфер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0080" y="4983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Артамонов Фёдор Андреевич  ·  Godot-инженер</a:t>
            </a:r>
            <a:r>
              <a:rPr lang="en-US" sz="140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Группа МВИ-122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5349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Научный руководитель: Минаева Н. В., ст. преподаватель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1441</Words>
  <Application>Microsoft Office PowerPoint</Application>
  <PresentationFormat>Широкоэкранный</PresentationFormat>
  <Paragraphs>171</Paragraphs>
  <Slides>10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Arial</vt:lpstr>
      <vt:lpstr>Calibri</vt:lpstr>
      <vt:lpstr>Cambria</vt:lpstr>
      <vt:lpstr>Courier New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системы сбора и передачи игровой телеметрии в распределённое хранилище данных</dc:title>
  <dc:subject>PptxGenJS Presentation</dc:subject>
  <dc:creator>Артамонов Фёдор Андреевич</dc:creator>
  <cp:lastModifiedBy>fuller276</cp:lastModifiedBy>
  <cp:revision>5</cp:revision>
  <dcterms:created xsi:type="dcterms:W3CDTF">2026-06-15T11:15:39Z</dcterms:created>
  <dcterms:modified xsi:type="dcterms:W3CDTF">2026-06-15T13:02:08Z</dcterms:modified>
</cp:coreProperties>
</file>