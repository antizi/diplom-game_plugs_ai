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941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Я отвечал за ML-часть проекта. Задача моего сервиса — по поведению игрока в сессии определить его архетип (исследователь, достигатор, социализатор, киллер) и вернуть рекомендации по адаптации сложности. Дальше расскажу, зачем это нужно проекту, какую модель я выбрал и почему, как она устроена и как встроена в общую систему.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проблема, которую мы решаем: единая сложность не подходит всем игрокам. Архетип — компактная метрика стиля игрока, к которой привязаны все системы баланса. Это вход для адаптации: по архетипу мы выдаём конкретные параметры difficulty, enemy_density, loot_multiplier. И, что важно для всего проекта, — разработчик игры не пишет ML-код, он лишь описывает события и архетипы, а считает всё сервер.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общая архитектура. Godot-плагин собирает события и шлёт их на backend. Backend строит вектор признаков и обращается к моему ML-сервису по HTTP POST /predict. Сервис возвращает архетип и параметры адаптации, которые backend кладёт в ответ, а игра применяет в рантайме. Принципиальное решение — cloud-only: модель только на сервере, на клиенте инференса нет. Это упрощает обновление модели и не нагружает игру.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Формально это задача многоклассовой классификации: на вход вектор признаков сессии, на выход — один из четырёх архетипов. Признаки строятся из частот событий и числовых метрик вроде времени, смертей, подсказок, с весами критических точек из профиля игры. Почему ML, а не правила: жёсткие if-else не масштабируются, архетип определяется комбинацией признаков, а модель к тому же дообучается на накопленных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 сравнил три подхода. Жёсткие правила объяснимы, но неточны и не масштабируются. LSTM потенциально точнее, но требует тысяч размеченных сессий и медленнее. Random Forest даёт лучший баланс на старте проекта: приемлемая точность уже на сотнях сессий, инференс быстрее пяти миллисекунд, экспортируется в ONNX. Поэтому в продакшене сейчас Random Forest, а LSTM лежит в research как кандидат на замену, когда накопим достаточно реальных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 работает инференс. События сессии из Postgres превращаются в вектор признаков строго по feature_order, затем Random Forest в формате ONNX через onnxruntime на CPU выдаёт класс и вероятности. Из класса получаем архетип, из вероятностей — confidence, и подбираем параметры адаптации. Два инженерных акцента: согласованность признаков — порядок фичей в модели жёстко совпадает с критическими точками профиля игры; и надёжность — если ONNX почему-то не загрузился, сервис не падает, а отвечает эвристикой.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— как модель обучается. Данные берём из Postgres: реальные события и ранее сделанные предсказания, а для холодного старта есть seed-скрипт на тысячу размеченных сессий. По каждой сессии строим признаки и метку, обучаем RandomForest в sklearn и экспортируем в ONNX вместе с метаданными — порядком признаков и списком архетипов. Запускается это эндпоинтом POST /train, после чего модель перезагружается на горячую, без пересборки контейнера. Так версия модели обновляется прямо в работающем сервисе.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Интеграция. Мой код — это отдельный микросервис в Docker Compose на порту 8001. Backend общается с ним по HTTP через ml_client.py: на эндпоинт /predict уходит session_id, player_id, словарь признаков и список архетипов, обратно приходит архетип, уверенность, параметры адаптации и версия модели. Вызов происходит не один раз, а каждые bootstrap_actions событий, так что адаптация обновляется по ходу сессии. Результат backend кладёт прямо в ответ на /telemetry/ingest, и плагин эмитит сигнал в игру.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планах: заменить Random Forest на LSTM, когда наберём достаточно реальных сессий — это лежит готовым прототипом в research. Добавить строгую валидацию входных признаков по профилю игры. И завести метрики качества — латентность предсказаний, долю срабатываний fallback, мониторинг версии модели. Весь код — в репозитории по QR-коду, папка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Подведу итог. ML-сервис по телеметрии определяет архетип игрока и возвращает параметры адаптации. В основе — Random Forest в формате ONNX, вынесенный в отдельный сервис, с обучением на данных из Postgres, надёжным fallback и горячей перезагрузкой модели. Спасибо за внимание, готов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9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5E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8869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9326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97840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97840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102412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412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984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984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4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55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11155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55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612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12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 · 2026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1417320"/>
            <a:ext cx="10927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Разработка и интеграция нейросетевой модели для прогнозирования поведения пользователя в адаптивной игровой системе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640080" y="3840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Нейросетевая модель по телеметрии сессии определяет архетип игрока и возвращает параметры адаптации геймплея в реальном времени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640080" y="4892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5276088"/>
            <a:ext cx="603504" cy="60350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8" name="Image 0" descr="icons/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" y="5457139"/>
            <a:ext cx="241402" cy="24140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78308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783080" y="53492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Изотов Антон Николаевич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783080" y="576072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МВИ-122  ·  Team-Lead, ML-инженер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537960" y="4892040"/>
            <a:ext cx="5013655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830568" y="50749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830568" y="5394960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Беспалов М. Е.</a:t>
            </a:r>
            <a:endParaRPr lang="en-US" sz="15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Роль метрики «архетип игрока» в проекте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ручная сложность не подходит всем: одни скучают, другие бросают игру. Архетип — это компактная метрика стиля игрока, на которую опираются все остальные системы баланса.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46888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96112" y="272491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288950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96112" y="340156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Сегментация игроков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896112" y="380390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архетипа Bartle вместо «средней» сложности для всех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52544" y="246888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08576" y="272491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lid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2889504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08576" y="340156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для адаптации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4608576" y="380390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 → difficulty, enemy_density, loot_multiplier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8065008" y="246888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21040" y="272491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2889504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21040" y="340156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Удержание</a:t>
            </a:r>
            <a:endParaRPr lang="en-US" sz="1550" dirty="0"/>
          </a:p>
        </p:txBody>
      </p:sp>
      <p:sp>
        <p:nvSpPr>
          <p:cNvPr id="22" name="Text 17"/>
          <p:cNvSpPr/>
          <p:nvPr/>
        </p:nvSpPr>
        <p:spPr>
          <a:xfrm>
            <a:off x="8321040" y="380390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геймплей под стиль игрока снижает отток и скуку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40080" y="4572000"/>
            <a:ext cx="10911535" cy="1234440"/>
          </a:xfrm>
          <a:prstGeom prst="roundRect">
            <a:avLst>
              <a:gd name="adj" fmla="val 6667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4400" y="4846320"/>
            <a:ext cx="658368" cy="658368"/>
          </a:xfrm>
          <a:prstGeom prst="ellipse">
            <a:avLst/>
          </a:prstGeom>
          <a:solidFill>
            <a:srgbClr val="0E7FB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5" name="Image 3" descr="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1910" y="5043830"/>
            <a:ext cx="263347" cy="263347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783080" y="4828032"/>
            <a:ext cx="95399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идея проекта:  </a:t>
            </a: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разработчик игры не пишет ML-код. Он задаёт события и архетипы в редакторе, а вся ML-логика — на сервере. Архетип — это «язык», на котором ML общается с игрой.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ПРОЕКТА</a:t>
            </a:r>
          </a:p>
        </p:txBody>
      </p:sp>
      <p:sp>
        <p:nvSpPr>
          <p:cNvPr id="102" name="Text"/>
          <p:cNvSpPr/>
          <p:nvPr/>
        </p:nvSpPr>
        <p:spPr>
          <a:xfrm>
            <a:off x="640080" y="749808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устроен проект целиком</a:t>
            </a:r>
          </a:p>
        </p:txBody>
      </p:sp>
      <p:sp>
        <p:nvSpPr>
          <p:cNvPr id="103" name="Text"/>
          <p:cNvSpPr/>
          <p:nvPr/>
        </p:nvSpPr>
        <p:spPr>
          <a:xfrm>
            <a:off x="640080" y="1500000"/>
            <a:ext cx="1091184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30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 собирает события, сервер их обрабатывает и хранит, нейросетевая модель возвращает параметры адаптации — и геймплей подстраивается под игрока.</a:t>
            </a:r>
          </a:p>
        </p:txBody>
      </p:sp>
      <p:sp>
        <p:nvSpPr>
          <p:cNvPr id="104" name="Card"/>
          <p:cNvSpPr/>
          <p:nvPr/>
        </p:nvSpPr>
        <p:spPr>
          <a:xfrm>
            <a:off x="640080" y="2360000"/>
            <a:ext cx="3300000" cy="2120000"/>
          </a:xfrm>
          <a:prstGeom prst="roundRect">
            <a:avLst>
              <a:gd name="adj" fmla="val 486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05" name="Text"/>
          <p:cNvSpPr/>
          <p:nvPr/>
        </p:nvSpPr>
        <p:spPr>
          <a:xfrm>
            <a:off x="900080" y="2530000"/>
            <a:ext cx="278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950" b="1" kern="0" spc="18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ПЛАГИН · GODOT</a:t>
            </a:r>
          </a:p>
        </p:txBody>
      </p:sp>
      <p:sp>
        <p:nvSpPr>
          <p:cNvPr id="106" name="Text"/>
          <p:cNvSpPr/>
          <p:nvPr/>
        </p:nvSpPr>
        <p:spPr>
          <a:xfrm>
            <a:off x="900080" y="2810000"/>
            <a:ext cx="278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6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Игра</a:t>
            </a:r>
          </a:p>
        </p:txBody>
      </p:sp>
      <p:sp>
        <p:nvSpPr>
          <p:cNvPr id="107" name="Text"/>
          <p:cNvSpPr/>
          <p:nvPr/>
        </p:nvSpPr>
        <p:spPr>
          <a:xfrm>
            <a:off x="900080" y="3220000"/>
            <a:ext cx="27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10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аддон analytics_plugin</a:t>
            </a:r>
          </a:p>
        </p:txBody>
      </p:sp>
      <p:sp>
        <p:nvSpPr>
          <p:cNvPr id="108" name="Text"/>
          <p:cNvSpPr/>
          <p:nvPr/>
        </p:nvSpPr>
        <p:spPr>
          <a:xfrm>
            <a:off x="900080" y="3580000"/>
            <a:ext cx="27800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ru-RU" sz="1000" kern="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сбор игровых событий</a:t>
            </a:r>
          </a:p>
          <a:p>
            <a:pPr marL="0" indent="0" algn="l">
              <a:buNone/>
            </a:pPr>
            <a:r>
              <a:rPr lang="ru-RU" sz="1000" kern="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отправка телеметрии</a:t>
            </a:r>
          </a:p>
          <a:p>
            <a:pPr marL="0" indent="0" algn="l">
              <a:buNone/>
            </a:pPr>
            <a:r>
              <a:rPr lang="ru-RU" sz="1000" kern="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приём адаптации</a:t>
            </a:r>
          </a:p>
        </p:txBody>
      </p:sp>
      <p:sp>
        <p:nvSpPr>
          <p:cNvPr id="109" name="Card"/>
          <p:cNvSpPr/>
          <p:nvPr/>
        </p:nvSpPr>
        <p:spPr>
          <a:xfrm>
            <a:off x="4446000" y="2360000"/>
            <a:ext cx="3300000" cy="2120000"/>
          </a:xfrm>
          <a:prstGeom prst="roundRect">
            <a:avLst>
              <a:gd name="adj" fmla="val 486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10" name="Text"/>
          <p:cNvSpPr/>
          <p:nvPr/>
        </p:nvSpPr>
        <p:spPr>
          <a:xfrm>
            <a:off x="4706000" y="2530000"/>
            <a:ext cx="278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950" b="1" kern="0" spc="18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</a:t>
            </a:r>
          </a:p>
        </p:txBody>
      </p:sp>
      <p:sp>
        <p:nvSpPr>
          <p:cNvPr id="111" name="Text"/>
          <p:cNvSpPr/>
          <p:nvPr/>
        </p:nvSpPr>
        <p:spPr>
          <a:xfrm>
            <a:off x="4706000" y="2810000"/>
            <a:ext cx="278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6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</a:p>
        </p:txBody>
      </p:sp>
      <p:sp>
        <p:nvSpPr>
          <p:cNvPr id="112" name="Text"/>
          <p:cNvSpPr/>
          <p:nvPr/>
        </p:nvSpPr>
        <p:spPr>
          <a:xfrm>
            <a:off x="4706000" y="3220000"/>
            <a:ext cx="27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10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</a:t>
            </a:r>
          </a:p>
        </p:txBody>
      </p:sp>
      <p:sp>
        <p:nvSpPr>
          <p:cNvPr id="113" name="Text"/>
          <p:cNvSpPr/>
          <p:nvPr/>
        </p:nvSpPr>
        <p:spPr>
          <a:xfrm>
            <a:off x="4706000" y="3580000"/>
            <a:ext cx="27800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ru-RU" sz="1000" kern="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приём и хранение событий</a:t>
            </a:r>
          </a:p>
          <a:p>
            <a:pPr marL="0" indent="0" algn="l">
              <a:buNone/>
            </a:pPr>
            <a:r>
              <a:rPr lang="ru-RU" sz="1000" kern="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построение признаков</a:t>
            </a:r>
          </a:p>
          <a:p>
            <a:pPr marL="0" indent="0" algn="l">
              <a:buNone/>
            </a:pPr>
            <a:r>
              <a:rPr lang="ru-RU" sz="1000" kern="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вызов ML, ответ игре</a:t>
            </a:r>
          </a:p>
        </p:txBody>
      </p:sp>
      <p:sp>
        <p:nvSpPr>
          <p:cNvPr id="114" name="Card"/>
          <p:cNvSpPr/>
          <p:nvPr/>
        </p:nvSpPr>
        <p:spPr>
          <a:xfrm>
            <a:off x="8251920" y="2360000"/>
            <a:ext cx="3300000" cy="2120000"/>
          </a:xfrm>
          <a:prstGeom prst="roundRect">
            <a:avLst>
              <a:gd name="adj" fmla="val 4865"/>
            </a:avLst>
          </a:prstGeom>
          <a:solidFill>
            <a:srgbClr val="1F9BD8"/>
          </a:solidFill>
          <a:ln w="19050">
            <a:solidFill>
              <a:srgbClr val="1F9BD8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15" name="Text"/>
          <p:cNvSpPr/>
          <p:nvPr/>
        </p:nvSpPr>
        <p:spPr>
          <a:xfrm>
            <a:off x="8511920" y="2530000"/>
            <a:ext cx="278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950" b="1" kern="0" spc="180" dirty="0">
                <a:solidFill>
                  <a:srgbClr val="CFE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</a:t>
            </a:r>
          </a:p>
        </p:txBody>
      </p:sp>
      <p:sp>
        <p:nvSpPr>
          <p:cNvPr id="116" name="Text"/>
          <p:cNvSpPr/>
          <p:nvPr/>
        </p:nvSpPr>
        <p:spPr>
          <a:xfrm>
            <a:off x="8511920" y="2810000"/>
            <a:ext cx="278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600" b="1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ML-сервис</a:t>
            </a:r>
          </a:p>
        </p:txBody>
      </p:sp>
      <p:sp>
        <p:nvSpPr>
          <p:cNvPr id="117" name="Text"/>
          <p:cNvSpPr/>
          <p:nvPr/>
        </p:nvSpPr>
        <p:spPr>
          <a:xfrm>
            <a:off x="8511920" y="3220000"/>
            <a:ext cx="27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100" kern="0" dirty="0">
                <a:solidFill>
                  <a:srgbClr val="DC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нейросеть · ONNX</a:t>
            </a:r>
          </a:p>
        </p:txBody>
      </p:sp>
      <p:sp>
        <p:nvSpPr>
          <p:cNvPr id="118" name="Text"/>
          <p:cNvSpPr/>
          <p:nvPr/>
        </p:nvSpPr>
        <p:spPr>
          <a:xfrm>
            <a:off x="8511920" y="3580000"/>
            <a:ext cx="27800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ru-RU" sz="1000" kern="0" dirty="0">
                <a:solidFill>
                  <a:srgbClr val="E6F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определение архетипа</a:t>
            </a:r>
          </a:p>
          <a:p>
            <a:pPr marL="0" indent="0" algn="l">
              <a:buNone/>
            </a:pPr>
            <a:r>
              <a:rPr lang="ru-RU" sz="1000" kern="0" dirty="0">
                <a:solidFill>
                  <a:srgbClr val="E6F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расчёт параметров адаптации</a:t>
            </a:r>
          </a:p>
          <a:p>
            <a:pPr marL="0" indent="0" algn="l">
              <a:buNone/>
            </a:pPr>
            <a:r>
              <a:rPr lang="ru-RU" sz="1000" kern="0" dirty="0">
                <a:solidFill>
                  <a:srgbClr val="E6F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обучение на данных</a:t>
            </a:r>
          </a:p>
        </p:txBody>
      </p:sp>
      <p:sp>
        <p:nvSpPr>
          <p:cNvPr id="119" name="Text"/>
          <p:cNvSpPr/>
          <p:nvPr/>
        </p:nvSpPr>
        <p:spPr>
          <a:xfrm>
            <a:off x="4013040" y="3220000"/>
            <a:ext cx="360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7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</a:p>
        </p:txBody>
      </p:sp>
      <p:sp>
        <p:nvSpPr>
          <p:cNvPr id="121" name="Text"/>
          <p:cNvSpPr/>
          <p:nvPr/>
        </p:nvSpPr>
        <p:spPr>
          <a:xfrm>
            <a:off x="7818960" y="3220000"/>
            <a:ext cx="360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7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</a:p>
        </p:txBody>
      </p:sp>
      <p:sp>
        <p:nvSpPr>
          <p:cNvPr id="123" name="Card"/>
          <p:cNvSpPr/>
          <p:nvPr/>
        </p:nvSpPr>
        <p:spPr>
          <a:xfrm>
            <a:off x="640080" y="4680000"/>
            <a:ext cx="10911840" cy="580000"/>
          </a:xfrm>
          <a:prstGeom prst="roundRect">
            <a:avLst>
              <a:gd name="adj" fmla="val 8000"/>
            </a:avLst>
          </a:prstGeom>
          <a:solidFill>
            <a:srgbClr val="EAF6FC"/>
          </a:solidFill>
          <a:ln w="12700">
            <a:solidFill>
              <a:srgbClr val="CFE6F4"/>
            </a:solidFill>
            <a:prstDash val="solid"/>
          </a:ln>
        </p:spPr>
      </p:sp>
      <p:sp>
        <p:nvSpPr>
          <p:cNvPr id="124" name="Text"/>
          <p:cNvSpPr/>
          <p:nvPr/>
        </p:nvSpPr>
        <p:spPr>
          <a:xfrm>
            <a:off x="940080" y="4680000"/>
            <a:ext cx="10311840" cy="5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100" b="1" kern="0" dirty="0">
                <a:solidFill>
                  <a:srgbClr val="1571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Адаптация возвращается в игру в ответе сервера:  </a:t>
            </a:r>
            <a:r>
              <a:rPr lang="ru-RU" sz="110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сложность · плотность врагов · множитель добычи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Место ML-сервиса в общей системе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3246120" cy="1828800"/>
          </a:xfrm>
          <a:prstGeom prst="roundRect">
            <a:avLst>
              <a:gd name="adj" fmla="val 4500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96112" y="235915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gamep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" y="252923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96112" y="3017520"/>
            <a:ext cx="2734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4</a:t>
            </a:r>
            <a:endParaRPr lang="en-US" sz="14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analytics_plugin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96112" y="3547872"/>
            <a:ext cx="2734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событий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941064" y="2880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453128" y="2103120"/>
            <a:ext cx="3246120" cy="1828800"/>
          </a:xfrm>
          <a:prstGeom prst="roundRect">
            <a:avLst>
              <a:gd name="adj" fmla="val 4500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09160" y="235915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9238" y="2529230"/>
            <a:ext cx="226771" cy="22677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709160" y="3017520"/>
            <a:ext cx="2734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709160" y="3547872"/>
            <a:ext cx="2734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build_features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754112" y="2880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8266176" y="2103120"/>
            <a:ext cx="3246120" cy="1828800"/>
          </a:xfrm>
          <a:prstGeom prst="roundRect">
            <a:avLst>
              <a:gd name="adj" fmla="val 4500"/>
            </a:avLst>
          </a:prstGeom>
          <a:solidFill>
            <a:srgbClr val="1F9BD8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522208" y="2359152"/>
            <a:ext cx="566928" cy="566928"/>
          </a:xfrm>
          <a:prstGeom prst="ellipse">
            <a:avLst/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1" name="Image 2" descr="icons/brain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2286" y="2529230"/>
            <a:ext cx="226771" cy="22677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522208" y="3017520"/>
            <a:ext cx="2734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ML-service</a:t>
            </a:r>
            <a:endParaRPr lang="en-US" sz="14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ONNX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522208" y="3547872"/>
            <a:ext cx="2734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 + адаптация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640080" y="41605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adaptation (difficulty · enemy_density · loot_multiplier)  возвращается игре в ответе ingest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40080" y="4709160"/>
            <a:ext cx="10911535" cy="1097280"/>
          </a:xfrm>
          <a:prstGeom prst="roundRect">
            <a:avLst>
              <a:gd name="adj" fmla="val 7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6" name="Text 21"/>
          <p:cNvSpPr/>
          <p:nvPr/>
        </p:nvSpPr>
        <p:spPr>
          <a:xfrm>
            <a:off x="914400" y="48646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Cloud-only:  </a:t>
            </a: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живёт только в ML-service. Локального инференса на устройстве игрока нет — это упрощает обновление модели и не нагружает клиент. Backend — единственный клиент ML для /predict.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НЕЙРОННАЯ МОДЕЛЬ · 1/3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 и обоснование выбора ML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задачи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2395728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Многоклассовая классификация: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последовательность событий сессии → один из архетипов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Признаки: </a:t>
            </a: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частоты событий, time_sec, deaths, hints_used, score — с весами critical points из профиля игры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Классы: </a:t>
            </a: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 · achiever · socializer · killer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0" y="1783080"/>
            <a:ext cx="5150815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20256" y="207568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2" name="Image 0" descr="icons/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2240280"/>
            <a:ext cx="219456" cy="21945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360920" y="196596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не масштабируются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360920" y="2313432"/>
            <a:ext cx="4053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ручные if-else по метрикам быстро становятся неподдерживаемыми при росте числа событий и архетипов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00800" y="3154680"/>
            <a:ext cx="5150815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620256" y="344728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7" name="Image 1" descr="icons/b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3611880"/>
            <a:ext cx="219456" cy="21945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360920" y="333756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ловит динамику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7360920" y="3685032"/>
            <a:ext cx="4053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 определяется порядком и сочетанием действий, а не одним порогом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400800" y="4526280"/>
            <a:ext cx="5150815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620256" y="481888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2" name="Image 2" descr="icons/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4983480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360920" y="470916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Дообучение на данных</a:t>
            </a:r>
            <a:endParaRPr lang="en-US" sz="1450" dirty="0"/>
          </a:p>
        </p:txBody>
      </p:sp>
      <p:sp>
        <p:nvSpPr>
          <p:cNvPr id="24" name="Text 19"/>
          <p:cNvSpPr/>
          <p:nvPr/>
        </p:nvSpPr>
        <p:spPr>
          <a:xfrm>
            <a:off x="7360920" y="5056632"/>
            <a:ext cx="4053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улучшается по мере накопления реальной телеметрии в Postgres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НЕЙРОННАЯ МОДЕЛЬ · 2/3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Сравнение подходов и выбор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2891685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87452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12191" y="1874520"/>
            <a:ext cx="182880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8495" y="18745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Точность*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340991" y="1874520"/>
            <a:ext cx="210312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7295" y="187452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Данных нужно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444111" y="1874520"/>
            <a:ext cx="173736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90415" y="187452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181471" y="1874520"/>
            <a:ext cx="201168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7775" y="18745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Объяснимость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2587752"/>
            <a:ext cx="289168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2587752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Жёсткие правила (if-else)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512191" y="2587752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8495" y="258775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низкая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340991" y="2587752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7295" y="2587752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444111" y="2587752"/>
            <a:ext cx="1737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90415" y="258775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мгновенно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181471" y="2587752"/>
            <a:ext cx="2011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7775" y="258775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3300984"/>
            <a:ext cx="289168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6384" y="3300984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(baseline)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512191" y="3300984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8495" y="330098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хорошая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340991" y="3300984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7295" y="3300984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сотни сессий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444111" y="3300984"/>
            <a:ext cx="1737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590415" y="330098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 мс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181471" y="3300984"/>
            <a:ext cx="2011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27775" y="3300984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" y="4014216"/>
            <a:ext cx="2891685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6384" y="4014216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(выбрана)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3512191" y="4014216"/>
            <a:ext cx="182880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8495" y="401421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340991" y="4014216"/>
            <a:ext cx="210312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7295" y="4014216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тысячи сессий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7444111" y="4014216"/>
            <a:ext cx="173736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590415" y="4014216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десятки мс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9181471" y="4014216"/>
            <a:ext cx="201168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327775" y="4014216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низкая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4837176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на синтетических + seed-данных проекта; точная оценка — по мере накопления реальной телеметрии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40080" y="507492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914400" y="5138928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Выбор: LSTM (PyTorch → ONNX).  </a:t>
            </a: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Учитывает последовательность действий игрока, а не только агрегаты, — точнее распознаёт стиль. Random Forest остаётся быстрым baseline для холодного старта.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НЕЙРОННАЯ МОДЕЛЬ · 3/3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Строение модели и работа инференса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59536" y="215798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42" y="2317090"/>
            <a:ext cx="212141" cy="21214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59536" y="279806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сессии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59536" y="316382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батч из Postgres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200400" y="2468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474720" y="192024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694176" y="215798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3282" y="2317090"/>
            <a:ext cx="212141" cy="21214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694176" y="279806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build_features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3694176" y="316382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 по feature_order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6035040" y="2468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309360" y="192024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1F9BD8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528816" y="2157984"/>
            <a:ext cx="530352" cy="530352"/>
          </a:xfrm>
          <a:prstGeom prst="ellipse">
            <a:avLst/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1" name="Image 2" descr="icons/brain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7922" y="2317090"/>
            <a:ext cx="212141" cy="21214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528816" y="279806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(ONNX)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528816" y="316382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onnxruntime, CPU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8869680" y="2468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25" name="Shape 20"/>
          <p:cNvSpPr/>
          <p:nvPr/>
        </p:nvSpPr>
        <p:spPr>
          <a:xfrm>
            <a:off x="9144000" y="192024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363456" y="215798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7" name="Image 3" descr="icons/slid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2562" y="2317090"/>
            <a:ext cx="212141" cy="212141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363456" y="279806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 + adaptation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9363456" y="316382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confidence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640080" y="3886200"/>
            <a:ext cx="52120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877824" y="41148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32" name="Image 4" descr="icons/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2416" y="4279392"/>
            <a:ext cx="219456" cy="219456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600200" y="40416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Согласованность признаков</a:t>
            </a:r>
            <a:endParaRPr lang="en-US" sz="1450" dirty="0"/>
          </a:p>
        </p:txBody>
      </p:sp>
      <p:sp>
        <p:nvSpPr>
          <p:cNvPr id="34" name="Text 27"/>
          <p:cNvSpPr/>
          <p:nvPr/>
        </p:nvSpPr>
        <p:spPr>
          <a:xfrm>
            <a:off x="1600200" y="4407408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feature_order из model_meta.json совпадает с critical_points профиля; отсутствующие признаки → 0 с предупреждением</a:t>
            </a:r>
            <a:endParaRPr lang="en-US" sz="1200" dirty="0"/>
          </a:p>
        </p:txBody>
      </p:sp>
      <p:sp>
        <p:nvSpPr>
          <p:cNvPr id="35" name="Shape 28"/>
          <p:cNvSpPr/>
          <p:nvPr/>
        </p:nvSpPr>
        <p:spPr>
          <a:xfrm>
            <a:off x="6080760" y="3886200"/>
            <a:ext cx="52120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6318504" y="41148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37" name="Image 5" descr="icons/shiel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3096" y="4279392"/>
            <a:ext cx="219456" cy="219456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7040880" y="40416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Надёжность</a:t>
            </a:r>
            <a:endParaRPr lang="en-US" sz="1450" dirty="0"/>
          </a:p>
        </p:txBody>
      </p:sp>
      <p:sp>
        <p:nvSpPr>
          <p:cNvPr id="39" name="Text 31"/>
          <p:cNvSpPr/>
          <p:nvPr/>
        </p:nvSpPr>
        <p:spPr>
          <a:xfrm>
            <a:off x="7040880" y="4407408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ONNX не загружен — fallback-эвристика, сервис не падает (model_version = ml-heuristic)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МОДЕЛИ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Обучение: от телеметрии к новой версии ONNX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066544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066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554480" y="2066544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1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2203704"/>
            <a:ext cx="182880" cy="1828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40280" y="195681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данных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074920" y="1938528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и предсказания берутся из Postgres; seed-скрипт даёт 1000 размеченных сессий для холодного старта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2852928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77824" y="3090672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16" name="Text 13"/>
          <p:cNvSpPr/>
          <p:nvPr/>
        </p:nvSpPr>
        <p:spPr>
          <a:xfrm>
            <a:off x="877824" y="3090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54480" y="3090672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8" name="Image 1" descr="icons/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" y="3227832"/>
            <a:ext cx="182880" cy="1828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240280" y="298094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5074920" y="2962656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build_features по каждой сессии + метка архетипа (из predictions или эвристики)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3877056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77824" y="4114800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23" name="Text 19"/>
          <p:cNvSpPr/>
          <p:nvPr/>
        </p:nvSpPr>
        <p:spPr>
          <a:xfrm>
            <a:off x="877824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1554480" y="4114800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5" name="Image 2" descr="icons/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1640" y="4251960"/>
            <a:ext cx="182880" cy="18288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2240280" y="400507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и экспорт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5074920" y="3986784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LSTM → torch.onnx → classifier.onnx + model_meta.json (feature_order, archetypes)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40080" y="4901184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77824" y="5138928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30" name="Text 25"/>
          <p:cNvSpPr/>
          <p:nvPr/>
        </p:nvSpPr>
        <p:spPr>
          <a:xfrm>
            <a:off x="877824" y="5138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Shape 26"/>
          <p:cNvSpPr/>
          <p:nvPr/>
        </p:nvSpPr>
        <p:spPr>
          <a:xfrm>
            <a:off x="1554480" y="5138928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32" name="Image 3" descr="icons/fl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1640" y="5276088"/>
            <a:ext cx="182880" cy="18288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2240280" y="50292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Hot-reload</a:t>
            </a:r>
            <a:endParaRPr lang="en-US" sz="1450" dirty="0"/>
          </a:p>
        </p:txBody>
      </p:sp>
      <p:sp>
        <p:nvSpPr>
          <p:cNvPr id="34" name="Text 28"/>
          <p:cNvSpPr/>
          <p:nvPr/>
        </p:nvSpPr>
        <p:spPr>
          <a:xfrm>
            <a:off x="5074920" y="5010912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/train обновляет модель; движок перезагружается без пересборки контейнера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Реализация модели и встраивание в проект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943600" cy="4023360"/>
          </a:xfrm>
          <a:prstGeom prst="roundRect">
            <a:avLst>
              <a:gd name="adj" fmla="val 2045"/>
            </a:avLst>
          </a:prstGeom>
          <a:solidFill>
            <a:srgbClr val="0E2A3A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783080"/>
            <a:ext cx="5943600" cy="4023360"/>
          </a:xfrm>
          <a:prstGeom prst="roundRect">
            <a:avLst>
              <a:gd name="adj" fmla="val 2273"/>
            </a:avLst>
          </a:prstGeom>
          <a:solidFill>
            <a:srgbClr val="0E2A3A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32688" y="199339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  POST /predict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2688" y="2432304"/>
            <a:ext cx="5394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"session_id": "uuid",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"player_id": "player_1",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"features": { "time_sec": 120.0,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"deaths": 2.0 },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"archetypes": ["explorer",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"achiever","socializer","killer"]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predicted_archetype, confidence,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recommended_adaptation, model_version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995160" y="1783080"/>
            <a:ext cx="455645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214616" y="207568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3" name="Image 0" descr="icons/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3722" y="2234794"/>
            <a:ext cx="212141" cy="212141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909560" y="19659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микросервис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909560" y="231343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ML-service в Docker Compose, порт 8001; backend ходит по HTTP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995160" y="3154680"/>
            <a:ext cx="455645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214616" y="344728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8" name="Image 1" descr="icons/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3722" y="3606394"/>
            <a:ext cx="212141" cy="212141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909560" y="33375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 каждые N событий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7909560" y="368503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предсказание раз в bootstrap_actions событий, а не однократно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995160" y="4526280"/>
            <a:ext cx="455645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214616" y="481888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3" name="Image 2" descr="icons/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3722" y="4977994"/>
            <a:ext cx="212141" cy="212141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909560" y="47091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Связка с backend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7909560" y="505663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app/services/ml_client.py → /predict; результат в ответе /telemetry/ingest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ЗАДЕЛЫ НА БУДУЩЕЕ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Заделы на будущее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03911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14" y="220919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64208" y="1947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Двунаправленный LSTM / Transformer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64208" y="231343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усиление модели на длинных последовательностях по мере накопления реальной телеметрии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59536" y="331927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" y="3489350"/>
            <a:ext cx="226771" cy="22677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64208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признаков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1664208" y="35935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строгая проверка features по feature_order профиля игры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34340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9536" y="459943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slid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614" y="4769510"/>
            <a:ext cx="226771" cy="22677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64208" y="4507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качества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64208" y="48737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latency /predict, fallback-rate, мониторинг версии модели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783080"/>
            <a:ext cx="4785055" cy="4160520"/>
          </a:xfrm>
          <a:prstGeom prst="roundRect">
            <a:avLst>
              <a:gd name="adj" fmla="val 2198"/>
            </a:avLst>
          </a:prstGeom>
          <a:solidFill>
            <a:srgbClr val="0B5E88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6766560" y="20574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ПРОЕКТА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924648" y="2468880"/>
            <a:ext cx="24688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</p:spPr>
      </p:sp>
      <p:pic>
        <p:nvPicPr>
          <p:cNvPr id="25" name="Image 3" descr="qr_g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0952" y="2615184"/>
            <a:ext cx="2176272" cy="21762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66560" y="507492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github.com/Antizi/diplom-Game_Plugs_Ai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766560" y="54406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 телефона на QR-код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E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15544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15544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20116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20116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24688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4688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688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2926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2926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3383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3383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4231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Нейросетевая модель прогнозирует</a:t>
            </a:r>
            <a:endParaRPr lang="en-US" sz="34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поведение — игра адаптируется сама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640080" y="3977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в ONNX на отдельном сервисе · обучение на данных из Postgres · надёжный fallback и hot-reload модели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4983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Изотов Антон Николаевич  ·  Team-Lead, ML-инженер</a:t>
            </a:r>
            <a:r>
              <a:rPr lang="en-US" sz="14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Группа МВИ-122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Беспалов М. Е., к.т.н., доцент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1697</Words>
  <Application>Microsoft Office PowerPoint</Application>
  <PresentationFormat>Широкоэкранный</PresentationFormat>
  <Paragraphs>192</Paragraphs>
  <Slides>11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и интеграция нейросетевой модели для прогнозирования поведения пользователя в адаптивной игровой системе</dc:title>
  <dc:subject>PptxGenJS Presentation</dc:subject>
  <dc:creator>Изотов Антон Николаевич</dc:creator>
  <cp:lastModifiedBy>fuller276</cp:lastModifiedBy>
  <cp:revision>3</cp:revision>
  <dcterms:created xsi:type="dcterms:W3CDTF">2026-06-15T11:15:39Z</dcterms:created>
  <dcterms:modified xsi:type="dcterms:W3CDTF">2026-06-15T13:12:06Z</dcterms:modified>
</cp:coreProperties>
</file>