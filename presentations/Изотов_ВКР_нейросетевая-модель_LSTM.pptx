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отвечал за ML-часть проекта. Задача моего сервиса — по поведению игрока в сессии определить его архетип (исследователь, достигатор, социализатор, киллер) и вернуть рекомендации по адаптации сложности. Дальше расскажу, зачем это нужно проекту, какую модель я выбрал и почему, как она устроена и как встроена в общую систему.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проблема, которую мы решаем: единая сложность не подходит всем игрокам. Архетип — компактная метрика стиля игрока, к которой привязаны все системы баланса. Это вход для адаптации: по архетипу мы выдаём конкретные параметры difficulty, enemy_density, loot_multiplier. И, что важно для всего проекта, — разработчик игры не пишет ML-код, он лишь описывает события и архетипы, а считает всё сервер.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общая архитектура. Godot-плагин собирает события и шлёт их на backend. Backend строит вектор признаков и обращается к моему ML-сервису по HTTP POST /predict. Сервис возвращает архетип и параметры адаптации, которые backend кладёт в ответ, а игра применяет в рантайме. Принципиальное решение — cloud-only: модель только на сервере, на клиенте инференса нет. Это упрощает обновление модели и не нагружает игру.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Формально это задача многоклассовой классификации: на вход вектор признаков сессии, на выход — один из четырёх архетипов. Признаки строятся из частот событий и числовых метрик вроде времени, смертей, подсказок, с весами критических точек из профиля игры. Почему ML, а не правила: жёсткие if-else не масштабируются, архетип определяется комбинацией признаков, а модель к тому же дообучается на накопленных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сравнил три подхода. Жёсткие правила объяснимы, но неточны и не масштабируются. LSTM потенциально точнее, но требует тысяч размеченных сессий и медленнее. Random Forest даёт лучший баланс на старте проекта: приемлемая точность уже на сотнях сессий, инференс быстрее пяти миллисекунд, экспортируется в ONNX. Поэтому в продакшене сейчас Random Forest, а LSTM лежит в research как кандидат на замену, когда накопим достаточно реальных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работает инференс. События сессии из Postgres превращаются в вектор признаков строго по feature_order, затем Random Forest в формате ONNX через onnxruntime на CPU выдаёт класс и вероятности. Из класса получаем архетип, из вероятностей — confidence, и подбираем параметры адаптации. Два инженерных акцента: согласованность признаков — порядок фичей в модели жёстко совпадает с критическими точками профиля игры; и надёжность — если ONNX почему-то не загрузился, сервис не падает, а отвечает эвристикой.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— как модель обучается. Данные берём из Postgres: реальные события и ранее сделанные предсказания, а для холодного старта есть seed-скрипт на тысячу размеченных сессий. По каждой сессии строим признаки и метку, обучаем RandomForest в sklearn и экспортируем в ONNX вместе с метаданными — порядком признаков и списком архетипов. Запускается это эндпоинтом POST /train, после чего модель перезагружается на горячую, без пересборки контейнера. Так версия модели обновляется прямо в работающем сервисе.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Интеграция. Мой код — это отдельный микросервис в Docker Compose на порту 8001. Backend общается с ним по HTTP через ml_client.py: на эндпоинт /predict уходит session_id, player_id, словарь признаков и список архетипов, обратно приходит архетип, уверенность, параметры адаптации и версия модели. Вызов происходит не один раз, а каждые bootstrap_actions событий, так что адаптация обновляется по ходу сессии. Результат backend кладёт прямо в ответ на /telemetry/ingest, и плагин эмитит сигнал в игру.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планах: заменить Random Forest на LSTM, когда наберём достаточно реальных сессий — это лежит готовым прототипом в research. Добавить строгую валидацию входных признаков по профилю игры. И завести метрики качества — латентность предсказаний, долю срабатываний fallback, мониторинг версии модели. Весь код — в репозитории по QR-коду, папка 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ML-сервис по телеметрии определяет архетип игрока и возвращает параметры адаптации. В основе — Random Forest в формате ONNX, вынесенный в отдельный сервис, с обучением на данных из Postgres, надёжным fallback и горячей перезагрузкой модели. Спасибо за внимание,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heme_gamepad.png"/><Relationship Id="rId3" Type="http://schemas.openxmlformats.org/officeDocument/2006/relationships/image" Target="../media/scheme_server.png"/><Relationship Id="rId4" Type="http://schemas.openxmlformats.org/officeDocument/2006/relationships/image" Target="../media/scheme_brain.png"/><Relationship Id="rId5" Type="http://schemas.openxmlformats.org/officeDocument/2006/relationships/image" Target="../media/scheme_db.png"/><Relationship Id="rId6" Type="http://schemas.openxmlformats.org/officeDocument/2006/relationships/image" Target="../media/scheme_flow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84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556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1556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556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12880" y="45720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12880" y="841248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12880" y="1225296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·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1417320"/>
            <a:ext cx="10927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и интеграция нейросетевой модели для прогнозирования поведения пользователя в адаптивной игровой системе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5532120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5276088"/>
            <a:ext cx="603504" cy="603504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8" name="Image 0" descr="icons/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" y="5457139"/>
            <a:ext cx="241402" cy="24140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78308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783080" y="53492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Изотов Антон Николаевич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783080" y="57607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МВИ-122  ·  Team-Lead, ML-инженер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537960" y="4892040"/>
            <a:ext cx="5013655" cy="1371600"/>
          </a:xfrm>
          <a:prstGeom prst="roundRect">
            <a:avLst>
              <a:gd name="adj" fmla="val 6667"/>
            </a:avLst>
          </a:prstGeom>
          <a:solidFill>
            <a:srgbClr val="0E6E9E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30568" y="507492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830568" y="5394960"/>
            <a:ext cx="4465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Беспалов М. Е.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к.т.н., доцент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Роль метрики «архетип игрока» в проекте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9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2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0" name="Image 0" descr="icons/us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38950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39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Сегментация игроков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96112" y="43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архетипа Bartle вместо «средней» сложности для всех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52544" y="29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08576" y="32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sl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3389504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8576" y="39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для адаптации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08576" y="43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→ difficulty, enemy_density, loot_multiplier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65008" y="2968880"/>
            <a:ext cx="3474720" cy="1828800"/>
          </a:xfrm>
          <a:prstGeom prst="roundRect">
            <a:avLst>
              <a:gd name="adj" fmla="val 4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3224912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0" name="Image 2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338950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901568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1040" y="430390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 под стиль игрока снижает отток и скуку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Место ML-сервиса в общей системе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235915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gamep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529230"/>
            <a:ext cx="226771" cy="2267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301752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analytics_plugin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96112" y="35478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событий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941064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453128" y="21031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235915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238" y="2529230"/>
            <a:ext cx="226771" cy="22677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301752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709160" y="35478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754112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8266176" y="2103120"/>
            <a:ext cx="3246120" cy="1828800"/>
          </a:xfrm>
          <a:prstGeom prst="roundRect">
            <a:avLst>
              <a:gd name="adj" fmla="val 4500"/>
            </a:avLst>
          </a:prstGeom>
          <a:solidFill>
            <a:srgbClr val="1F9BD8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22208" y="2359152"/>
            <a:ext cx="566928" cy="56692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1" name="Image 2" descr="icons/brain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286" y="2529230"/>
            <a:ext cx="226771" cy="22677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22208" y="301752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ML-service</a:t>
            </a:r>
            <a:endParaRPr lang="en-US" sz="14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ONNX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522208" y="35478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+ адаптация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40080" y="41605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adaptation (difficulty · enemy_density · loot_multiplier)  возвращается игре в ответе ingest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4709160"/>
            <a:ext cx="10911535" cy="1097280"/>
          </a:xfrm>
          <a:prstGeom prst="roundRect">
            <a:avLst>
              <a:gd name="adj" fmla="val 75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4400" y="48646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Cloud-only:  </a:t>
            </a:r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живёт только в ML-service. Локального инференса на устройстве игрока нет — это упрощает обновление модели и не нагружает клиент. Backend — единственный клиент ML для /predict.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МОДЕЛЬ · 1/3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и обоснование выбора ML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Постановка задачи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Многоклассовая классификация: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последовательность событий сессии → один из архетипов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Признаки: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частоты событий, time_sec, deaths, hints_used, score — с весами critical points из профиля игры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Классы: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· achiever · socializer · killer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515081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0256" y="207568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2" name="Image 0" descr="icons/slid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2240280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60920" y="196596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не масштабируются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360920" y="231343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ручные if-else по метрикам быстро становятся неподдерживаемыми при росте числа событий и архетипов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0" y="3154680"/>
            <a:ext cx="515081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20256" y="344728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7" name="Image 1" descr="icons/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361188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333756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ловит динамику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360920" y="368503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определяется порядком и сочетанием действий, а не одним порогом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00800" y="4526280"/>
            <a:ext cx="5150815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620256" y="4818888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2" name="Image 2" descr="icons/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983480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60920" y="470916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на данных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7360920" y="505663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улучшается по мере накопления реальной телеметрии в Postgres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МОДЕЛЬ · 2/3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подходов и выбор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11480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8745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182880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8745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Точность*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1874520"/>
            <a:ext cx="210312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9984" y="18745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 нужно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0" y="1874520"/>
            <a:ext cx="173736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33104" y="18745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424160" y="1874520"/>
            <a:ext cx="2011680" cy="713232"/>
          </a:xfrm>
          <a:prstGeom prst="rect">
            <a:avLst/>
          </a:prstGeom>
          <a:solidFill>
            <a:srgbClr val="0E7FB8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70464" y="18745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Объяснимость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58775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25877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Жёсткие правила (if-else)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58775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258775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2587752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25877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0" y="2587752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3104" y="258775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мгновенно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424160" y="2587752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70464" y="258775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330098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330098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(baseline)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330098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3300984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83680" y="3300984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9984" y="33009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сессий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686800" y="3300984"/>
            <a:ext cx="1737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33104" y="330098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мс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424160" y="3300984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70464" y="330098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4014216"/>
            <a:ext cx="411480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401421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(выбрана)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754880" y="4014216"/>
            <a:ext cx="182880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4014216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583680" y="4014216"/>
            <a:ext cx="210312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401421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сессий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686800" y="4014216"/>
            <a:ext cx="173736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33104" y="401421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мс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10424160" y="4014216"/>
            <a:ext cx="2011680" cy="713232"/>
          </a:xfrm>
          <a:prstGeom prst="rect">
            <a:avLst/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70464" y="401421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4837176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на синтетических + seed-данных проекта; точная оценка — по мере накопления реальной телеметрии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" y="5074920"/>
            <a:ext cx="10911535" cy="749808"/>
          </a:xfrm>
          <a:prstGeom prst="roundRect">
            <a:avLst>
              <a:gd name="adj" fmla="val 10976"/>
            </a:avLst>
          </a:prstGeom>
          <a:solidFill>
            <a:srgbClr val="EAF6FC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4400" y="5138928"/>
            <a:ext cx="103628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Выбор: LSTM (PyTorch → ONNX).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Учитывает последовательность действий игрока, а не только агрегаты, — точнее распознаёт стиль. Random Forest остаётся быстрым baseline для холодного старта.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МОДЕЛЬ · 3/3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Строение модели и работа инференса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215798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642" y="2317090"/>
            <a:ext cx="212141" cy="21214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9536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сессии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9536" y="3163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 из Postgres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74720" y="1920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94176" y="215798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5" name="Image 1" descr="icons/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282" y="2317090"/>
            <a:ext cx="212141" cy="21214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94176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94176" y="3163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по feature_order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03504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309360" y="1920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1F9BD8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28816" y="2157984"/>
            <a:ext cx="530352" cy="53035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1" name="Image 2" descr="icons/brain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922" y="2317090"/>
            <a:ext cx="212141" cy="21214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28816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(ONNX)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528816" y="3163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onnxruntime, CPU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86968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9144000" y="1920240"/>
            <a:ext cx="2542032" cy="1691640"/>
          </a:xfrm>
          <a:prstGeom prst="roundRect">
            <a:avLst>
              <a:gd name="adj" fmla="val 4865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63456" y="2157984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7" name="Image 3" descr="icons/sli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562" y="2317090"/>
            <a:ext cx="212141" cy="21214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63456" y="27980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+ adaptation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363456" y="3163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40080" y="388620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877824" y="411480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32" name="Image 4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279392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600200" y="4041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Согласованность признаков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1600200" y="4407408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feature_order из model_meta.json совпадает с critical_points профиля; отсутствующие признаки → 0 с предупреждением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080760" y="388620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18504" y="4114800"/>
            <a:ext cx="548640" cy="54864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37" name="Image 5" descr="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4279392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40880" y="4041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7040880" y="4407408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ONNX не загружен — fallback-эвристика, сервис не падает (model_version = ml-heuristic)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МОДЕЛИ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Обучение: от телеметрии к новой версии ONNX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" y="2066544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4480" y="2066544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1" name="Image 0" descr="icons/data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203704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40280" y="19568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074920" y="1938528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и предсказания берутся из Postgres; seed-скрипт даёт 1000 размеченных сессий для холодного старта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852928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77824" y="3090672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554480" y="3090672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8" name="Image 1" descr="icons/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3227832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240280" y="298094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5074920" y="2962656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build_features по каждой сессии + метка архетипа (из predictions или эвристики)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" y="3877056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77824" y="4114800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23" name="Text 19"/>
          <p:cNvSpPr/>
          <p:nvPr/>
        </p:nvSpPr>
        <p:spPr>
          <a:xfrm>
            <a:off x="87782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554480" y="4114800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5" name="Image 2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251960"/>
            <a:ext cx="182880" cy="1828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240280" y="4005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 экспорт</a:t>
            </a:r>
            <a:endParaRPr lang="en-US" sz="1450" dirty="0"/>
          </a:p>
        </p:txBody>
      </p:sp>
      <p:sp>
        <p:nvSpPr>
          <p:cNvPr id="27" name="Text 22"/>
          <p:cNvSpPr/>
          <p:nvPr/>
        </p:nvSpPr>
        <p:spPr>
          <a:xfrm>
            <a:off x="5074920" y="3986784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LSTM → torch.onnx → classifier.onnx + model_meta.json (feature_order, archetypes)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40080" y="4901184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77824" y="5138928"/>
            <a:ext cx="457200" cy="457200"/>
          </a:xfrm>
          <a:prstGeom prst="ellipse">
            <a:avLst/>
          </a:prstGeom>
          <a:solidFill>
            <a:srgbClr val="0E7FB8"/>
          </a:solidFill>
          <a:ln/>
        </p:spPr>
      </p:sp>
      <p:sp>
        <p:nvSpPr>
          <p:cNvPr id="30" name="Text 25"/>
          <p:cNvSpPr/>
          <p:nvPr/>
        </p:nvSpPr>
        <p:spPr>
          <a:xfrm>
            <a:off x="877824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554480" y="5138928"/>
            <a:ext cx="457200" cy="457200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32" name="Image 3" descr="icons/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5276088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2240280" y="5029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5074920" y="5010912"/>
            <a:ext cx="6248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/train обновляет модель; движок перезагружается без пересборки контейнера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Реализация модели и встраивание в проект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943600" cy="4023360"/>
          </a:xfrm>
          <a:prstGeom prst="roundRect">
            <a:avLst>
              <a:gd name="adj" fmla="val 2045"/>
            </a:avLst>
          </a:prstGeom>
          <a:solidFill>
            <a:srgbClr val="0E2A3A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783080"/>
            <a:ext cx="5943600" cy="4023360"/>
          </a:xfrm>
          <a:prstGeom prst="roundRect">
            <a:avLst>
              <a:gd name="adj" fmla="val 2273"/>
            </a:avLst>
          </a:prstGeom>
          <a:solidFill>
            <a:srgbClr val="0E2A3A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9933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 POST /predict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432304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"session_id": "uuid",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"player_id": "player_1",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"features": { "time_sec": 120.0,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"deaths": 2.0 },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"archetypes": ["explorer",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"achiever","socializer","killer"]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predicted_archetype, confidence,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C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recommended_adaptation, model_version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95160" y="1783080"/>
            <a:ext cx="455645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14616" y="2075688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3" name="Image 0" descr="icons/ser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3722" y="2234794"/>
            <a:ext cx="212141" cy="21214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09560" y="19659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микросервис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09560" y="231343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ML-service в Docker Compose, порт 8001; backend ходит по HTTP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95160" y="3154680"/>
            <a:ext cx="455645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214616" y="3447288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8" name="Image 1" descr="icons/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722" y="3606394"/>
            <a:ext cx="212141" cy="21214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909560" y="33375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 каждые N событий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909560" y="368503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раз в bootstrap_actions событий, а не однократно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995160" y="4526280"/>
            <a:ext cx="4556455" cy="1216152"/>
          </a:xfrm>
          <a:prstGeom prst="roundRect">
            <a:avLst>
              <a:gd name="adj" fmla="val 6767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14616" y="4818888"/>
            <a:ext cx="530352" cy="530352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23" name="Image 2" descr="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722" y="4977994"/>
            <a:ext cx="212141" cy="21214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09560" y="47091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с backend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909560" y="5056632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app/services/ml_client.py → /predict; результат в ответе /telemetry/ingest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0095" y="38404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C6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ЗАДЕЛЫ НА БУДУЩЕЕ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Заделы на будущее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03911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9" name="Image 0" descr="icons/net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209190"/>
            <a:ext cx="226771" cy="2267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Двунаправленный LSTM / Transformer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64208" y="23134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усиление модели на длинных последовательностях по мере накопления реальной телеметрии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06324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" y="331927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4" name="Image 1" descr="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3489350"/>
            <a:ext cx="226771" cy="2267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64208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признаков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664208" y="3593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строгая проверка features по feature_order профиля игры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434340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4FAFD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9536" y="4599432"/>
            <a:ext cx="566928" cy="566928"/>
          </a:xfrm>
          <a:prstGeom prst="ellipse">
            <a:avLst/>
          </a:prstGeom>
          <a:solidFill>
            <a:srgbClr val="1F9BD8"/>
          </a:solidFill>
          <a:ln/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9" name="Image 2" descr="icons/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4769510"/>
            <a:ext cx="226771" cy="22677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64208" y="4507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664208" y="487375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latency /predict, fallback-rate, мониторинг версии модели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66560" y="1783080"/>
            <a:ext cx="4785055" cy="4160520"/>
          </a:xfrm>
          <a:prstGeom prst="roundRect">
            <a:avLst>
              <a:gd name="adj" fmla="val 2198"/>
            </a:avLst>
          </a:prstGeom>
          <a:solidFill>
            <a:srgbClr val="0B5E88"/>
          </a:solidFill>
          <a:ln/>
          <a:effectLst>
            <a:outerShdw sx="100000" sy="100000" kx="0" ky="0" algn="bl" rotWithShape="0" blurRad="114300" dist="38100" dir="5400000">
              <a:srgbClr val="9FB6C4">
                <a:alpha val="2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766560" y="205740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924648" y="246888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pic>
        <p:nvPicPr>
          <p:cNvPr id="25" name="Image 3" descr="qr_g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952" y="2615184"/>
            <a:ext cx="2176272" cy="21762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507492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github.com/Antizi/diplom-Game_Plugs_Ai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766560" y="5440680"/>
            <a:ext cx="4785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Наведите камеру телефона на QR-код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5E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116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6" name="Shape 14"/>
          <p:cNvSpPr/>
          <p:nvPr/>
        </p:nvSpPr>
        <p:spPr>
          <a:xfrm>
            <a:off x="24688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19" name="Shape 17"/>
          <p:cNvSpPr/>
          <p:nvPr/>
        </p:nvSpPr>
        <p:spPr>
          <a:xfrm>
            <a:off x="29260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576072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612648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6492240"/>
            <a:ext cx="54864" cy="54864"/>
          </a:xfrm>
          <a:prstGeom prst="ellipse">
            <a:avLst/>
          </a:prstGeom>
          <a:solidFill>
            <a:srgbClr val="3E8FB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423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Нейросетевая модель прогнозирует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поведение — игра адаптируется сама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FE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в ONNX на отдельном сервисе · обучение на данных из Postgres · надёжный fallback и hot-reload модели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Изотов Антон Николаевич  ·  Team-Lead, ML-инженер</a:t>
            </a:r>
            <a:pPr indent="0" marL="0">
              <a:buNone/>
            </a:pPr>
            <a:r>
              <a:rPr lang="en-US" sz="140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Группа МВИ-122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Беспалов М. Е., к.т.н., доцент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t"/>
          <p:cNvSpPr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250" b="1" spc="25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ПРОЕКТА</a:t>
            </a:r>
          </a:p>
        </p:txBody>
      </p:sp>
      <p:sp>
        <p:nvSpPr>
          <p:cNvPr id="102" name="Txt"/>
          <p:cNvSpPr/>
          <p:nvPr/>
        </p:nvSpPr>
        <p:spPr>
          <a:xfrm>
            <a:off x="640080" y="749808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300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работает система</a:t>
            </a:r>
          </a:p>
        </p:txBody>
      </p:sp>
      <p:sp>
        <p:nvSpPr>
          <p:cNvPr id="103" name="R"/>
          <p:cNvSpPr/>
          <p:nvPr/>
        </p:nvSpPr>
        <p:spPr>
          <a:xfrm>
            <a:off x="3620000" y="2180000"/>
            <a:ext cx="7930000" cy="3060000"/>
          </a:xfrm>
          <a:prstGeom prst="roundRect">
            <a:avLst>
              <a:gd name="adj" fmla="val 3500"/>
            </a:avLst>
          </a:prstGeom>
          <a:solidFill>
            <a:srgbClr val="F7FBFD"/>
          </a:solidFill>
          <a:ln w="12700">
            <a:solidFill>
              <a:srgbClr val="D7E5EE"/>
            </a:solidFill>
          </a:ln>
        </p:spPr>
      </p:sp>
      <p:sp>
        <p:nvSpPr>
          <p:cNvPr id="104" name="Txt"/>
          <p:cNvSpPr/>
          <p:nvPr/>
        </p:nvSpPr>
        <p:spPr>
          <a:xfrm>
            <a:off x="3820000" y="2330000"/>
            <a:ext cx="3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1100" b="1" spc="200" kern="0" dirty="0">
                <a:solidFill>
                  <a:srgbClr val="1F9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</a:p>
        </p:txBody>
      </p:sp>
      <p:sp>
        <p:nvSpPr>
          <p:cNvPr id="105" name="R"/>
          <p:cNvSpPr/>
          <p:nvPr/>
        </p:nvSpPr>
        <p:spPr>
          <a:xfrm>
            <a:off x="8050000" y="2650000"/>
            <a:ext cx="2200000" cy="1520000"/>
          </a:xfrm>
          <a:prstGeom prst="roundRect">
            <a:avLst>
              <a:gd name="adj" fmla="val 9000"/>
            </a:avLst>
          </a:prstGeom>
          <a:solidFill>
            <a:srgbClr val="EAF6FC"/>
          </a:solidFill>
          <a:ln/>
        </p:spPr>
      </p:sp>
      <p:cxnSp>
        <p:nvCxnSpPr>
          <p:cNvPr id="106" name="cxn"/>
          <p:cNvCxnSpPr/>
          <p:nvPr/>
        </p:nvCxnSpPr>
        <p:spPr>
          <a:xfrm>
            <a:off x="2420000" y="3540000"/>
            <a:ext cx="2180000" cy="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07" name="cxn"/>
          <p:cNvCxnSpPr/>
          <p:nvPr/>
        </p:nvCxnSpPr>
        <p:spPr>
          <a:xfrm flipH="1">
            <a:off x="2420000" y="3880000"/>
            <a:ext cx="2180000" cy="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08" name="cxn"/>
          <p:cNvCxnSpPr/>
          <p:nvPr/>
        </p:nvCxnSpPr>
        <p:spPr>
          <a:xfrm flipV="1">
            <a:off x="5440000" y="320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09" name="cxn"/>
          <p:cNvCxnSpPr/>
          <p:nvPr/>
        </p:nvCxnSpPr>
        <p:spPr>
          <a:xfrm flipH="1">
            <a:off x="5440000" y="333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10" name="cxn"/>
          <p:cNvCxnSpPr/>
          <p:nvPr/>
        </p:nvCxnSpPr>
        <p:spPr>
          <a:xfrm>
            <a:off x="5440000" y="384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cxnSp>
        <p:nvCxnSpPr>
          <p:cNvPr id="111" name="cxn"/>
          <p:cNvCxnSpPr/>
          <p:nvPr/>
        </p:nvCxnSpPr>
        <p:spPr>
          <a:xfrm flipH="1" flipV="1">
            <a:off x="5440000" y="3960000"/>
            <a:ext cx="3330000" cy="340000"/>
          </a:xfrm>
          <a:prstGeom prst="straightConnector1">
            <a:avLst/>
          </a:prstGeom>
          <a:ln w="22225">
            <a:solidFill>
              <a:srgbClr val="1F9BD8"/>
            </a:solidFill>
            <a:tailEnd type="triangle" w="med" len="med"/>
          </a:ln>
        </p:spPr>
      </p:cxnSp>
      <p:sp>
        <p:nvSpPr>
          <p:cNvPr id="112" name="C"/>
          <p:cNvSpPr/>
          <p:nvPr/>
        </p:nvSpPr>
        <p:spPr>
          <a:xfrm>
            <a:off x="1468000" y="3268000"/>
            <a:ext cx="864000" cy="864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13" name="Icon" descr="icons/scheme_gamep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00" y="3504000"/>
            <a:ext cx="392000" cy="392000"/>
          </a:xfrm>
          <a:prstGeom prst="rect">
            <a:avLst/>
          </a:prstGeom>
        </p:spPr>
      </p:pic>
      <p:sp>
        <p:nvSpPr>
          <p:cNvPr id="114" name="Txt"/>
          <p:cNvSpPr/>
          <p:nvPr/>
        </p:nvSpPr>
        <p:spPr>
          <a:xfrm>
            <a:off x="600000" y="4172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Godot Engine</a:t>
            </a:r>
          </a:p>
        </p:txBody>
      </p:sp>
      <p:sp>
        <p:nvSpPr>
          <p:cNvPr id="115" name="Txt"/>
          <p:cNvSpPr/>
          <p:nvPr/>
        </p:nvSpPr>
        <p:spPr>
          <a:xfrm>
            <a:off x="600000" y="4462000"/>
            <a:ext cx="26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9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· игра</a:t>
            </a:r>
          </a:p>
        </p:txBody>
      </p:sp>
      <p:sp>
        <p:nvSpPr>
          <p:cNvPr id="116" name="C"/>
          <p:cNvSpPr/>
          <p:nvPr/>
        </p:nvSpPr>
        <p:spPr>
          <a:xfrm>
            <a:off x="4680000" y="3320000"/>
            <a:ext cx="760000" cy="760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17" name="Icon" descr="icons/scheme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000" y="3524000"/>
            <a:ext cx="352000" cy="352000"/>
          </a:xfrm>
          <a:prstGeom prst="rect">
            <a:avLst/>
          </a:prstGeom>
        </p:spPr>
      </p:pic>
      <p:sp>
        <p:nvSpPr>
          <p:cNvPr id="118" name="Txt"/>
          <p:cNvSpPr/>
          <p:nvPr/>
        </p:nvSpPr>
        <p:spPr>
          <a:xfrm>
            <a:off x="3760000" y="412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</a:p>
        </p:txBody>
      </p:sp>
      <p:sp>
        <p:nvSpPr>
          <p:cNvPr id="119" name="C"/>
          <p:cNvSpPr/>
          <p:nvPr/>
        </p:nvSpPr>
        <p:spPr>
          <a:xfrm>
            <a:off x="8770000" y="2770000"/>
            <a:ext cx="760000" cy="760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20" name="Icon" descr="icons/scheme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000" y="2974000"/>
            <a:ext cx="352000" cy="352000"/>
          </a:xfrm>
          <a:prstGeom prst="rect">
            <a:avLst/>
          </a:prstGeom>
        </p:spPr>
      </p:pic>
      <p:sp>
        <p:nvSpPr>
          <p:cNvPr id="121" name="Txt"/>
          <p:cNvSpPr/>
          <p:nvPr/>
        </p:nvSpPr>
        <p:spPr>
          <a:xfrm>
            <a:off x="7850000" y="357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0E7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ML-сервис</a:t>
            </a:r>
          </a:p>
        </p:txBody>
      </p:sp>
      <p:sp>
        <p:nvSpPr>
          <p:cNvPr id="122" name="C"/>
          <p:cNvSpPr/>
          <p:nvPr/>
        </p:nvSpPr>
        <p:spPr>
          <a:xfrm>
            <a:off x="8770000" y="3870000"/>
            <a:ext cx="760000" cy="760000"/>
          </a:xfrm>
          <a:prstGeom prst="ellipse">
            <a:avLst/>
          </a:prstGeom>
          <a:solidFill>
            <a:srgbClr val="1F9BD8"/>
          </a:solidFill>
          <a:ln w="12700">
            <a:solidFill>
              <a:srgbClr val="DCE6EC"/>
            </a:solidFill>
          </a:ln>
          <a:effectLst>
            <a:outerShdw sx="100000" sy="100000" kx="0" ky="0" algn="bl" rotWithShape="0" blurRad="88900" dist="25400" dir="5400000">
              <a:srgbClr val="B8C9D4">
                <a:alpha val="22000"/>
              </a:srgbClr>
            </a:outerShdw>
          </a:effectLst>
        </p:spPr>
      </p:sp>
      <p:pic>
        <p:nvPicPr>
          <p:cNvPr id="123" name="Icon" descr="icons/scheme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000" y="4074000"/>
            <a:ext cx="352000" cy="352000"/>
          </a:xfrm>
          <a:prstGeom prst="rect">
            <a:avLst/>
          </a:prstGeom>
        </p:spPr>
      </p:pic>
      <p:sp>
        <p:nvSpPr>
          <p:cNvPr id="124" name="Txt"/>
          <p:cNvSpPr/>
          <p:nvPr/>
        </p:nvSpPr>
        <p:spPr>
          <a:xfrm>
            <a:off x="7850000" y="4670000"/>
            <a:ext cx="2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ru-RU" sz="1250" b="1" kern="0" dirty="0">
                <a:solidFill>
                  <a:srgbClr val="11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</a:p>
        </p:txBody>
      </p:sp>
      <p:sp>
        <p:nvSpPr>
          <p:cNvPr id="125" name="Txt"/>
          <p:cNvSpPr/>
          <p:nvPr/>
        </p:nvSpPr>
        <p:spPr>
          <a:xfrm>
            <a:off x="2500000" y="330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телеметрия</a:t>
            </a:r>
          </a:p>
        </p:txBody>
      </p:sp>
      <p:sp>
        <p:nvSpPr>
          <p:cNvPr id="126" name="Txt"/>
          <p:cNvSpPr/>
          <p:nvPr/>
        </p:nvSpPr>
        <p:spPr>
          <a:xfrm>
            <a:off x="2500000" y="3930000"/>
            <a:ext cx="20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10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</a:t>
            </a:r>
          </a:p>
        </p:txBody>
      </p:sp>
      <p:sp>
        <p:nvSpPr>
          <p:cNvPr id="127" name="Txt"/>
          <p:cNvSpPr/>
          <p:nvPr/>
        </p:nvSpPr>
        <p:spPr>
          <a:xfrm>
            <a:off x="6250000" y="2840000"/>
            <a:ext cx="1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</a:p>
        </p:txBody>
      </p:sp>
      <p:sp>
        <p:nvSpPr>
          <p:cNvPr id="128" name="Txt"/>
          <p:cNvSpPr/>
          <p:nvPr/>
        </p:nvSpPr>
        <p:spPr>
          <a:xfrm>
            <a:off x="6250000" y="4400000"/>
            <a:ext cx="1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ru-RU" sz="95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интеграция нейросетевой модели для прогнозирования поведения пользователя в адаптивной игровой системе</dc:title>
  <dc:subject>PptxGenJS Presentation</dc:subject>
  <dc:creator>Изотов Антон Николаевич</dc:creator>
  <cp:lastModifiedBy>Изотов Антон Николаевич</cp:lastModifiedBy>
  <cp:revision>1</cp:revision>
  <dcterms:created xsi:type="dcterms:W3CDTF">2026-06-15T11:15:39Z</dcterms:created>
  <dcterms:modified xsi:type="dcterms:W3CDTF">2026-06-15T11:15:39Z</dcterms:modified>
</cp:coreProperties>
</file>