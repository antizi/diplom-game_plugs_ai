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601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делал клиентскую часть проекта — плагин для движка Godot. Его задача — дать разработчику игры простой инструмент: скопировал папку аддона, включил плагин, и игра начинает собирать телеметрию и получать адаптацию из облака. При этом разработчик не пишет ни строчки ML-кода. Расскажу про сферу инди-разработки, почему Godot, как устроен плагин, его интерфейс и контракт с сервером.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Инди-разработчики выпускают огромное число игр, но у них почти нет доступа к серьёзной аналитике поведения и адаптивному балансу — это дорого и требует отдельной команды дата-инженеров. В результате сложность настраивается вручную, на глаз, и одинаково для всех игроков. Наша ниша — готовый плагин, который встраивает такую аналитику в любой проект на Godot за несколько шагов. Вся сложность спрятана внутри, наружу — простое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Движок мы выбрали Godot 4 и вот почему. Во-первых, он полностью открытый и бесплатный, под MIT-лицензией — никаких роялти, что принципиально для инди. Во-вторых, у Godot отличная нативная система плагинов: EditorPlugin, autoload-синглтоны, собственные панели в редакторе — всё это «из коробки», именно на этом построен наш аддон. В-третьих, GDScript даёт низкий порог входа и очень быструю итерацию. Целевая версия — 4.2 и выше, вся установка плагина — это копирование одной папки.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плагин встроен в общую систему. В игре есть autoload Analytics — единая точка с четырьмя методами: инициализация, старт игры, track событий и завершение. Модуль cloud_sender собирает события в батчи и шлёт на backend на эндпоинт ingest. Важная деталь — offline-буфер в формате JSONL: если сети нет, события не теряются, а отправляются при восстановлении связи. Обратно приходит adaptation, и AdaptationBridge превращает её в конкретные параметры баланса: сложность, плотность врагов, множитель лута.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интерфейс для разработчика. Вся настройка живёт в редакторе Godot, во вкладке Analytics — руками конфиги править не нужно. Есть четыре блока: настройки облака — URL сервера, размер буфера, интервал автоотправки, повторы и кэш на случай оффлайна; ML-профиль — список событий, критические точки с весами, архетипы и параметр bootstrap_actions; просмотр логов — что ушло на сервер и что он ответил; и проверка сервера — кнопка health-check плюс блок с последней полученной адаптацией.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выглядят панели на практике. Слева — настройки облака: URL эндпоинта ingest, размер батча, интервал автоотправки, число повторов и переключатель offline-кэша. Справа — редактор ML-профиля: разработчик галочками задаёт архетипы, которые должна различать модель, и список критических точек с весами — это те числовые метрики, из которых сервер строит признаки. Всё это сохраняется и автоматически уходит на сервер как профиль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с сервером. Плагин шлёт на эндпоинт ingest JSON из двух частей. events — это батч событий: каждое содержит id сессии и игрока, имя события, время и parameters — числовые метрики, на которых работает ML. metadata — это критические точки и архетипы из профиля игры плюс режим cloud. Ключевой момент: большую часть полей плагин подставляет сам — session_id, timestamp, game_time, состояние, — разработчику в коде нужно лишь вызвать track с именем события и своим словарём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решение масштабируется на большие проекты. Аддон полностью изолирован — переносится только своя папка, он не лезет в код игры. API минимально: четыре вызова встраиваются в проект любого размера без рефакторинга. Сеть защищена батчами, повторами и offline-очередью, так что нестабильное соединение не ломает игру. И всё конфигурируется под конкретную игру через профиль. Работает это благодаря слабой связности: плагин общается с игрой через autoload и сигналы, а вся тяжёлая логика вынесена на сервер, поэтому клиент остаётся лёгким.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плагину: оформить аддон для официальной Asset Library Godot, чтобы его можно было ставить в один клик. Расширить панель редактора — добавить визуализацию воронок событий и историю полученных адаптаций. И довести автоматические E2E-тесты интеграции как регрессионный чеклист. Весь код плагина — в репозитории по QR-коду, папка godot-plugin.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моей части. Плагин analytics_plugin для Godot 4 даёт инди-разработчику серьёзную аналитику и адаптивный геймплей через простое API из четырёх вызовов, с настройкой прямо в редакторе и надёжной отправкой телеметрии.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системы сбора и передачи игровой телеметрии в распределённое хранилище данных</a:t>
            </a:r>
            <a:endParaRPr lang="en-US" sz="40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game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Godot-инженер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разработка игр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Массовый сегмент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ru-RU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инди </a:t>
            </a:r>
            <a:r>
              <a:rPr lang="en-US" sz="13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релизов в </a:t>
            </a:r>
            <a:r>
              <a:rPr lang="en-US" sz="1300" dirty="0" err="1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</a:t>
            </a:r>
            <a:r>
              <a:rPr lang="ru-RU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это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заметная часть рынка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своей аналитики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малых команд нет ресурсов на data-инфраструктуру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баланс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настраивается «на глаз», одинаково для всех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768949" y="1855844"/>
            <a:ext cx="6433945" cy="4088402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945894" y="2006844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150" b="1" kern="0" spc="20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585894" y="3636844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585894" y="3826844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535894" y="2976844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535894" y="3156844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535894" y="3756844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535894" y="3936844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875894" y="3426844"/>
            <a:ext cx="660000" cy="430000"/>
          </a:xfrm>
          <a:prstGeom prst="roundRect">
            <a:avLst>
              <a:gd name="adj" fmla="val 9000"/>
            </a:avLst>
          </a:prstGeom>
          <a:solidFill>
            <a:srgbClr val="1F9BD8"/>
          </a:solidFill>
          <a:ln/>
        </p:spPr>
      </p:sp>
      <p:sp>
        <p:nvSpPr>
          <p:cNvPr id="113" name="R"/>
          <p:cNvSpPr/>
          <p:nvPr/>
        </p:nvSpPr>
        <p:spPr>
          <a:xfrm>
            <a:off x="1943894" y="3494844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2159894" y="3856844"/>
            <a:ext cx="92000" cy="96000"/>
          </a:xfrm>
          <a:prstGeom prst="roundRect">
            <a:avLst>
              <a:gd name="adj" fmla="val 0"/>
            </a:avLst>
          </a:prstGeom>
          <a:solidFill>
            <a:srgbClr val="1F9BD8"/>
          </a:solidFill>
          <a:ln/>
        </p:spPr>
      </p:sp>
      <p:sp>
        <p:nvSpPr>
          <p:cNvPr id="115" name="R"/>
          <p:cNvSpPr/>
          <p:nvPr/>
        </p:nvSpPr>
        <p:spPr>
          <a:xfrm>
            <a:off x="2040894" y="3938844"/>
            <a:ext cx="330000" cy="66000"/>
          </a:xfrm>
          <a:prstGeom prst="roundRect">
            <a:avLst>
              <a:gd name="adj" fmla="val 50000"/>
            </a:avLst>
          </a:prstGeom>
          <a:solidFill>
            <a:srgbClr val="1F9BD8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894" y="3296844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8145894" y="2736844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8145894" y="2736844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8145894" y="2736844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8145894" y="2736844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8145894" y="2986844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8145894" y="2986844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8145894" y="2736844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8145894" y="2986844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8145894" y="3236844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445894" y="2736844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445894" y="2736844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445894" y="2846844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445894" y="2986844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445894" y="2846844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445894" y="3126844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sp>
        <p:nvSpPr>
          <p:cNvPr id="132" name="n"/>
          <p:cNvSpPr/>
          <p:nvPr/>
        </p:nvSpPr>
        <p:spPr>
          <a:xfrm>
            <a:off x="8085894" y="267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3" name="n"/>
          <p:cNvSpPr/>
          <p:nvPr/>
        </p:nvSpPr>
        <p:spPr>
          <a:xfrm>
            <a:off x="8085894" y="292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4" name="n"/>
          <p:cNvSpPr/>
          <p:nvPr/>
        </p:nvSpPr>
        <p:spPr>
          <a:xfrm>
            <a:off x="8085894" y="317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5" name="n"/>
          <p:cNvSpPr/>
          <p:nvPr/>
        </p:nvSpPr>
        <p:spPr>
          <a:xfrm>
            <a:off x="8385894" y="267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6" name="n"/>
          <p:cNvSpPr/>
          <p:nvPr/>
        </p:nvSpPr>
        <p:spPr>
          <a:xfrm>
            <a:off x="8385894" y="292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7" name="n"/>
          <p:cNvSpPr/>
          <p:nvPr/>
        </p:nvSpPr>
        <p:spPr>
          <a:xfrm>
            <a:off x="8385894" y="317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8" name="n"/>
          <p:cNvSpPr/>
          <p:nvPr/>
        </p:nvSpPr>
        <p:spPr>
          <a:xfrm>
            <a:off x="8685894" y="278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9" name="n"/>
          <p:cNvSpPr/>
          <p:nvPr/>
        </p:nvSpPr>
        <p:spPr>
          <a:xfrm>
            <a:off x="8685894" y="3066844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5894" y="4396844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805894" y="3006844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665894" y="3006844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7045894" y="2266844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7045894" y="5346844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760894" y="3336844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610894" y="3916844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6285894" y="2946844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6285894" y="4666844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ДВИЖКА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Godot 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47088" y="18166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847088" y="26853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код, MIT-лицензия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90288" y="18166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90288" y="26853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версия движка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33488" y="1816636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папка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7333488" y="26853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установка аддона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6176" y="3502152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83920" y="3758184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512" y="3922776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83920" y="4434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Бесплатный и открытый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83920" y="487375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роялти и лицензионных платежей — критично для инди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8640" y="3502152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6384" y="3758184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puzz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0976" y="3922776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6384" y="4434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Нативная система плагинов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6384" y="487375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EditorPlugin, автозагрузка, кастомные панели редактора «из коробки»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71104" y="3502152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8848" y="3758184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440" y="3922776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8848" y="4434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 + быстрый цикл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8848" y="487375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порог входа, мгновенная итерация в редакторе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20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820000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Жизненный цикл на клиенте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S"/>
          <p:cNvSpPr/>
          <p:nvPr/>
        </p:nvSpPr>
        <p:spPr>
          <a:xfrm>
            <a:off x="790080" y="2854602"/>
            <a:ext cx="2300000" cy="972969"/>
          </a:xfrm>
          <a:prstGeom prst="chevron">
            <a:avLst>
              <a:gd name="adj" fmla="val 22000"/>
            </a:avLst>
          </a:prstGeom>
          <a:solidFill>
            <a:srgbClr val="5AA6D2"/>
          </a:solidFill>
          <a:ln/>
          <a:effectLst>
            <a:outerShdw blurRad="76200" dist="200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05" name="T"/>
          <p:cNvSpPr/>
          <p:nvPr/>
        </p:nvSpPr>
        <p:spPr>
          <a:xfrm>
            <a:off x="990080" y="2854602"/>
            <a:ext cx="1960000" cy="97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Подключение</a:t>
            </a:r>
          </a:p>
        </p:txBody>
      </p:sp>
      <p:sp>
        <p:nvSpPr>
          <p:cNvPr id="106" name="S"/>
          <p:cNvSpPr/>
          <p:nvPr/>
        </p:nvSpPr>
        <p:spPr>
          <a:xfrm>
            <a:off x="940080" y="411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7" name="T"/>
          <p:cNvSpPr/>
          <p:nvPr/>
        </p:nvSpPr>
        <p:spPr>
          <a:xfrm>
            <a:off x="1170080" y="402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 настроек</a:t>
            </a:r>
          </a:p>
        </p:txBody>
      </p:sp>
      <p:sp>
        <p:nvSpPr>
          <p:cNvPr id="108" name="S"/>
          <p:cNvSpPr/>
          <p:nvPr/>
        </p:nvSpPr>
        <p:spPr>
          <a:xfrm>
            <a:off x="940080" y="447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9" name="T"/>
          <p:cNvSpPr/>
          <p:nvPr/>
        </p:nvSpPr>
        <p:spPr>
          <a:xfrm>
            <a:off x="1170080" y="438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</a:p>
        </p:txBody>
      </p:sp>
      <p:sp>
        <p:nvSpPr>
          <p:cNvPr id="112" name="S"/>
          <p:cNvSpPr/>
          <p:nvPr/>
        </p:nvSpPr>
        <p:spPr>
          <a:xfrm>
            <a:off x="2910080" y="2854602"/>
            <a:ext cx="2300000" cy="972969"/>
          </a:xfrm>
          <a:prstGeom prst="chevron">
            <a:avLst>
              <a:gd name="adj" fmla="val 22000"/>
            </a:avLst>
          </a:prstGeom>
          <a:solidFill>
            <a:srgbClr val="3D97CB"/>
          </a:solidFill>
          <a:ln/>
          <a:effectLst>
            <a:outerShdw blurRad="76200" dist="200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3" name="T"/>
          <p:cNvSpPr/>
          <p:nvPr/>
        </p:nvSpPr>
        <p:spPr>
          <a:xfrm>
            <a:off x="3110080" y="2854602"/>
            <a:ext cx="1960000" cy="97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Старт сессии</a:t>
            </a:r>
          </a:p>
        </p:txBody>
      </p:sp>
      <p:sp>
        <p:nvSpPr>
          <p:cNvPr id="114" name="S"/>
          <p:cNvSpPr/>
          <p:nvPr/>
        </p:nvSpPr>
        <p:spPr>
          <a:xfrm>
            <a:off x="3060080" y="411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5" name="T"/>
          <p:cNvSpPr/>
          <p:nvPr/>
        </p:nvSpPr>
        <p:spPr>
          <a:xfrm>
            <a:off x="3290080" y="402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Инициализация</a:t>
            </a:r>
          </a:p>
        </p:txBody>
      </p:sp>
      <p:sp>
        <p:nvSpPr>
          <p:cNvPr id="116" name="S"/>
          <p:cNvSpPr/>
          <p:nvPr/>
        </p:nvSpPr>
        <p:spPr>
          <a:xfrm>
            <a:off x="3060080" y="447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7" name="T"/>
          <p:cNvSpPr/>
          <p:nvPr/>
        </p:nvSpPr>
        <p:spPr>
          <a:xfrm>
            <a:off x="3290080" y="438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ru-RU" sz="1200" kern="0" dirty="0">
              <a:solidFill>
                <a:srgbClr val="44444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9" name="T"/>
          <p:cNvSpPr/>
          <p:nvPr/>
        </p:nvSpPr>
        <p:spPr>
          <a:xfrm>
            <a:off x="3290080" y="474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ru-RU" sz="1100" kern="0" dirty="0">
              <a:solidFill>
                <a:srgbClr val="44444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0" name="S"/>
          <p:cNvSpPr/>
          <p:nvPr/>
        </p:nvSpPr>
        <p:spPr>
          <a:xfrm>
            <a:off x="5030080" y="2854602"/>
            <a:ext cx="2300000" cy="972969"/>
          </a:xfrm>
          <a:prstGeom prst="chevron">
            <a:avLst>
              <a:gd name="adj" fmla="val 22000"/>
            </a:avLst>
          </a:prstGeom>
          <a:solidFill>
            <a:srgbClr val="2589C4"/>
          </a:solidFill>
          <a:ln/>
          <a:effectLst>
            <a:outerShdw blurRad="76200" dist="200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21" name="T"/>
          <p:cNvSpPr/>
          <p:nvPr/>
        </p:nvSpPr>
        <p:spPr>
          <a:xfrm>
            <a:off x="5230080" y="2854602"/>
            <a:ext cx="1960000" cy="97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Сбор событий</a:t>
            </a:r>
          </a:p>
        </p:txBody>
      </p:sp>
      <p:sp>
        <p:nvSpPr>
          <p:cNvPr id="122" name="S"/>
          <p:cNvSpPr/>
          <p:nvPr/>
        </p:nvSpPr>
        <p:spPr>
          <a:xfrm>
            <a:off x="5180080" y="411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3" name="T"/>
          <p:cNvSpPr/>
          <p:nvPr/>
        </p:nvSpPr>
        <p:spPr>
          <a:xfrm>
            <a:off x="5410080" y="402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track() событий</a:t>
            </a:r>
          </a:p>
        </p:txBody>
      </p:sp>
      <p:sp>
        <p:nvSpPr>
          <p:cNvPr id="124" name="S"/>
          <p:cNvSpPr/>
          <p:nvPr/>
        </p:nvSpPr>
        <p:spPr>
          <a:xfrm>
            <a:off x="5180080" y="447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5" name="T"/>
          <p:cNvSpPr/>
          <p:nvPr/>
        </p:nvSpPr>
        <p:spPr>
          <a:xfrm>
            <a:off x="5410080" y="438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Буферизация</a:t>
            </a:r>
          </a:p>
        </p:txBody>
      </p:sp>
      <p:sp>
        <p:nvSpPr>
          <p:cNvPr id="128" name="S"/>
          <p:cNvSpPr/>
          <p:nvPr/>
        </p:nvSpPr>
        <p:spPr>
          <a:xfrm>
            <a:off x="7150080" y="2854602"/>
            <a:ext cx="2300000" cy="972969"/>
          </a:xfrm>
          <a:prstGeom prst="chevron">
            <a:avLst>
              <a:gd name="adj" fmla="val 22000"/>
            </a:avLst>
          </a:prstGeom>
          <a:solidFill>
            <a:srgbClr val="1B7AB0"/>
          </a:solidFill>
          <a:ln/>
          <a:effectLst>
            <a:outerShdw blurRad="76200" dist="200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29" name="T"/>
          <p:cNvSpPr/>
          <p:nvPr/>
        </p:nvSpPr>
        <p:spPr>
          <a:xfrm>
            <a:off x="7350080" y="2854602"/>
            <a:ext cx="1960000" cy="97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Отправка</a:t>
            </a:r>
          </a:p>
        </p:txBody>
      </p:sp>
      <p:sp>
        <p:nvSpPr>
          <p:cNvPr id="130" name="S"/>
          <p:cNvSpPr/>
          <p:nvPr/>
        </p:nvSpPr>
        <p:spPr>
          <a:xfrm>
            <a:off x="7300080" y="411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31" name="T"/>
          <p:cNvSpPr/>
          <p:nvPr/>
        </p:nvSpPr>
        <p:spPr>
          <a:xfrm>
            <a:off x="7530080" y="402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таймеру/буферу</a:t>
            </a:r>
          </a:p>
        </p:txBody>
      </p:sp>
      <p:sp>
        <p:nvSpPr>
          <p:cNvPr id="132" name="S"/>
          <p:cNvSpPr/>
          <p:nvPr/>
        </p:nvSpPr>
        <p:spPr>
          <a:xfrm>
            <a:off x="7300080" y="447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33" name="T"/>
          <p:cNvSpPr/>
          <p:nvPr/>
        </p:nvSpPr>
        <p:spPr>
          <a:xfrm>
            <a:off x="7530080" y="438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Повторные попытки</a:t>
            </a:r>
          </a:p>
        </p:txBody>
      </p:sp>
      <p:sp>
        <p:nvSpPr>
          <p:cNvPr id="136" name="S"/>
          <p:cNvSpPr/>
          <p:nvPr/>
        </p:nvSpPr>
        <p:spPr>
          <a:xfrm>
            <a:off x="9270080" y="2854602"/>
            <a:ext cx="2300000" cy="972969"/>
          </a:xfrm>
          <a:prstGeom prst="chevron">
            <a:avLst>
              <a:gd name="adj" fmla="val 22000"/>
            </a:avLst>
          </a:prstGeom>
          <a:solidFill>
            <a:srgbClr val="14688F"/>
          </a:solidFill>
          <a:ln/>
          <a:effectLst>
            <a:outerShdw blurRad="76200" dist="200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7" name="T"/>
          <p:cNvSpPr/>
          <p:nvPr/>
        </p:nvSpPr>
        <p:spPr>
          <a:xfrm>
            <a:off x="9470080" y="2854602"/>
            <a:ext cx="1960000" cy="972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Адаптация</a:t>
            </a:r>
          </a:p>
        </p:txBody>
      </p:sp>
      <p:sp>
        <p:nvSpPr>
          <p:cNvPr id="138" name="S"/>
          <p:cNvSpPr/>
          <p:nvPr/>
        </p:nvSpPr>
        <p:spPr>
          <a:xfrm>
            <a:off x="9420080" y="411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39" name="T"/>
          <p:cNvSpPr/>
          <p:nvPr/>
        </p:nvSpPr>
        <p:spPr>
          <a:xfrm>
            <a:off x="9650080" y="402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параметров</a:t>
            </a:r>
          </a:p>
        </p:txBody>
      </p:sp>
      <p:sp>
        <p:nvSpPr>
          <p:cNvPr id="140" name="S"/>
          <p:cNvSpPr/>
          <p:nvPr/>
        </p:nvSpPr>
        <p:spPr>
          <a:xfrm>
            <a:off x="9420080" y="4475142"/>
            <a:ext cx="130000" cy="166429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1" name="T"/>
          <p:cNvSpPr/>
          <p:nvPr/>
        </p:nvSpPr>
        <p:spPr>
          <a:xfrm>
            <a:off x="9650080" y="4383504"/>
            <a:ext cx="1880000" cy="384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12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Применение в игре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UI/UX для разработчика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настройка — в редакторе Godot, во вкладке Analytics. Разработчик не редактирует конфиги вручную.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72491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облака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002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приёма, размер буфера, интервал автоотправки, повторы, офлайн-кэш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642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72491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ML-профиль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0866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события, критические точки (веса), архетипы, стартовые действия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00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778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docu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507992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логов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002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логов: что отправлено, ответы сервера, ошибки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264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3642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450799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66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0866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проверки состояния и блок последней полученной адаптации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панелей плагина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Настройки облака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4184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45896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52760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395728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http://localhost:8000/telemetry/ingest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962656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9626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батча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4320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событий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" y="3529584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295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Автоотправка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5 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096512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0965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43200" y="40965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попытки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8680" y="4663440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Офлайн-кэш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4320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ML-профиль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12196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3680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5392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7395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Исследователь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94283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999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Собиратель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7395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1111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Социальный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94283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7999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Боец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4652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Критические точки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4023360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4023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time_sec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784080" y="4023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46520" y="4498848"/>
            <a:ext cx="4800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44988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hints_used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84080" y="4498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1.5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46520" y="4974336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4974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deaths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84080" y="4974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для отправки на сервер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12648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2359152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"events": [{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"session_id": "uuid",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"player_id": "player_1",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"event_name": "level_complete",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"timestamp": 1716812345.1,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"parameters": { "time_sec": 120,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"deaths": 2 }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"metadata": {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"critical_points": [...],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"archetypes": [...],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"model_mode": "cloud"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78040" y="17830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97496" y="20756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115" y="2229307"/>
            <a:ext cx="204826" cy="20482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92440" y="19659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events[]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92440" y="23134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событий: id сессии, игрока, имя, время, parameters для ML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78040" y="31546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97496" y="34472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1115" y="3600907"/>
            <a:ext cx="204826" cy="20482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92440" y="33375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092440" y="36850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critical_points и archetypes из профиля; model_mode = cloud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178040" y="45262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97496" y="48188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1115" y="4972507"/>
            <a:ext cx="204826" cy="20482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92440" y="47091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Формируется автоматически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092440" y="50566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сам подставляет session_id, timestamp, game_time, state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в большие проекты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2243938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аддона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002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только папка addons/analytics_plugin/ — не конфликтует с кодом игры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2243938"/>
            <a:ext cx="212141" cy="21214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Минимальное API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0866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вызова Analytics встраиваются в любой масштаб проекта без рефакторинга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lou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30" y="3816706"/>
            <a:ext cx="212141" cy="21214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сети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002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батчи, повторы и офлайн-очередь выдерживают нестабильное соединение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lid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30" y="3816706"/>
            <a:ext cx="212141" cy="21214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Конфигурируемость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70866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архетипы задаёт сам разработчик под свою игру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40080" y="502920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14400" y="5102352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масштабируемости:  </a:t>
            </a: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слабо связан с игрой (автозагрузка + сигналы), вся тяжёлая логика — на сервере. Игра остаётся лёгкой и не зависит от размера проекта.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5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Asset Library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аддона для официального магазина ассетов Godot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панели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воронок событий и истории адаптаций в редакторе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blurRad="88900" dist="25400" dir="5400000" algn="bl" rotWithShape="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Авто-тесты интеграции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чек-лист test_integration.gd как регрессионная проверка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blurRad="114300" dist="38100" dir="5400000" algn="bl" rotWithShape="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r>
              <a:rPr lang="ru-RU" sz="2000" b="1" kern="0" spc="30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 и передача игровой телеметрии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распределённое хранилище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  ·  Godot-инженер</a:t>
            </a: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1418</Words>
  <Application>Microsoft Office PowerPoint</Application>
  <PresentationFormat>Широкоэкранный</PresentationFormat>
  <Paragraphs>175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сбора и передачи игровой телеметрии в распределённое хранилище данных</dc:title>
  <dc:subject>PptxGenJS Presentation</dc:subject>
  <dc:creator>Артамонов Фёдор Андреевич</dc:creator>
  <cp:lastModifiedBy>fuller276</cp:lastModifiedBy>
  <cp:revision>5</cp:revision>
  <dcterms:created xsi:type="dcterms:W3CDTF">2026-06-15T11:15:39Z</dcterms:created>
  <dcterms:modified xsi:type="dcterms:W3CDTF">2026-06-21T09:14:11Z</dcterms:modified>
</cp:coreProperties>
</file>