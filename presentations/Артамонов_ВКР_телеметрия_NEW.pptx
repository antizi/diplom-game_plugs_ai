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Здравствуйте. Я делал клиентскую часть проекта — плагин для движка Godot. Его задача — дать разработчику игры простой инструмент: скопировал папку аддона, включил плагин, и игра начинает собирать телеметрию и получать адаптацию из облака. При этом разработчик не пишет ни строчки ML-кода. Расскажу про сферу инди-разработки, почему Godot, как устроен плагин, его интерфейс и контракт с сервером.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Почему это актуально. Инди-разработчики выпускают огромное число игр, но у них почти нет доступа к серьёзной аналитике поведения и адаптивному балансу — это дорого и требует отдельной команды дата-инженеров. В результате сложность настраивается вручную, на глаз, и одинаково для всех игроков. Наша ниша — готовый плагин, который встраивает такую аналитику в любой проект на Godot за несколько шагов. Вся сложность спрятана внутри, наружу — простое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Движок мы выбрали Godot 4 и вот почему. Во-первых, он полностью открытый и бесплатный, под MIT-лицензией — никаких роялти, что принципиально для инди. Во-вторых, у Godot отличная нативная система плагинов: EditorPlugin, autoload-синглтоны, собственные панели в редакторе — всё это «из коробки», именно на этом построен наш аддон. В-третьих, GDScript даёт низкий порог входа и очень быструю итерацию. Целевая версия — 4.2 и выше, вся установка плагина — это копирование одной папки.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Как плагин встроен в общую систему. В игре есть autoload Analytics — единая точка с четырьмя методами: инициализация, старт игры, track событий и завершение. Модуль cloud_sender собирает события в батчи и шлёт на backend на эндпоинт ingest. Важная деталь — offline-буфер в формате JSONL: если сети нет, события не теряются, а отправляются при восстановлении связи. Обратно приходит adaptation, и AdaptationBridge превращает её в конкретные параметры баланса: сложность, плотность врагов, множитель лута.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интерфейс для разработчика. Вся настройка живёт в редакторе Godot, во вкладке Analytics — руками конфиги править не нужно. Есть четыре блока: настройки облака — URL сервера, размер буфера, интервал автоотправки, повторы и кэш на случай оффлайна; ML-профиль — список событий, критические точки с весами, архетипы и параметр bootstrap_actions; просмотр логов — что ушло на сервер и что он ответил; и проверка сервера — кнопка health-check плюс блок с последней полученной адаптацией.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Вот как выглядят панели на практике. Слева — настройки облака: URL эндпоинта ingest, размер батча, интервал автоотправки, число повторов и переключатель offline-кэша. Справа — редактор ML-профиля: разработчик галочками задаёт архетипы, которые должна различать модель, и список критических точек с весами — это те числовые метрики, из которых сервер строит признаки. Всё это сохраняется и автоматически уходит на сервер как профиль игры.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Контракт с сервером. Плагин шлёт на эндпоинт ingest JSON из двух частей. events — это батч событий: каждое содержит id сессии и игрока, имя события, время и parameters — числовые метрики, на которых работает ML. metadata — это критические точки и архетипы из профиля игры плюс режим cloud. Ключевой момент: большую часть полей плагин подставляет сам — session_id, timestamp, game_time, состояние, — разработчику в коде нужно лишь вызвать track с именем события и своим словарём параметров.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Почему решение масштабируется на большие проекты. Аддон полностью изолирован — переносится только своя папка, он не лезет в код игры. API минимально: четыре вызова встраиваются в проект любого размера без рефакторинга. Сеть защищена батчами, повторами и offline-очередью, так что нестабильное соединение не ломает игру. И всё конфигурируется под конкретную игру через профиль. Работает это благодаря слабой связности: плагин общается с игрой через autoload и сигналы, а вся тяжёлая логика вынесена на сервер, поэтому клиент остаётся лёгким.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Планы по плагину: оформить аддон для официальной Asset Library Godot, чтобы его можно было ставить в один клик. Расширить панель редактора — добавить визуализацию воронок событий и историю полученных адаптаций. И довести автоматические E2E-тесты интеграции как регрессионный чеклист. Весь код плагина — в репозитории по QR-коду, папка godot-plugin.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 по моей части. Плагин analytics_plugin для Godot 4 даёт инди-разработчику серьёзную аналитику и адаптивный геймплей через простое API из четырёх вызовов, с настройкой прямо в редакторе и надёжной отправкой телеметрии. Спасибо за внимание.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2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cheme_brain.png"/><Relationship Id="rId3" Type="http://schemas.openxmlformats.org/officeDocument/2006/relationships/image" Target="../media/scheme_brain_hot.png"/><Relationship Id="rId4" Type="http://schemas.openxmlformats.org/officeDocument/2006/relationships/image" Target="../media/scheme_brain_lb.png"/><Relationship Id="rId5" Type="http://schemas.openxmlformats.org/officeDocument/2006/relationships/image" Target="../media/scheme_brain_lh.png"/><Relationship Id="rId6" Type="http://schemas.openxmlformats.org/officeDocument/2006/relationships/image" Target="../media/scheme_brain_rose.png"/><Relationship Id="rId7" Type="http://schemas.openxmlformats.org/officeDocument/2006/relationships/image" Target="../media/scheme_db.png"/><Relationship Id="rId8" Type="http://schemas.openxmlformats.org/officeDocument/2006/relationships/image" Target="../media/scheme_db_hot.png"/><Relationship Id="rId9" Type="http://schemas.openxmlformats.org/officeDocument/2006/relationships/image" Target="../media/scheme_db_lb.png"/><Relationship Id="rId10" Type="http://schemas.openxmlformats.org/officeDocument/2006/relationships/image" Target="../media/scheme_db_lh.png"/><Relationship Id="rId11" Type="http://schemas.openxmlformats.org/officeDocument/2006/relationships/image" Target="../media/scheme_db_rose.png"/><Relationship Id="rId12" Type="http://schemas.openxmlformats.org/officeDocument/2006/relationships/image" Target="../media/scheme_flow.png"/><Relationship Id="rId13" Type="http://schemas.openxmlformats.org/officeDocument/2006/relationships/image" Target="../media/scheme_gamepad.png"/><Relationship Id="rId14" Type="http://schemas.openxmlformats.org/officeDocument/2006/relationships/image" Target="../media/scheme_gamepad_hot.png"/><Relationship Id="rId15" Type="http://schemas.openxmlformats.org/officeDocument/2006/relationships/image" Target="../media/scheme_gamepad_lb.png"/><Relationship Id="rId16" Type="http://schemas.openxmlformats.org/officeDocument/2006/relationships/image" Target="../media/scheme_gamepad_lh.png"/><Relationship Id="rId17" Type="http://schemas.openxmlformats.org/officeDocument/2006/relationships/image" Target="../media/scheme_gamepad_rose.png"/><Relationship Id="rId18" Type="http://schemas.openxmlformats.org/officeDocument/2006/relationships/image" Target="../media/scheme_server.png"/><Relationship Id="rId19" Type="http://schemas.openxmlformats.org/officeDocument/2006/relationships/image" Target="../media/scheme_server_hot.png"/><Relationship Id="rId20" Type="http://schemas.openxmlformats.org/officeDocument/2006/relationships/image" Target="../media/scheme_server_lb.png"/><Relationship Id="rId21" Type="http://schemas.openxmlformats.org/officeDocument/2006/relationships/image" Target="../media/scheme_server_lh.png"/><Relationship Id="rId22" Type="http://schemas.openxmlformats.org/officeDocument/2006/relationships/image" Target="../media/scheme_server_rose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5E8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3" name="Shape 1"/>
          <p:cNvSpPr/>
          <p:nvPr/>
        </p:nvSpPr>
        <p:spPr>
          <a:xfrm>
            <a:off x="88696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4" name="Shape 2"/>
          <p:cNvSpPr/>
          <p:nvPr/>
        </p:nvSpPr>
        <p:spPr>
          <a:xfrm>
            <a:off x="88696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5" name="Shape 3"/>
          <p:cNvSpPr/>
          <p:nvPr/>
        </p:nvSpPr>
        <p:spPr>
          <a:xfrm>
            <a:off x="93268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6" name="Shape 4"/>
          <p:cNvSpPr/>
          <p:nvPr/>
        </p:nvSpPr>
        <p:spPr>
          <a:xfrm>
            <a:off x="93268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7" name="Shape 5"/>
          <p:cNvSpPr/>
          <p:nvPr/>
        </p:nvSpPr>
        <p:spPr>
          <a:xfrm>
            <a:off x="93268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8" name="Shape 6"/>
          <p:cNvSpPr/>
          <p:nvPr/>
        </p:nvSpPr>
        <p:spPr>
          <a:xfrm>
            <a:off x="97840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9" name="Shape 7"/>
          <p:cNvSpPr/>
          <p:nvPr/>
        </p:nvSpPr>
        <p:spPr>
          <a:xfrm>
            <a:off x="97840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0" name="Shape 8"/>
          <p:cNvSpPr/>
          <p:nvPr/>
        </p:nvSpPr>
        <p:spPr>
          <a:xfrm>
            <a:off x="97840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1" name="Shape 9"/>
          <p:cNvSpPr/>
          <p:nvPr/>
        </p:nvSpPr>
        <p:spPr>
          <a:xfrm>
            <a:off x="102412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2" name="Shape 10"/>
          <p:cNvSpPr/>
          <p:nvPr/>
        </p:nvSpPr>
        <p:spPr>
          <a:xfrm>
            <a:off x="102412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3" name="Shape 11"/>
          <p:cNvSpPr/>
          <p:nvPr/>
        </p:nvSpPr>
        <p:spPr>
          <a:xfrm>
            <a:off x="102412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984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984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6" name="Shape 14"/>
          <p:cNvSpPr/>
          <p:nvPr/>
        </p:nvSpPr>
        <p:spPr>
          <a:xfrm>
            <a:off x="106984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556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8" name="Shape 16"/>
          <p:cNvSpPr/>
          <p:nvPr/>
        </p:nvSpPr>
        <p:spPr>
          <a:xfrm>
            <a:off x="111556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9" name="Shape 17"/>
          <p:cNvSpPr/>
          <p:nvPr/>
        </p:nvSpPr>
        <p:spPr>
          <a:xfrm>
            <a:off x="111556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0" name="Shape 18"/>
          <p:cNvSpPr/>
          <p:nvPr/>
        </p:nvSpPr>
        <p:spPr>
          <a:xfrm>
            <a:off x="116128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1" name="Shape 19"/>
          <p:cNvSpPr/>
          <p:nvPr/>
        </p:nvSpPr>
        <p:spPr>
          <a:xfrm>
            <a:off x="116128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2" name="Shape 20"/>
          <p:cNvSpPr/>
          <p:nvPr/>
        </p:nvSpPr>
        <p:spPr>
          <a:xfrm>
            <a:off x="116128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960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ВЫПУСКНАЯ КВАЛИФИКАЦИОННАЯ РАБОТА · 2026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1417320"/>
            <a:ext cx="109270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Разработка системы сбора и передачи игровой телеметрии в распределённое хранилище данных</a:t>
            </a:r>
            <a:endParaRPr lang="en-US" sz="3000" dirty="0"/>
          </a:p>
        </p:txBody>
      </p:sp>
      <p:sp>
        <p:nvSpPr>
          <p:cNvPr id="26" name="Shape 24"/>
          <p:cNvSpPr/>
          <p:nvPr/>
        </p:nvSpPr>
        <p:spPr>
          <a:xfrm>
            <a:off x="640080" y="489204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0E6E9E"/>
          </a:solidFill>
          <a:ln/>
          <a:effectLst>
            <a:outerShdw sx="100000" sy="100000" kx="0" ky="0" algn="bl" rotWithShape="0" blurRad="114300" dist="38100" dir="5400000">
              <a:srgbClr val="9FB6C4">
                <a:alpha val="2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14400" y="5276088"/>
            <a:ext cx="603504" cy="603504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28" name="Image 0" descr="icons/gamepa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451" y="5457139"/>
            <a:ext cx="241402" cy="241402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1783080" y="50749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ВЫПОЛНИЛ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1783080" y="5349240"/>
            <a:ext cx="4251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Артамонов Фёдор Андреевич</a:t>
            </a:r>
            <a:endParaRPr lang="en-US" sz="1650" dirty="0"/>
          </a:p>
        </p:txBody>
      </p:sp>
      <p:sp>
        <p:nvSpPr>
          <p:cNvPr id="31" name="Text 28"/>
          <p:cNvSpPr/>
          <p:nvPr/>
        </p:nvSpPr>
        <p:spPr>
          <a:xfrm>
            <a:off x="1783080" y="576072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Группа МВИ-122  ·  Godot-инженер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6537960" y="4892040"/>
            <a:ext cx="5013655" cy="1371600"/>
          </a:xfrm>
          <a:prstGeom prst="roundRect">
            <a:avLst>
              <a:gd name="adj" fmla="val 6667"/>
            </a:avLst>
          </a:prstGeom>
          <a:solidFill>
            <a:srgbClr val="0E6E9E"/>
          </a:solidFill>
          <a:ln/>
          <a:effectLst>
            <a:outerShdw sx="100000" sy="100000" kx="0" ky="0" algn="bl" rotWithShape="0" blurRad="114300" dist="38100" dir="5400000">
              <a:srgbClr val="9FB6C4">
                <a:alpha val="28000"/>
              </a:srgbClr>
            </a:outerShdw>
          </a:effectLst>
        </p:spPr>
      </p:sp>
      <p:sp>
        <p:nvSpPr>
          <p:cNvPr id="33" name="Text 30"/>
          <p:cNvSpPr/>
          <p:nvPr/>
        </p:nvSpPr>
        <p:spPr>
          <a:xfrm>
            <a:off x="6830568" y="5074920"/>
            <a:ext cx="4465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НАУЧНЫЙ РУКОВОДИТЕЛЬ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830568" y="5394960"/>
            <a:ext cx="4465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Минаева Н. В.</a:t>
            </a:r>
            <a:endParaRPr lang="en-US" sz="15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ст. преподаватель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АКТУАЛЬНОСТЬ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Независимая разработка игр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2150000"/>
            <a:ext cx="3474720" cy="3150000"/>
          </a:xfrm>
          <a:prstGeom prst="roundRect">
            <a:avLst>
              <a:gd name="adj" fmla="val 450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70080" y="2530000"/>
            <a:ext cx="700000" cy="70000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0" name="Image 0" descr="icons/stor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0080" y="2740000"/>
            <a:ext cx="300000" cy="300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970080" y="3780000"/>
            <a:ext cx="281472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Массовый сегмент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970080" y="4320000"/>
            <a:ext cx="281472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тысячи релизов в год; инди — заметная часть рынка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352544" y="2150000"/>
            <a:ext cx="3474720" cy="3150000"/>
          </a:xfrm>
          <a:prstGeom prst="roundRect">
            <a:avLst>
              <a:gd name="adj" fmla="val 450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682544" y="2530000"/>
            <a:ext cx="700000" cy="70000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5" name="Image 1" descr="icons/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544" y="2740000"/>
            <a:ext cx="300000" cy="3000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682544" y="3780000"/>
            <a:ext cx="281472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своей аналитики</a:t>
            </a:r>
            <a:endParaRPr lang="en-US" sz="1700" dirty="0"/>
          </a:p>
        </p:txBody>
      </p:sp>
      <p:sp>
        <p:nvSpPr>
          <p:cNvPr id="17" name="Text 13"/>
          <p:cNvSpPr/>
          <p:nvPr/>
        </p:nvSpPr>
        <p:spPr>
          <a:xfrm>
            <a:off x="4682544" y="4320000"/>
            <a:ext cx="281472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малых команд нет ресурсов на data-инфраструктуру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8065008" y="2150000"/>
            <a:ext cx="3474720" cy="3150000"/>
          </a:xfrm>
          <a:prstGeom prst="roundRect">
            <a:avLst>
              <a:gd name="adj" fmla="val 450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395008" y="2530000"/>
            <a:ext cx="700000" cy="70000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20" name="Image 2" descr="icons/slid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5008" y="2740000"/>
            <a:ext cx="300000" cy="3000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395008" y="3780000"/>
            <a:ext cx="281472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Ручной баланс</a:t>
            </a:r>
            <a:endParaRPr lang="en-US" sz="1700" dirty="0"/>
          </a:p>
        </p:txBody>
      </p:sp>
      <p:sp>
        <p:nvSpPr>
          <p:cNvPr id="22" name="Text 17"/>
          <p:cNvSpPr/>
          <p:nvPr/>
        </p:nvSpPr>
        <p:spPr>
          <a:xfrm>
            <a:off x="8395008" y="4320000"/>
            <a:ext cx="281472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сложность настраивается «на глаз», одинаково для всех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ВЫБОР ДВИЖКА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Преимущества Godot 4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0E7F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5000" dirty="0"/>
          </a:p>
        </p:txBody>
      </p:sp>
      <p:sp>
        <p:nvSpPr>
          <p:cNvPr id="8" name="Text 6"/>
          <p:cNvSpPr/>
          <p:nvPr/>
        </p:nvSpPr>
        <p:spPr>
          <a:xfrm>
            <a:off x="640080" y="2697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открытый код, MIT-лицензия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383280" y="182880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0E7F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4.2+</a:t>
            </a:r>
            <a:endParaRPr lang="en-US" sz="5000" dirty="0"/>
          </a:p>
        </p:txBody>
      </p:sp>
      <p:sp>
        <p:nvSpPr>
          <p:cNvPr id="10" name="Text 8"/>
          <p:cNvSpPr/>
          <p:nvPr/>
        </p:nvSpPr>
        <p:spPr>
          <a:xfrm>
            <a:off x="3383280" y="2697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целевая версия движка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126480" y="182880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0E7F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папка</a:t>
            </a:r>
            <a:endParaRPr lang="en-US" sz="5000" dirty="0"/>
          </a:p>
        </p:txBody>
      </p:sp>
      <p:sp>
        <p:nvSpPr>
          <p:cNvPr id="12" name="Text 10"/>
          <p:cNvSpPr/>
          <p:nvPr/>
        </p:nvSpPr>
        <p:spPr>
          <a:xfrm>
            <a:off x="6126480" y="2697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вся установка аддона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3246120"/>
            <a:ext cx="3474720" cy="21945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77824" y="3502152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5" name="Image 0" descr="icons/check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" y="3666744"/>
            <a:ext cx="219456" cy="219456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877824" y="417880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Бесплатный и открытый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877824" y="46177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роялти и лицензионных платежей — критично для инди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352544" y="3246120"/>
            <a:ext cx="3474720" cy="2194560"/>
          </a:xfrm>
          <a:prstGeom prst="roundRect">
            <a:avLst>
              <a:gd name="adj" fmla="val 3750"/>
            </a:avLst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590288" y="3502152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20" name="Image 1" descr="icons/puzz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3666744"/>
            <a:ext cx="219456" cy="219456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4590288" y="417880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Нативная система плагинов</a:t>
            </a:r>
            <a:endParaRPr lang="en-US" sz="1450" dirty="0"/>
          </a:p>
        </p:txBody>
      </p:sp>
      <p:sp>
        <p:nvSpPr>
          <p:cNvPr id="22" name="Text 18"/>
          <p:cNvSpPr/>
          <p:nvPr/>
        </p:nvSpPr>
        <p:spPr>
          <a:xfrm>
            <a:off x="4590288" y="46177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EditorPlugin, автозагрузка, кастомные панели редактора «из коробки»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8065008" y="3246120"/>
            <a:ext cx="3474720" cy="21945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8302752" y="3502152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25" name="Image 2" descr="icons/bo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7344" y="3666744"/>
            <a:ext cx="219456" cy="219456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8302752" y="417880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GDScript + быстрый цикл</a:t>
            </a:r>
            <a:endParaRPr lang="en-US" sz="1450" dirty="0"/>
          </a:p>
        </p:txBody>
      </p:sp>
      <p:sp>
        <p:nvSpPr>
          <p:cNvPr id="27" name="Text 22"/>
          <p:cNvSpPr/>
          <p:nvPr/>
        </p:nvSpPr>
        <p:spPr>
          <a:xfrm>
            <a:off x="8302752" y="46177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низкий порог входа, мгновенная итерация в редакторе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"/>
          <p:cNvSpPr/>
          <p:nvPr/>
        </p:nvSpPr>
        <p:spPr>
          <a:xfrm>
            <a:off x="640080" y="475488"/>
            <a:ext cx="82296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250" b="1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РЕАЛИЗАЦИЯ</a:t>
            </a:r>
          </a:p>
        </p:txBody>
      </p:sp>
      <p:sp>
        <p:nvSpPr>
          <p:cNvPr id="102" name="T"/>
          <p:cNvSpPr/>
          <p:nvPr/>
        </p:nvSpPr>
        <p:spPr>
          <a:xfrm>
            <a:off x="640080" y="749808"/>
            <a:ext cx="10000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3000" b="1" kern="0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Жизненный цикл на клиенте</a:t>
            </a:r>
          </a:p>
        </p:txBody>
      </p:sp>
      <p:sp>
        <p:nvSpPr>
          <p:cNvPr id="103" name="T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ru-RU" sz="3000" b="1" kern="0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</a:p>
        </p:txBody>
      </p:sp>
      <p:cxnSp>
        <p:nvCxnSpPr>
          <p:cNvPr id="104" name="c"/>
          <p:cNvCxnSpPr/>
          <p:nvPr/>
        </p:nvCxnSpPr>
        <p:spPr>
          <a:xfrm>
            <a:off x="1500000" y="1960000"/>
            <a:ext cx="0" cy="3100000"/>
          </a:xfrm>
          <a:prstGeom prst="straightConnector1">
            <a:avLst/>
          </a:prstGeom>
          <a:ln w="28575" cap="rnd">
            <a:solidFill>
              <a:srgbClr val="DCE6EC"/>
            </a:solidFill>
          </a:ln>
        </p:spPr>
      </p:cxnSp>
      <p:sp>
        <p:nvSpPr>
          <p:cNvPr id="105" name="S"/>
          <p:cNvSpPr/>
          <p:nvPr/>
        </p:nvSpPr>
        <p:spPr>
          <a:xfrm>
            <a:off x="1300000" y="1760000"/>
            <a:ext cx="400000" cy="400000"/>
          </a:xfrm>
          <a:prstGeom prst="ellipse">
            <a:avLst/>
          </a:prstGeom>
          <a:solidFill>
            <a:srgbClr val="1F9BD8"/>
          </a:solidFill>
          <a:ln w="19050">
            <a:solidFill>
              <a:srgbClr val="FFFFFF"/>
            </a:solidFill>
          </a:ln>
        </p:spPr>
      </p:sp>
      <p:sp>
        <p:nvSpPr>
          <p:cNvPr id="106" name="T"/>
          <p:cNvSpPr/>
          <p:nvPr/>
        </p:nvSpPr>
        <p:spPr>
          <a:xfrm>
            <a:off x="1300000" y="1760000"/>
            <a:ext cx="40000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4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</a:p>
        </p:txBody>
      </p:sp>
      <p:sp>
        <p:nvSpPr>
          <p:cNvPr id="107" name="T"/>
          <p:cNvSpPr/>
          <p:nvPr/>
        </p:nvSpPr>
        <p:spPr>
          <a:xfrm>
            <a:off x="1960000" y="1750000"/>
            <a:ext cx="34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450" b="1" kern="0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Подключение к серверу</a:t>
            </a:r>
          </a:p>
        </p:txBody>
      </p:sp>
      <p:sp>
        <p:nvSpPr>
          <p:cNvPr id="108" name="T"/>
          <p:cNvSpPr/>
          <p:nvPr/>
        </p:nvSpPr>
        <p:spPr>
          <a:xfrm>
            <a:off x="1960000" y="2080000"/>
            <a:ext cx="96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2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плагин читает настройки и проверяет доступность сервера (health-check)</a:t>
            </a:r>
          </a:p>
        </p:txBody>
      </p:sp>
      <p:sp>
        <p:nvSpPr>
          <p:cNvPr id="109" name="S"/>
          <p:cNvSpPr/>
          <p:nvPr/>
        </p:nvSpPr>
        <p:spPr>
          <a:xfrm>
            <a:off x="1300000" y="2380000"/>
            <a:ext cx="400000" cy="400000"/>
          </a:xfrm>
          <a:prstGeom prst="ellipse">
            <a:avLst/>
          </a:prstGeom>
          <a:solidFill>
            <a:srgbClr val="1F9BD8"/>
          </a:solidFill>
          <a:ln w="19050">
            <a:solidFill>
              <a:srgbClr val="FFFFFF"/>
            </a:solidFill>
          </a:ln>
        </p:spPr>
      </p:sp>
      <p:sp>
        <p:nvSpPr>
          <p:cNvPr id="110" name="T"/>
          <p:cNvSpPr/>
          <p:nvPr/>
        </p:nvSpPr>
        <p:spPr>
          <a:xfrm>
            <a:off x="1300000" y="2380000"/>
            <a:ext cx="40000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4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</a:p>
        </p:txBody>
      </p:sp>
      <p:sp>
        <p:nvSpPr>
          <p:cNvPr id="111" name="T"/>
          <p:cNvSpPr/>
          <p:nvPr/>
        </p:nvSpPr>
        <p:spPr>
          <a:xfrm>
            <a:off x="1960000" y="2370000"/>
            <a:ext cx="34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450" b="1" kern="0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Старт сессии</a:t>
            </a:r>
          </a:p>
        </p:txBody>
      </p:sp>
      <p:sp>
        <p:nvSpPr>
          <p:cNvPr id="112" name="T"/>
          <p:cNvSpPr/>
          <p:nvPr/>
        </p:nvSpPr>
        <p:spPr>
          <a:xfrm>
            <a:off x="1960000" y="2700000"/>
            <a:ext cx="96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2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инициализация плагина и открытие сессии; сервер выдаёт session_id</a:t>
            </a:r>
          </a:p>
        </p:txBody>
      </p:sp>
      <p:sp>
        <p:nvSpPr>
          <p:cNvPr id="113" name="S"/>
          <p:cNvSpPr/>
          <p:nvPr/>
        </p:nvSpPr>
        <p:spPr>
          <a:xfrm>
            <a:off x="1300000" y="3000000"/>
            <a:ext cx="400000" cy="400000"/>
          </a:xfrm>
          <a:prstGeom prst="ellipse">
            <a:avLst/>
          </a:prstGeom>
          <a:solidFill>
            <a:srgbClr val="1F9BD8"/>
          </a:solidFill>
          <a:ln w="19050">
            <a:solidFill>
              <a:srgbClr val="FFFFFF"/>
            </a:solidFill>
          </a:ln>
        </p:spPr>
      </p:sp>
      <p:sp>
        <p:nvSpPr>
          <p:cNvPr id="114" name="T"/>
          <p:cNvSpPr/>
          <p:nvPr/>
        </p:nvSpPr>
        <p:spPr>
          <a:xfrm>
            <a:off x="1300000" y="3000000"/>
            <a:ext cx="40000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4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</a:p>
        </p:txBody>
      </p:sp>
      <p:sp>
        <p:nvSpPr>
          <p:cNvPr id="115" name="T"/>
          <p:cNvSpPr/>
          <p:nvPr/>
        </p:nvSpPr>
        <p:spPr>
          <a:xfrm>
            <a:off x="1960000" y="2990000"/>
            <a:ext cx="34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450" b="1" kern="0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Сбор событий</a:t>
            </a:r>
          </a:p>
        </p:txBody>
      </p:sp>
      <p:sp>
        <p:nvSpPr>
          <p:cNvPr id="116" name="T"/>
          <p:cNvSpPr/>
          <p:nvPr/>
        </p:nvSpPr>
        <p:spPr>
          <a:xfrm>
            <a:off x="1960000" y="3320000"/>
            <a:ext cx="96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2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track() фиксирует действия игрока, события копятся в буфере</a:t>
            </a:r>
          </a:p>
        </p:txBody>
      </p:sp>
      <p:sp>
        <p:nvSpPr>
          <p:cNvPr id="117" name="S"/>
          <p:cNvSpPr/>
          <p:nvPr/>
        </p:nvSpPr>
        <p:spPr>
          <a:xfrm>
            <a:off x="1300000" y="3620000"/>
            <a:ext cx="400000" cy="400000"/>
          </a:xfrm>
          <a:prstGeom prst="ellipse">
            <a:avLst/>
          </a:prstGeom>
          <a:solidFill>
            <a:srgbClr val="1F9BD8"/>
          </a:solidFill>
          <a:ln w="19050">
            <a:solidFill>
              <a:srgbClr val="FFFFFF"/>
            </a:solidFill>
          </a:ln>
        </p:spPr>
      </p:sp>
      <p:sp>
        <p:nvSpPr>
          <p:cNvPr id="118" name="T"/>
          <p:cNvSpPr/>
          <p:nvPr/>
        </p:nvSpPr>
        <p:spPr>
          <a:xfrm>
            <a:off x="1300000" y="3620000"/>
            <a:ext cx="40000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4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</a:p>
        </p:txBody>
      </p:sp>
      <p:sp>
        <p:nvSpPr>
          <p:cNvPr id="119" name="T"/>
          <p:cNvSpPr/>
          <p:nvPr/>
        </p:nvSpPr>
        <p:spPr>
          <a:xfrm>
            <a:off x="1960000" y="3610000"/>
            <a:ext cx="34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450" b="1" kern="0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Отправка на сервер</a:t>
            </a:r>
          </a:p>
        </p:txBody>
      </p:sp>
      <p:sp>
        <p:nvSpPr>
          <p:cNvPr id="120" name="T"/>
          <p:cNvSpPr/>
          <p:nvPr/>
        </p:nvSpPr>
        <p:spPr>
          <a:xfrm>
            <a:off x="1960000" y="3940000"/>
            <a:ext cx="96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2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батч уходит на /ingest по таймеру или заполнению буфера</a:t>
            </a:r>
          </a:p>
        </p:txBody>
      </p:sp>
      <p:sp>
        <p:nvSpPr>
          <p:cNvPr id="121" name="S"/>
          <p:cNvSpPr/>
          <p:nvPr/>
        </p:nvSpPr>
        <p:spPr>
          <a:xfrm>
            <a:off x="1300000" y="4240000"/>
            <a:ext cx="400000" cy="400000"/>
          </a:xfrm>
          <a:prstGeom prst="ellipse">
            <a:avLst/>
          </a:prstGeom>
          <a:solidFill>
            <a:srgbClr val="1F9BD8"/>
          </a:solidFill>
          <a:ln w="19050">
            <a:solidFill>
              <a:srgbClr val="FFFFFF"/>
            </a:solidFill>
          </a:ln>
        </p:spPr>
      </p:sp>
      <p:sp>
        <p:nvSpPr>
          <p:cNvPr id="122" name="T"/>
          <p:cNvSpPr/>
          <p:nvPr/>
        </p:nvSpPr>
        <p:spPr>
          <a:xfrm>
            <a:off x="1300000" y="4240000"/>
            <a:ext cx="40000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4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</a:p>
        </p:txBody>
      </p:sp>
      <p:sp>
        <p:nvSpPr>
          <p:cNvPr id="123" name="T"/>
          <p:cNvSpPr/>
          <p:nvPr/>
        </p:nvSpPr>
        <p:spPr>
          <a:xfrm>
            <a:off x="1960000" y="4230000"/>
            <a:ext cx="34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450" b="1" kern="0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Адаптация в игру</a:t>
            </a:r>
          </a:p>
        </p:txBody>
      </p:sp>
      <p:sp>
        <p:nvSpPr>
          <p:cNvPr id="124" name="T"/>
          <p:cNvSpPr/>
          <p:nvPr/>
        </p:nvSpPr>
        <p:spPr>
          <a:xfrm>
            <a:off x="1960000" y="4560000"/>
            <a:ext cx="96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2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 возвращает параметры — плагин применяет их через сигнал</a:t>
            </a:r>
          </a:p>
        </p:txBody>
      </p:sp>
      <p:sp>
        <p:nvSpPr>
          <p:cNvPr id="125" name="S"/>
          <p:cNvSpPr/>
          <p:nvPr/>
        </p:nvSpPr>
        <p:spPr>
          <a:xfrm>
            <a:off x="1300000" y="4860000"/>
            <a:ext cx="400000" cy="400000"/>
          </a:xfrm>
          <a:prstGeom prst="ellipse">
            <a:avLst/>
          </a:prstGeom>
          <a:solidFill>
            <a:srgbClr val="1F9BD8"/>
          </a:solidFill>
          <a:ln w="19050">
            <a:solidFill>
              <a:srgbClr val="FFFFFF"/>
            </a:solidFill>
          </a:ln>
        </p:spPr>
      </p:sp>
      <p:sp>
        <p:nvSpPr>
          <p:cNvPr id="126" name="T"/>
          <p:cNvSpPr/>
          <p:nvPr/>
        </p:nvSpPr>
        <p:spPr>
          <a:xfrm>
            <a:off x="1300000" y="4860000"/>
            <a:ext cx="40000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4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</a:p>
        </p:txBody>
      </p:sp>
      <p:sp>
        <p:nvSpPr>
          <p:cNvPr id="127" name="T"/>
          <p:cNvSpPr/>
          <p:nvPr/>
        </p:nvSpPr>
        <p:spPr>
          <a:xfrm>
            <a:off x="1960000" y="4850000"/>
            <a:ext cx="34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450" b="1" kern="0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Завершение сессии</a:t>
            </a:r>
          </a:p>
        </p:txBody>
      </p:sp>
      <p:sp>
        <p:nvSpPr>
          <p:cNvPr id="128" name="T"/>
          <p:cNvSpPr/>
          <p:nvPr/>
        </p:nvSpPr>
        <p:spPr>
          <a:xfrm>
            <a:off x="1960000" y="5180000"/>
            <a:ext cx="96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2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end_game закрывает сессию и досылает остаток буфера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ИНТЕРФЕЙС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UI/UX для разработчика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169164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4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Вся настройка — в редакторе Godot, во вкладке Analytics. Разработчик не редактирует конфиги вручную.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2286000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77824" y="2560320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0" name="Image 0" descr="icons/clou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" y="272491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600200" y="250545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Настройки облака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1600200" y="2889504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приёма, размер буфера, интервал автоотправки, повторы, офлайн-кэш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126480" y="2286000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64224" y="2560320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5" name="Image 1" descr="icons/sli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8816" y="2724912"/>
            <a:ext cx="219456" cy="219456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086600" y="250545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ML-профиль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7086600" y="2889504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события, критические точки (веса), архетипы, стартовые действия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640080" y="4069080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77824" y="4343400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20" name="Image 2" descr="icons/docu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4507992"/>
            <a:ext cx="219456" cy="219456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600200" y="42885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Просмотр логов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1600200" y="4672584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панель логов: что отправлено, ответы сервера, ошибки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6126480" y="4069080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364224" y="4343400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25" name="Image 3" descr="icons/ch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8816" y="4507992"/>
            <a:ext cx="219456" cy="219456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7086600" y="42885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сервера</a:t>
            </a:r>
            <a:endParaRPr lang="en-US" sz="1500" dirty="0"/>
          </a:p>
        </p:txBody>
      </p:sp>
      <p:sp>
        <p:nvSpPr>
          <p:cNvPr id="27" name="Text 21"/>
          <p:cNvSpPr/>
          <p:nvPr/>
        </p:nvSpPr>
        <p:spPr>
          <a:xfrm>
            <a:off x="7086600" y="4672584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кнопка проверки состояния и блок последней полученной адаптации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ИНТЕРФЕЙС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Примеры панелей плагина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5257800" cy="3977640"/>
          </a:xfrm>
          <a:prstGeom prst="roundRect">
            <a:avLst>
              <a:gd name="adj" fmla="val 1379"/>
            </a:avLst>
          </a:prstGeom>
          <a:solidFill>
            <a:srgbClr val="FFFFFF"/>
          </a:solidFill>
          <a:ln w="12700">
            <a:solidFill>
              <a:srgbClr val="C6D6E0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1828800"/>
            <a:ext cx="5257800" cy="384048"/>
          </a:xfrm>
          <a:prstGeom prst="rect">
            <a:avLst/>
          </a:prstGeom>
          <a:solidFill>
            <a:srgbClr val="0B5E88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828800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· Настройки облака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41848" y="1965960"/>
            <a:ext cx="109728" cy="109728"/>
          </a:xfrm>
          <a:prstGeom prst="ellipse">
            <a:avLst/>
          </a:prstGeom>
          <a:solidFill>
            <a:srgbClr val="7FB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458968" y="1965960"/>
            <a:ext cx="109728" cy="109728"/>
          </a:xfrm>
          <a:prstGeom prst="ellipse">
            <a:avLst/>
          </a:prstGeom>
          <a:solidFill>
            <a:srgbClr val="7FB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5276088" y="1965960"/>
            <a:ext cx="109728" cy="109728"/>
          </a:xfrm>
          <a:prstGeom prst="ellipse">
            <a:avLst/>
          </a:prstGeom>
          <a:solidFill>
            <a:srgbClr val="7FB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868680" y="2395728"/>
            <a:ext cx="4800600" cy="457200"/>
          </a:xfrm>
          <a:prstGeom prst="rect">
            <a:avLst/>
          </a:prstGeom>
          <a:solidFill>
            <a:srgbClr val="F4FAFD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39572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приёма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743200" y="239572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http://localhost:8000/telemetry/ingest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68680" y="2962656"/>
            <a:ext cx="48006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296265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Размер батча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743200" y="296265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событий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68680" y="3529584"/>
            <a:ext cx="4800600" cy="457200"/>
          </a:xfrm>
          <a:prstGeom prst="rect">
            <a:avLst/>
          </a:prstGeom>
          <a:solidFill>
            <a:srgbClr val="F4FAFD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5840" y="352958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Автоотправка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743200" y="352958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каждые 5 с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68680" y="4096512"/>
            <a:ext cx="48006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5840" y="409651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Повторы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743200" y="409651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попытки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68680" y="4663440"/>
            <a:ext cx="4800600" cy="457200"/>
          </a:xfrm>
          <a:prstGeom prst="rect">
            <a:avLst/>
          </a:prstGeom>
          <a:solidFill>
            <a:srgbClr val="F4FAFD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05840" y="46634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Офлайн-кэш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743200" y="46634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вкл.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17920" y="1828800"/>
            <a:ext cx="5257800" cy="3977640"/>
          </a:xfrm>
          <a:prstGeom prst="roundRect">
            <a:avLst>
              <a:gd name="adj" fmla="val 1379"/>
            </a:avLst>
          </a:prstGeom>
          <a:solidFill>
            <a:srgbClr val="FFFFFF"/>
          </a:solidFill>
          <a:ln w="12700">
            <a:solidFill>
              <a:srgbClr val="C6D6E0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217920" y="1828800"/>
            <a:ext cx="5257800" cy="384048"/>
          </a:xfrm>
          <a:prstGeom prst="rect">
            <a:avLst/>
          </a:prstGeom>
          <a:solidFill>
            <a:srgbClr val="0B5E88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0" y="1828800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· ML-профиль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11219688" y="1965960"/>
            <a:ext cx="109728" cy="109728"/>
          </a:xfrm>
          <a:prstGeom prst="ellipse">
            <a:avLst/>
          </a:prstGeom>
          <a:solidFill>
            <a:srgbClr val="7FB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11036808" y="1965960"/>
            <a:ext cx="109728" cy="109728"/>
          </a:xfrm>
          <a:prstGeom prst="ellipse">
            <a:avLst/>
          </a:prstGeom>
          <a:solidFill>
            <a:srgbClr val="7FB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10853928" y="1965960"/>
            <a:ext cx="109728" cy="109728"/>
          </a:xfrm>
          <a:prstGeom prst="ellipse">
            <a:avLst/>
          </a:prstGeom>
          <a:solidFill>
            <a:srgbClr val="7FB8D6"/>
          </a:solidFill>
          <a:ln/>
        </p:spPr>
      </p:sp>
      <p:sp>
        <p:nvSpPr>
          <p:cNvPr id="34" name="Text 32"/>
          <p:cNvSpPr/>
          <p:nvPr/>
        </p:nvSpPr>
        <p:spPr>
          <a:xfrm>
            <a:off x="6446520" y="23774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7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Архетипы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473952" y="2670048"/>
            <a:ext cx="2286000" cy="347472"/>
          </a:xfrm>
          <a:prstGeom prst="roundRect">
            <a:avLst>
              <a:gd name="adj" fmla="val 13158"/>
            </a:avLst>
          </a:prstGeom>
          <a:solidFill>
            <a:srgbClr val="EAF6FC"/>
          </a:solidFill>
          <a:ln w="9525">
            <a:solidFill>
              <a:srgbClr val="C6D6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11112" y="26700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5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942832" y="2670048"/>
            <a:ext cx="2286000" cy="347472"/>
          </a:xfrm>
          <a:prstGeom prst="roundRect">
            <a:avLst>
              <a:gd name="adj" fmla="val 13158"/>
            </a:avLst>
          </a:prstGeom>
          <a:solidFill>
            <a:srgbClr val="EAF6FC"/>
          </a:solidFill>
          <a:ln w="9525">
            <a:solidFill>
              <a:srgbClr val="C6D6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079992" y="26700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5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achiever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473952" y="3127248"/>
            <a:ext cx="2286000" cy="347472"/>
          </a:xfrm>
          <a:prstGeom prst="roundRect">
            <a:avLst>
              <a:gd name="adj" fmla="val 13158"/>
            </a:avLst>
          </a:prstGeom>
          <a:solidFill>
            <a:srgbClr val="EAF6FC"/>
          </a:solidFill>
          <a:ln w="9525">
            <a:solidFill>
              <a:srgbClr val="C6D6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11112" y="31272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5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socializer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8942832" y="3127248"/>
            <a:ext cx="2286000" cy="347472"/>
          </a:xfrm>
          <a:prstGeom prst="roundRect">
            <a:avLst>
              <a:gd name="adj" fmla="val 13158"/>
            </a:avLst>
          </a:prstGeom>
          <a:solidFill>
            <a:srgbClr val="EAF6FC"/>
          </a:solidFill>
          <a:ln w="9525">
            <a:solidFill>
              <a:srgbClr val="C6D6E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079992" y="31272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5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killer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446520" y="3703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7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Критические точки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446520" y="4023360"/>
            <a:ext cx="4800600" cy="384048"/>
          </a:xfrm>
          <a:prstGeom prst="rect">
            <a:avLst/>
          </a:prstGeom>
          <a:solidFill>
            <a:srgbClr val="F4FAFD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583680" y="402336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time_sec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9784080" y="402336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вес 1.0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6446520" y="4498848"/>
            <a:ext cx="48006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583680" y="449884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hints_used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9784080" y="449884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вес 1.5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6446520" y="4974336"/>
            <a:ext cx="4800600" cy="384048"/>
          </a:xfrm>
          <a:prstGeom prst="rect">
            <a:avLst/>
          </a:prstGeom>
          <a:solidFill>
            <a:srgbClr val="F4FAFD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83680" y="4974336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deaths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9784080" y="497433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вес 1.0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КОНТРАКТ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JSON для отправки на сервер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6126480" cy="4023360"/>
          </a:xfrm>
          <a:prstGeom prst="roundRect">
            <a:avLst>
              <a:gd name="adj" fmla="val 2273"/>
            </a:avLst>
          </a:prstGeom>
          <a:solidFill>
            <a:srgbClr val="0E2A3A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32688" y="1975104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/telemetry/ingest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32688" y="2359152"/>
            <a:ext cx="55778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"events": [{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"session_id": "uuid",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"player_id": "player_1",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"event_name": "level_complete",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"timestamp": 1716812345.1,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"parameters": { "time_sec": 120,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            "deaths": 2 }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}],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"metadata": {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"critical_points": [...],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"archetypes": [...],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"model_mode": "cloud"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}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178040" y="1783080"/>
            <a:ext cx="4373575" cy="1216152"/>
          </a:xfrm>
          <a:prstGeom prst="roundRect">
            <a:avLst>
              <a:gd name="adj" fmla="val 6767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397496" y="2075688"/>
            <a:ext cx="512064" cy="512064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2" name="Image 0" descr="icons/flo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51115" y="2229307"/>
            <a:ext cx="204826" cy="204826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8092440" y="1965960"/>
            <a:ext cx="33220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E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events[]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092440" y="2313432"/>
            <a:ext cx="3322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батч событий: id сессии, игрока, имя, время, parameters для ML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178040" y="3154680"/>
            <a:ext cx="4373575" cy="1216152"/>
          </a:xfrm>
          <a:prstGeom prst="roundRect">
            <a:avLst>
              <a:gd name="adj" fmla="val 6767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397496" y="3447288"/>
            <a:ext cx="512064" cy="512064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7" name="Image 1" descr="icons/sli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1115" y="3600907"/>
            <a:ext cx="204826" cy="204826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8092440" y="3337560"/>
            <a:ext cx="33220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E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metadata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8092440" y="3685032"/>
            <a:ext cx="3322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critical_points и archetypes из профиля; model_mode = cloud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7178040" y="4526280"/>
            <a:ext cx="4373575" cy="1216152"/>
          </a:xfrm>
          <a:prstGeom prst="roundRect">
            <a:avLst>
              <a:gd name="adj" fmla="val 6767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7397496" y="4818888"/>
            <a:ext cx="512064" cy="512064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22" name="Image 2" descr="icons/bo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1115" y="4972507"/>
            <a:ext cx="204826" cy="204826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8092440" y="4709160"/>
            <a:ext cx="33220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E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Формируется автоматически</a:t>
            </a:r>
            <a:endParaRPr lang="en-US" sz="1300" dirty="0"/>
          </a:p>
        </p:txBody>
      </p:sp>
      <p:sp>
        <p:nvSpPr>
          <p:cNvPr id="24" name="Text 19"/>
          <p:cNvSpPr/>
          <p:nvPr/>
        </p:nvSpPr>
        <p:spPr>
          <a:xfrm>
            <a:off x="8092440" y="5056632"/>
            <a:ext cx="3322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плагин сам подставляет session_id, timestamp, game_time, state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МАСШТАБИРОВАНИЕ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Интеграция в большие проекты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525780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77824" y="2084832"/>
            <a:ext cx="530352" cy="530352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9" name="Image 0" descr="icons/puzzl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6930" y="2243938"/>
            <a:ext cx="212141" cy="21214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600200" y="20299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Изоляция аддона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1600200" y="2395728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переносится только папка addons/analytics_plugin/ — не конфликтует с кодом игры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126480" y="1828800"/>
            <a:ext cx="525780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364224" y="2084832"/>
            <a:ext cx="530352" cy="530352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4" name="Image 1" descr="icons/bo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3330" y="2243938"/>
            <a:ext cx="212141" cy="212141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086600" y="20299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Минимальное API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7086600" y="2395728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вызова Analytics встраиваются в любой масштаб проекта без рефакторинга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640080" y="3401568"/>
            <a:ext cx="525780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77824" y="3657600"/>
            <a:ext cx="530352" cy="530352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9" name="Image 2" descr="icons/cl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930" y="3816706"/>
            <a:ext cx="212141" cy="212141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600200" y="36027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Надёжность сети</a:t>
            </a:r>
            <a:endParaRPr lang="en-US" sz="1450" dirty="0"/>
          </a:p>
        </p:txBody>
      </p:sp>
      <p:sp>
        <p:nvSpPr>
          <p:cNvPr id="21" name="Text 16"/>
          <p:cNvSpPr/>
          <p:nvPr/>
        </p:nvSpPr>
        <p:spPr>
          <a:xfrm>
            <a:off x="1600200" y="3968496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батчи, повторы и офлайн-очередь выдерживают нестабильное соединение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6126480" y="3401568"/>
            <a:ext cx="525780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364224" y="3657600"/>
            <a:ext cx="530352" cy="530352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24" name="Image 3" descr="icons/slid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3330" y="3816706"/>
            <a:ext cx="212141" cy="212141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086600" y="36027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Конфигурируемость</a:t>
            </a:r>
            <a:endParaRPr lang="en-US" sz="1450" dirty="0"/>
          </a:p>
        </p:txBody>
      </p:sp>
      <p:sp>
        <p:nvSpPr>
          <p:cNvPr id="26" name="Text 20"/>
          <p:cNvSpPr/>
          <p:nvPr/>
        </p:nvSpPr>
        <p:spPr>
          <a:xfrm>
            <a:off x="7086600" y="3968496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события и архетипы задаёт сам разработчик под свою игру</a:t>
            </a:r>
            <a:endParaRPr lang="en-US" sz="1150" dirty="0"/>
          </a:p>
        </p:txBody>
      </p:sp>
      <p:sp>
        <p:nvSpPr>
          <p:cNvPr id="27" name="Shape 21"/>
          <p:cNvSpPr/>
          <p:nvPr/>
        </p:nvSpPr>
        <p:spPr>
          <a:xfrm>
            <a:off x="640080" y="5029200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28" name="Text 22"/>
          <p:cNvSpPr/>
          <p:nvPr/>
        </p:nvSpPr>
        <p:spPr>
          <a:xfrm>
            <a:off x="914400" y="5102352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E7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Основа масштабируемости: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плагин слабо связан с игрой (автозагрузка + сигналы), вся тяжёлая логика — на сервере. Игра остаётся лёгкой и не зависит от размера проекта.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ЗАДЕЛЫ НА БУДУЩЕЕ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Заделы на будущее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12080" cy="1078992"/>
          </a:xfrm>
          <a:prstGeom prst="roundRect">
            <a:avLst>
              <a:gd name="adj" fmla="val 678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9536" y="2039112"/>
            <a:ext cx="566928" cy="566928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9" name="Image 0" descr="icons/stor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9614" y="2209190"/>
            <a:ext cx="226771" cy="22677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664208" y="194767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Публикация в Asset Library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1664208" y="231343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оформление аддона для официального магазина ассетов Godot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40080" y="3063240"/>
            <a:ext cx="5212080" cy="1078992"/>
          </a:xfrm>
          <a:prstGeom prst="roundRect">
            <a:avLst>
              <a:gd name="adj" fmla="val 678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59536" y="3319272"/>
            <a:ext cx="566928" cy="566928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4" name="Image 1" descr="icons/sli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614" y="3489350"/>
            <a:ext cx="226771" cy="226771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664208" y="322783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Расширение панели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1664208" y="359359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визуализация воронок событий и истории адаптаций в редакторе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640080" y="4343400"/>
            <a:ext cx="5212080" cy="1078992"/>
          </a:xfrm>
          <a:prstGeom prst="roundRect">
            <a:avLst>
              <a:gd name="adj" fmla="val 678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59536" y="4599432"/>
            <a:ext cx="566928" cy="566928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9" name="Image 2" descr="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9614" y="4769510"/>
            <a:ext cx="226771" cy="226771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664208" y="450799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Авто-тесты интеграции</a:t>
            </a:r>
            <a:endParaRPr lang="en-US" sz="1450" dirty="0"/>
          </a:p>
        </p:txBody>
      </p:sp>
      <p:sp>
        <p:nvSpPr>
          <p:cNvPr id="21" name="Text 16"/>
          <p:cNvSpPr/>
          <p:nvPr/>
        </p:nvSpPr>
        <p:spPr>
          <a:xfrm>
            <a:off x="1664208" y="487375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Сквозной чек-лист test_integration.gd как регрессионная проверка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6766560" y="1783080"/>
            <a:ext cx="4785055" cy="4160520"/>
          </a:xfrm>
          <a:prstGeom prst="roundRect">
            <a:avLst>
              <a:gd name="adj" fmla="val 2198"/>
            </a:avLst>
          </a:prstGeom>
          <a:solidFill>
            <a:srgbClr val="0B5E88"/>
          </a:solidFill>
          <a:ln/>
          <a:effectLst>
            <a:outerShdw sx="100000" sy="100000" kx="0" ky="0" algn="bl" rotWithShape="0" blurRad="114300" dist="38100" dir="5400000">
              <a:srgbClr val="9FB6C4">
                <a:alpha val="28000"/>
              </a:srgbClr>
            </a:outerShdw>
          </a:effectLst>
        </p:spPr>
      </p:sp>
      <p:sp>
        <p:nvSpPr>
          <p:cNvPr id="23" name="Text 18"/>
          <p:cNvSpPr/>
          <p:nvPr/>
        </p:nvSpPr>
        <p:spPr>
          <a:xfrm>
            <a:off x="6766560" y="2057400"/>
            <a:ext cx="4785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РЕПОЗИТОРИЙ ПРОЕКТА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7924648" y="2468880"/>
            <a:ext cx="246888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/>
        </p:spPr>
      </p:sp>
      <p:pic>
        <p:nvPicPr>
          <p:cNvPr id="25" name="Image 3" descr="qr_g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0952" y="2615184"/>
            <a:ext cx="2176272" cy="217627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6766560" y="5074920"/>
            <a:ext cx="4785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github.com/Antizi/diplom-Game_Plugs_Ai</a:t>
            </a:r>
            <a:endParaRPr lang="en-US" sz="1150" dirty="0"/>
          </a:p>
        </p:txBody>
      </p:sp>
      <p:sp>
        <p:nvSpPr>
          <p:cNvPr id="27" name="Text 21"/>
          <p:cNvSpPr/>
          <p:nvPr/>
        </p:nvSpPr>
        <p:spPr>
          <a:xfrm>
            <a:off x="6766560" y="5440680"/>
            <a:ext cx="4785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Наведите камеру телефона на QR-код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5E8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5" name="Shape 3"/>
          <p:cNvSpPr/>
          <p:nvPr/>
        </p:nvSpPr>
        <p:spPr>
          <a:xfrm>
            <a:off x="10972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6" name="Shape 4"/>
          <p:cNvSpPr/>
          <p:nvPr/>
        </p:nvSpPr>
        <p:spPr>
          <a:xfrm>
            <a:off x="10972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7" name="Shape 5"/>
          <p:cNvSpPr/>
          <p:nvPr/>
        </p:nvSpPr>
        <p:spPr>
          <a:xfrm>
            <a:off x="10972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8" name="Shape 6"/>
          <p:cNvSpPr/>
          <p:nvPr/>
        </p:nvSpPr>
        <p:spPr>
          <a:xfrm>
            <a:off x="15544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9" name="Shape 7"/>
          <p:cNvSpPr/>
          <p:nvPr/>
        </p:nvSpPr>
        <p:spPr>
          <a:xfrm>
            <a:off x="15544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0" name="Shape 8"/>
          <p:cNvSpPr/>
          <p:nvPr/>
        </p:nvSpPr>
        <p:spPr>
          <a:xfrm>
            <a:off x="15544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1" name="Shape 9"/>
          <p:cNvSpPr/>
          <p:nvPr/>
        </p:nvSpPr>
        <p:spPr>
          <a:xfrm>
            <a:off x="20116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2" name="Shape 10"/>
          <p:cNvSpPr/>
          <p:nvPr/>
        </p:nvSpPr>
        <p:spPr>
          <a:xfrm>
            <a:off x="20116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3" name="Shape 11"/>
          <p:cNvSpPr/>
          <p:nvPr/>
        </p:nvSpPr>
        <p:spPr>
          <a:xfrm>
            <a:off x="20116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4" name="Shape 12"/>
          <p:cNvSpPr/>
          <p:nvPr/>
        </p:nvSpPr>
        <p:spPr>
          <a:xfrm>
            <a:off x="24688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5" name="Shape 13"/>
          <p:cNvSpPr/>
          <p:nvPr/>
        </p:nvSpPr>
        <p:spPr>
          <a:xfrm>
            <a:off x="24688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6" name="Shape 14"/>
          <p:cNvSpPr/>
          <p:nvPr/>
        </p:nvSpPr>
        <p:spPr>
          <a:xfrm>
            <a:off x="24688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7" name="Shape 15"/>
          <p:cNvSpPr/>
          <p:nvPr/>
        </p:nvSpPr>
        <p:spPr>
          <a:xfrm>
            <a:off x="29260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8" name="Shape 16"/>
          <p:cNvSpPr/>
          <p:nvPr/>
        </p:nvSpPr>
        <p:spPr>
          <a:xfrm>
            <a:off x="29260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9" name="Shape 17"/>
          <p:cNvSpPr/>
          <p:nvPr/>
        </p:nvSpPr>
        <p:spPr>
          <a:xfrm>
            <a:off x="29260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0" name="Shape 18"/>
          <p:cNvSpPr/>
          <p:nvPr/>
        </p:nvSpPr>
        <p:spPr>
          <a:xfrm>
            <a:off x="33832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1" name="Shape 19"/>
          <p:cNvSpPr/>
          <p:nvPr/>
        </p:nvSpPr>
        <p:spPr>
          <a:xfrm>
            <a:off x="33832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2" name="Shape 20"/>
          <p:cNvSpPr/>
          <p:nvPr/>
        </p:nvSpPr>
        <p:spPr>
          <a:xfrm>
            <a:off x="33832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0116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СПАСИБО ЗА ВНИМАНИЕ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42316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Сбор и передача игровой телеметрии</a:t>
            </a:r>
            <a:endParaRPr lang="en-US" sz="3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распределённое хранилище</a:t>
            </a:r>
            <a:endParaRPr lang="en-US" sz="3400" dirty="0"/>
          </a:p>
        </p:txBody>
      </p:sp>
      <p:sp>
        <p:nvSpPr>
          <p:cNvPr id="25" name="Text 23"/>
          <p:cNvSpPr/>
          <p:nvPr/>
        </p:nvSpPr>
        <p:spPr>
          <a:xfrm>
            <a:off x="640080" y="39776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FE8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analytics_plugin для Godot 4 · простое API из 4 вызовов · настройка в редакторе · надёжная отправка телеметрии и offline-буфер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40080" y="49834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Артамонов Фёдор Андреевич  ·  Godot-инженер</a:t>
            </a:r>
            <a:pPr indent="0" marL="0">
              <a:buNone/>
            </a:pPr>
            <a:r>
              <a:rPr lang="en-US" sz="1400" dirty="0">
                <a:solidFill>
                  <a:srgbClr val="9F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 ·   Группа МВИ-122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0080" y="53492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Научный руководитель: Минаева Н. В., ст. преподаватель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"/>
          <p:cNvSpPr/>
          <p:nvPr/>
        </p:nvSpPr>
        <p:spPr>
          <a:xfrm>
            <a:off x="640080" y="470000"/>
            <a:ext cx="82296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250" b="1" spc="250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 ПРОЕКТА</a:t>
            </a:r>
          </a:p>
        </p:txBody>
      </p:sp>
      <p:sp>
        <p:nvSpPr>
          <p:cNvPr id="102" name="T"/>
          <p:cNvSpPr/>
          <p:nvPr/>
        </p:nvSpPr>
        <p:spPr>
          <a:xfrm>
            <a:off x="640080" y="76000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3000" b="1" kern="0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работает система</a:t>
            </a:r>
          </a:p>
        </p:txBody>
      </p:sp>
      <p:sp>
        <p:nvSpPr>
          <p:cNvPr id="103" name="T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ru-RU" sz="3000" b="1" kern="0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</a:p>
        </p:txBody>
      </p:sp>
      <p:sp>
        <p:nvSpPr>
          <p:cNvPr id="104" name="R"/>
          <p:cNvSpPr/>
          <p:nvPr/>
        </p:nvSpPr>
        <p:spPr>
          <a:xfrm>
            <a:off x="3360000" y="1560000"/>
            <a:ext cx="8260000" cy="3760000"/>
          </a:xfrm>
          <a:prstGeom prst="roundRect">
            <a:avLst>
              <a:gd name="adj" fmla="val 2600"/>
            </a:avLst>
          </a:prstGeom>
          <a:solidFill>
            <a:srgbClr val="F4FAFD"/>
          </a:solidFill>
          <a:ln w="12700">
            <a:solidFill>
              <a:srgbClr val="D7E5EE"/>
            </a:solidFill>
            <a:prstDash val="dash"/>
          </a:ln>
        </p:spPr>
      </p:sp>
      <p:sp>
        <p:nvSpPr>
          <p:cNvPr id="105" name="T"/>
          <p:cNvSpPr/>
          <p:nvPr/>
        </p:nvSpPr>
        <p:spPr>
          <a:xfrm>
            <a:off x="3560000" y="1700000"/>
            <a:ext cx="300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150" b="1" spc="200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</a:t>
            </a:r>
          </a:p>
        </p:txBody>
      </p:sp>
      <p:cxnSp>
        <p:nvCxnSpPr>
          <p:cNvPr id="106" name="cxn"/>
          <p:cNvCxnSpPr/>
          <p:nvPr/>
        </p:nvCxnSpPr>
        <p:spPr>
          <a:xfrm>
            <a:off x="2200000" y="3330000"/>
            <a:ext cx="2050000" cy="0"/>
          </a:xfrm>
          <a:prstGeom prst="straightConnector1">
            <a:avLst/>
          </a:prstGeom>
          <a:ln w="25400" cap="rnd">
            <a:solidFill>
              <a:srgbClr val="AEC1CD"/>
            </a:solidFill>
            <a:tailEnd type="triangle" w="med" len="med"/>
          </a:ln>
        </p:spPr>
      </p:cxnSp>
      <p:cxnSp>
        <p:nvCxnSpPr>
          <p:cNvPr id="107" name="cxn"/>
          <p:cNvCxnSpPr/>
          <p:nvPr/>
        </p:nvCxnSpPr>
        <p:spPr>
          <a:xfrm flipH="1">
            <a:off x="2200000" y="3520000"/>
            <a:ext cx="2050000" cy="0"/>
          </a:xfrm>
          <a:prstGeom prst="straightConnector1">
            <a:avLst/>
          </a:prstGeom>
          <a:ln w="25400" cap="rnd">
            <a:solidFill>
              <a:srgbClr val="AEC1CD"/>
            </a:solidFill>
            <a:tailEnd type="triangle" w="med" len="med"/>
          </a:ln>
        </p:spPr>
      </p:cxnSp>
      <p:cxnSp>
        <p:nvCxnSpPr>
          <p:cNvPr id="108" name="cxn"/>
          <p:cNvCxnSpPr/>
          <p:nvPr/>
        </p:nvCxnSpPr>
        <p:spPr>
          <a:xfrm flipV="1">
            <a:off x="5150000" y="2670000"/>
            <a:ext cx="2480000" cy="540000"/>
          </a:xfrm>
          <a:prstGeom prst="straightConnector1">
            <a:avLst/>
          </a:prstGeom>
          <a:ln w="25400" cap="rnd">
            <a:solidFill>
              <a:srgbClr val="AEC1CD"/>
            </a:solidFill>
            <a:tailEnd type="triangle" w="med" len="med"/>
          </a:ln>
        </p:spPr>
      </p:cxnSp>
      <p:cxnSp>
        <p:nvCxnSpPr>
          <p:cNvPr id="109" name="cxn"/>
          <p:cNvCxnSpPr/>
          <p:nvPr/>
        </p:nvCxnSpPr>
        <p:spPr>
          <a:xfrm flipH="1">
            <a:off x="5150000" y="2850000"/>
            <a:ext cx="2480000" cy="540000"/>
          </a:xfrm>
          <a:prstGeom prst="straightConnector1">
            <a:avLst/>
          </a:prstGeom>
          <a:ln w="25400" cap="rnd">
            <a:solidFill>
              <a:srgbClr val="AEC1CD"/>
            </a:solidFill>
            <a:tailEnd type="triangle" w="med" len="med"/>
          </a:ln>
        </p:spPr>
      </p:cxnSp>
      <p:cxnSp>
        <p:nvCxnSpPr>
          <p:cNvPr id="110" name="cxn"/>
          <p:cNvCxnSpPr/>
          <p:nvPr/>
        </p:nvCxnSpPr>
        <p:spPr>
          <a:xfrm>
            <a:off x="5150000" y="3450000"/>
            <a:ext cx="2480000" cy="840000"/>
          </a:xfrm>
          <a:prstGeom prst="straightConnector1">
            <a:avLst/>
          </a:prstGeom>
          <a:ln w="25400" cap="rnd">
            <a:solidFill>
              <a:srgbClr val="AEC1CD"/>
            </a:solidFill>
            <a:tailEnd type="triangle" w="med" len="med"/>
          </a:ln>
        </p:spPr>
      </p:cxnSp>
      <p:cxnSp>
        <p:nvCxnSpPr>
          <p:cNvPr id="111" name="cxn"/>
          <p:cNvCxnSpPr/>
          <p:nvPr/>
        </p:nvCxnSpPr>
        <p:spPr>
          <a:xfrm flipH="1" flipV="1">
            <a:off x="5150000" y="3630000"/>
            <a:ext cx="2480000" cy="840000"/>
          </a:xfrm>
          <a:prstGeom prst="straightConnector1">
            <a:avLst/>
          </a:prstGeom>
          <a:ln w="25400" cap="rnd">
            <a:solidFill>
              <a:srgbClr val="AEC1CD"/>
            </a:solidFill>
            <a:tailEnd type="triangle" w="med" len="med"/>
          </a:ln>
        </p:spPr>
      </p:cxnSp>
      <p:sp>
        <p:nvSpPr>
          <p:cNvPr id="112" name="R"/>
          <p:cNvSpPr/>
          <p:nvPr/>
        </p:nvSpPr>
        <p:spPr>
          <a:xfrm>
            <a:off x="1490000" y="3120000"/>
            <a:ext cx="660000" cy="430000"/>
          </a:xfrm>
          <a:prstGeom prst="roundRect">
            <a:avLst>
              <a:gd name="adj" fmla="val 9000"/>
            </a:avLst>
          </a:prstGeom>
          <a:solidFill>
            <a:srgbClr val="1F9BD8"/>
          </a:solidFill>
          <a:ln/>
        </p:spPr>
      </p:sp>
      <p:sp>
        <p:nvSpPr>
          <p:cNvPr id="113" name="R"/>
          <p:cNvSpPr/>
          <p:nvPr/>
        </p:nvSpPr>
        <p:spPr>
          <a:xfrm>
            <a:off x="1558000" y="3188000"/>
            <a:ext cx="524000" cy="29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</p:spPr>
      </p:sp>
      <p:sp>
        <p:nvSpPr>
          <p:cNvPr id="114" name="R"/>
          <p:cNvSpPr/>
          <p:nvPr/>
        </p:nvSpPr>
        <p:spPr>
          <a:xfrm>
            <a:off x="1774000" y="3550000"/>
            <a:ext cx="92000" cy="96000"/>
          </a:xfrm>
          <a:prstGeom prst="roundRect">
            <a:avLst>
              <a:gd name="adj" fmla="val 0"/>
            </a:avLst>
          </a:prstGeom>
          <a:solidFill>
            <a:srgbClr val="1F9BD8"/>
          </a:solidFill>
          <a:ln/>
        </p:spPr>
      </p:sp>
      <p:sp>
        <p:nvSpPr>
          <p:cNvPr id="115" name="R"/>
          <p:cNvSpPr/>
          <p:nvPr/>
        </p:nvSpPr>
        <p:spPr>
          <a:xfrm>
            <a:off x="1655000" y="3632000"/>
            <a:ext cx="330000" cy="66000"/>
          </a:xfrm>
          <a:prstGeom prst="roundRect">
            <a:avLst>
              <a:gd name="adj" fmla="val 50000"/>
            </a:avLst>
          </a:prstGeom>
          <a:solidFill>
            <a:srgbClr val="1F9BD8"/>
          </a:solidFill>
          <a:ln/>
        </p:spPr>
      </p:sp>
      <p:pic>
        <p:nvPicPr>
          <p:cNvPr id="116" name="Icon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250000" y="2990000"/>
            <a:ext cx="860000" cy="860000"/>
          </a:xfrm>
          <a:prstGeom prst="rect">
            <a:avLst/>
          </a:prstGeom>
        </p:spPr>
      </p:pic>
      <p:cxnSp>
        <p:nvCxnSpPr>
          <p:cNvPr id="117" name="ln"/>
          <p:cNvCxnSpPr/>
          <p:nvPr/>
        </p:nvCxnSpPr>
        <p:spPr>
          <a:xfrm>
            <a:off x="7760000" y="2430000"/>
            <a:ext cx="300000" cy="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18" name="ln"/>
          <p:cNvCxnSpPr/>
          <p:nvPr/>
        </p:nvCxnSpPr>
        <p:spPr>
          <a:xfrm>
            <a:off x="7760000" y="2430000"/>
            <a:ext cx="300000" cy="25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19" name="ln"/>
          <p:cNvCxnSpPr/>
          <p:nvPr/>
        </p:nvCxnSpPr>
        <p:spPr>
          <a:xfrm>
            <a:off x="7760000" y="2430000"/>
            <a:ext cx="300000" cy="50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20" name="ln"/>
          <p:cNvCxnSpPr/>
          <p:nvPr/>
        </p:nvCxnSpPr>
        <p:spPr>
          <a:xfrm flipV="1">
            <a:off x="7760000" y="2430000"/>
            <a:ext cx="300000" cy="25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21" name="ln"/>
          <p:cNvCxnSpPr/>
          <p:nvPr/>
        </p:nvCxnSpPr>
        <p:spPr>
          <a:xfrm>
            <a:off x="7760000" y="2680000"/>
            <a:ext cx="300000" cy="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22" name="ln"/>
          <p:cNvCxnSpPr/>
          <p:nvPr/>
        </p:nvCxnSpPr>
        <p:spPr>
          <a:xfrm>
            <a:off x="7760000" y="2680000"/>
            <a:ext cx="300000" cy="25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23" name="ln"/>
          <p:cNvCxnSpPr/>
          <p:nvPr/>
        </p:nvCxnSpPr>
        <p:spPr>
          <a:xfrm flipV="1">
            <a:off x="7760000" y="2430000"/>
            <a:ext cx="300000" cy="50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24" name="ln"/>
          <p:cNvCxnSpPr/>
          <p:nvPr/>
        </p:nvCxnSpPr>
        <p:spPr>
          <a:xfrm flipV="1">
            <a:off x="7760000" y="2680000"/>
            <a:ext cx="300000" cy="25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25" name="ln"/>
          <p:cNvCxnSpPr/>
          <p:nvPr/>
        </p:nvCxnSpPr>
        <p:spPr>
          <a:xfrm>
            <a:off x="7760000" y="2930000"/>
            <a:ext cx="300000" cy="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26" name="ln"/>
          <p:cNvCxnSpPr/>
          <p:nvPr/>
        </p:nvCxnSpPr>
        <p:spPr>
          <a:xfrm>
            <a:off x="8060000" y="2430000"/>
            <a:ext cx="300000" cy="11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27" name="ln"/>
          <p:cNvCxnSpPr/>
          <p:nvPr/>
        </p:nvCxnSpPr>
        <p:spPr>
          <a:xfrm>
            <a:off x="8060000" y="2430000"/>
            <a:ext cx="300000" cy="39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28" name="ln"/>
          <p:cNvCxnSpPr/>
          <p:nvPr/>
        </p:nvCxnSpPr>
        <p:spPr>
          <a:xfrm flipV="1">
            <a:off x="8060000" y="2540000"/>
            <a:ext cx="300000" cy="14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29" name="ln"/>
          <p:cNvCxnSpPr/>
          <p:nvPr/>
        </p:nvCxnSpPr>
        <p:spPr>
          <a:xfrm>
            <a:off x="8060000" y="2680000"/>
            <a:ext cx="300000" cy="14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30" name="ln"/>
          <p:cNvCxnSpPr/>
          <p:nvPr/>
        </p:nvCxnSpPr>
        <p:spPr>
          <a:xfrm flipV="1">
            <a:off x="8060000" y="2540000"/>
            <a:ext cx="300000" cy="39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31" name="ln"/>
          <p:cNvCxnSpPr/>
          <p:nvPr/>
        </p:nvCxnSpPr>
        <p:spPr>
          <a:xfrm flipV="1">
            <a:off x="8060000" y="2820000"/>
            <a:ext cx="300000" cy="11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sp>
        <p:nvSpPr>
          <p:cNvPr id="132" name="n"/>
          <p:cNvSpPr/>
          <p:nvPr/>
        </p:nvSpPr>
        <p:spPr>
          <a:xfrm>
            <a:off x="7700000" y="2370000"/>
            <a:ext cx="120000" cy="120000"/>
          </a:xfrm>
          <a:prstGeom prst="ellipse">
            <a:avLst/>
          </a:prstGeom>
          <a:solidFill>
            <a:srgbClr val="96B4C6"/>
          </a:solidFill>
          <a:ln/>
        </p:spPr>
      </p:sp>
      <p:sp>
        <p:nvSpPr>
          <p:cNvPr id="133" name="n"/>
          <p:cNvSpPr/>
          <p:nvPr/>
        </p:nvSpPr>
        <p:spPr>
          <a:xfrm>
            <a:off x="7700000" y="2620000"/>
            <a:ext cx="120000" cy="120000"/>
          </a:xfrm>
          <a:prstGeom prst="ellipse">
            <a:avLst/>
          </a:prstGeom>
          <a:solidFill>
            <a:srgbClr val="96B4C6"/>
          </a:solidFill>
          <a:ln/>
        </p:spPr>
      </p:sp>
      <p:sp>
        <p:nvSpPr>
          <p:cNvPr id="134" name="n"/>
          <p:cNvSpPr/>
          <p:nvPr/>
        </p:nvSpPr>
        <p:spPr>
          <a:xfrm>
            <a:off x="7700000" y="2870000"/>
            <a:ext cx="120000" cy="120000"/>
          </a:xfrm>
          <a:prstGeom prst="ellipse">
            <a:avLst/>
          </a:prstGeom>
          <a:solidFill>
            <a:srgbClr val="96B4C6"/>
          </a:solidFill>
          <a:ln/>
        </p:spPr>
      </p:sp>
      <p:sp>
        <p:nvSpPr>
          <p:cNvPr id="135" name="n"/>
          <p:cNvSpPr/>
          <p:nvPr/>
        </p:nvSpPr>
        <p:spPr>
          <a:xfrm>
            <a:off x="8000000" y="2370000"/>
            <a:ext cx="120000" cy="120000"/>
          </a:xfrm>
          <a:prstGeom prst="ellipse">
            <a:avLst/>
          </a:prstGeom>
          <a:solidFill>
            <a:srgbClr val="96B4C6"/>
          </a:solidFill>
          <a:ln/>
        </p:spPr>
      </p:sp>
      <p:sp>
        <p:nvSpPr>
          <p:cNvPr id="136" name="n"/>
          <p:cNvSpPr/>
          <p:nvPr/>
        </p:nvSpPr>
        <p:spPr>
          <a:xfrm>
            <a:off x="8000000" y="2620000"/>
            <a:ext cx="120000" cy="120000"/>
          </a:xfrm>
          <a:prstGeom prst="ellipse">
            <a:avLst/>
          </a:prstGeom>
          <a:solidFill>
            <a:srgbClr val="96B4C6"/>
          </a:solidFill>
          <a:ln/>
        </p:spPr>
      </p:sp>
      <p:sp>
        <p:nvSpPr>
          <p:cNvPr id="137" name="n"/>
          <p:cNvSpPr/>
          <p:nvPr/>
        </p:nvSpPr>
        <p:spPr>
          <a:xfrm>
            <a:off x="8000000" y="2870000"/>
            <a:ext cx="120000" cy="120000"/>
          </a:xfrm>
          <a:prstGeom prst="ellipse">
            <a:avLst/>
          </a:prstGeom>
          <a:solidFill>
            <a:srgbClr val="96B4C6"/>
          </a:solidFill>
          <a:ln/>
        </p:spPr>
      </p:sp>
      <p:sp>
        <p:nvSpPr>
          <p:cNvPr id="138" name="n"/>
          <p:cNvSpPr/>
          <p:nvPr/>
        </p:nvSpPr>
        <p:spPr>
          <a:xfrm>
            <a:off x="8300000" y="2480000"/>
            <a:ext cx="120000" cy="120000"/>
          </a:xfrm>
          <a:prstGeom prst="ellipse">
            <a:avLst/>
          </a:prstGeom>
          <a:solidFill>
            <a:srgbClr val="96B4C6"/>
          </a:solidFill>
          <a:ln/>
        </p:spPr>
      </p:sp>
      <p:sp>
        <p:nvSpPr>
          <p:cNvPr id="139" name="n"/>
          <p:cNvSpPr/>
          <p:nvPr/>
        </p:nvSpPr>
        <p:spPr>
          <a:xfrm>
            <a:off x="8300000" y="2760000"/>
            <a:ext cx="120000" cy="120000"/>
          </a:xfrm>
          <a:prstGeom prst="ellipse">
            <a:avLst/>
          </a:prstGeom>
          <a:solidFill>
            <a:srgbClr val="96B4C6"/>
          </a:solidFill>
          <a:ln/>
        </p:spPr>
      </p:sp>
      <p:pic>
        <p:nvPicPr>
          <p:cNvPr id="140" name="Icon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30000" y="4090000"/>
            <a:ext cx="860000" cy="860000"/>
          </a:xfrm>
          <a:prstGeom prst="rect">
            <a:avLst/>
          </a:prstGeom>
        </p:spPr>
      </p:pic>
      <p:sp>
        <p:nvSpPr>
          <p:cNvPr id="141" name="T"/>
          <p:cNvSpPr/>
          <p:nvPr/>
        </p:nvSpPr>
        <p:spPr>
          <a:xfrm>
            <a:off x="420000" y="2700000"/>
            <a:ext cx="28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400" b="1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Godot Engine</a:t>
            </a:r>
          </a:p>
        </p:txBody>
      </p:sp>
      <p:sp>
        <p:nvSpPr>
          <p:cNvPr id="142" name="T"/>
          <p:cNvSpPr/>
          <p:nvPr/>
        </p:nvSpPr>
        <p:spPr>
          <a:xfrm>
            <a:off x="3280000" y="2700000"/>
            <a:ext cx="28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400" b="1" kern="0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API</a:t>
            </a:r>
          </a:p>
        </p:txBody>
      </p:sp>
      <p:sp>
        <p:nvSpPr>
          <p:cNvPr id="143" name="T"/>
          <p:cNvSpPr/>
          <p:nvPr/>
        </p:nvSpPr>
        <p:spPr>
          <a:xfrm>
            <a:off x="6660000" y="1960000"/>
            <a:ext cx="28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400" b="1" kern="0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ML-сервис</a:t>
            </a:r>
          </a:p>
        </p:txBody>
      </p:sp>
      <p:sp>
        <p:nvSpPr>
          <p:cNvPr id="144" name="T"/>
          <p:cNvSpPr/>
          <p:nvPr/>
        </p:nvSpPr>
        <p:spPr>
          <a:xfrm>
            <a:off x="6660000" y="5040000"/>
            <a:ext cx="28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400" b="1" kern="0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</a:p>
        </p:txBody>
      </p:sp>
      <p:sp>
        <p:nvSpPr>
          <p:cNvPr id="145" name="T"/>
          <p:cNvSpPr/>
          <p:nvPr/>
        </p:nvSpPr>
        <p:spPr>
          <a:xfrm>
            <a:off x="2375000" y="3030000"/>
            <a:ext cx="170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0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телеметрия</a:t>
            </a:r>
          </a:p>
        </p:txBody>
      </p:sp>
      <p:sp>
        <p:nvSpPr>
          <p:cNvPr id="146" name="T"/>
          <p:cNvSpPr/>
          <p:nvPr/>
        </p:nvSpPr>
        <p:spPr>
          <a:xfrm>
            <a:off x="2225000" y="3610000"/>
            <a:ext cx="200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0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адаптация игры</a:t>
            </a:r>
          </a:p>
        </p:txBody>
      </p:sp>
      <p:sp>
        <p:nvSpPr>
          <p:cNvPr id="147" name="T"/>
          <p:cNvSpPr/>
          <p:nvPr/>
        </p:nvSpPr>
        <p:spPr>
          <a:xfrm>
            <a:off x="5900000" y="2640000"/>
            <a:ext cx="150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0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</a:t>
            </a:r>
          </a:p>
        </p:txBody>
      </p:sp>
      <p:sp>
        <p:nvSpPr>
          <p:cNvPr id="148" name="T"/>
          <p:cNvSpPr/>
          <p:nvPr/>
        </p:nvSpPr>
        <p:spPr>
          <a:xfrm>
            <a:off x="5900000" y="4360000"/>
            <a:ext cx="150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0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системы сбора и передачи игровой телеметрии в распределённое хранилище данных</dc:title>
  <dc:subject>PptxGenJS Presentation</dc:subject>
  <dc:creator>Артамонов Фёдор Андреевич</dc:creator>
  <cp:lastModifiedBy>Артамонов Фёдор Андреевич</cp:lastModifiedBy>
  <cp:revision>1</cp:revision>
  <dcterms:created xsi:type="dcterms:W3CDTF">2026-06-15T11:15:39Z</dcterms:created>
  <dcterms:modified xsi:type="dcterms:W3CDTF">2026-06-15T11:15:39Z</dcterms:modified>
</cp:coreProperties>
</file>