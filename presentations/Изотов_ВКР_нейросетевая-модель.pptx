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отвечал за ML-часть проекта. Задача моего сервиса — по поведению игрока в сессии определить его архетип (исследователь, достигатор, социализатор, киллер) и вернуть рекомендации по адаптации сложности. Дальше расскажу, зачем это нужно проекту, какую модель я выбрал и почему, как она устроена и как встроена в общую систему.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проблема, которую мы решаем: единая сложность не подходит всем игрокам. Архетип — компактная метрика стиля игрока, к которой привязаны все системы баланса. Это вход для адаптации: по архетипу мы выдаём конкретные параметры difficulty, enemy_density, loot_multiplier. И, что важно для всего проекта, — разработчик игры не пишет ML-код, он лишь описывает события и архетипы, а считает всё сервер.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общая архитектура. Godot-плагин собирает события и шлёт их на backend. Backend строит вектор признаков и обращается к моему ML-сервису по HTTP POST /predict. Сервис возвращает архетип и параметры адаптации, которые backend кладёт в ответ, а игра применяет в рантайме. Принципиальное решение — cloud-only: модель только на сервере, на клиенте инференса нет. Это упрощает обновление модели и не нагружает игру.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Формально это задача многоклассовой классификации: на вход вектор признаков сессии, на выход — один из четырёх архетипов. Признаки строятся из частот событий и числовых метрик вроде времени, смертей, подсказок, с весами критических точек из профиля игры. Почему ML, а не правила: жёсткие if-else не масштабируются, архетип определяется комбинацией признаков, а модель к тому же дообучается на накопленных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три подхода. Жёсткие правила объяснимы, но неточны и не масштабируются. LSTM потенциально точнее, но требует тысяч размеченных сессий и медленнее. Random Forest даёт лучший баланс на старте проекта: приемлемая точность уже на сотнях сессий, инференс быстрее пяти миллисекунд, экспортируется в ONNX. Поэтому в продакшене сейчас Random Forest, а LSTM лежит в research как кандидат на замену, когда накопим достаточно реальных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работает инференс. События сессии из Postgres превращаются в вектор признаков строго по feature_order, затем Random Forest в формате ONNX через onnxruntime на CPU выдаёт класс и вероятности. Из класса получаем архетип, из вероятностей — confidence, и подбираем параметры адаптации. Два инженерных акцента: согласованность признаков — порядок фичей в модели жёстко совпадает с критическими точками профиля игры; и надёжность — если ONNX почему-то не загрузился, сервис не падает, а отвечает эвристикой.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— как модель обучается. Данные берём из Postgres: реальные события и ранее сделанные предсказания, а для холодного старта есть seed-скрипт на тысячу размеченных сессий. По каждой сессии строим признаки и метку, обучаем RandomForest в sklearn и экспортируем в ONNX вместе с метаданными — порядком признаков и списком архетипов. Запускается это эндпоинтом POST /train, после чего модель перезагружается на горячую, без пересборки контейнера. Так версия модели обновляется прямо в работающем сервисе.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Интеграция. Мой код — это отдельный микросервис в Docker Compose на порту 8001. Backend общается с ним по HTTP через ml_client.py: на эндпоинт /predict уходит session_id, player_id, словарь признаков и список архетипов, обратно приходит архетип, уверенность, параметры адаптации и версия модели. Вызов происходит не один раз, а каждые bootstrap_actions событий, так что адаптация обновляется по ходу сессии. Результат backend кладёт прямо в ответ на /telemetry/ingest, и плагин эмитит сигнал в игру.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планах: заменить Random Forest на LSTM, когда наберём достаточно реальных сессий — это лежит готовым прототипом в research. Добавить строгую валидацию входных признаков по профилю игры. И завести метрики качества — латентность предсказаний, долю срабатываний fallback, мониторинг версии модели. Весь код — в репозитории по QR-коду, папка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ML-сервис по телеметрии определяет архетип игрока и возвращает параметры адаптации. В основе — Random Forest в формате ONNX, вынесенный в отдельный сервис, с обучением на данных из Postgres, надёжным fallback и горячей перезагрузкой модели.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5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55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12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1417320"/>
            <a:ext cx="10927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и интеграция нейросетевой модели для прогнозирования поведения пользователя в адаптивной игровой системе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F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Нейросетевая модель по телеметрии сессии определяет архетип игрока и возвращает параметры адаптации геймплея в реальном времени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blurRad="114300" dist="38100" dir="5400000" algn="bl" rotWithShape="0">
              <a:srgbClr val="9FB6C4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5276088"/>
            <a:ext cx="603504" cy="603504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8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" y="5457139"/>
            <a:ext cx="241402" cy="24140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8308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783080" y="53492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Изотов Антон Николаевич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783080" y="5760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МВИ-122  ·  Team-Lead, ML-инженер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37960" y="4892040"/>
            <a:ext cx="5013655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blurRad="114300" dist="38100" dir="5400000" algn="bl" rotWithShape="0">
              <a:srgbClr val="9FB6C4">
                <a:alpha val="2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30568" y="50749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30568" y="5394960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Беспалов М. Е.</a:t>
            </a:r>
            <a:endParaRPr lang="en-US" sz="15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к.т.н., доцент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Роль метрики «архетип игрока» в проекте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ручная сложность не подходит всем: одни скучают, другие бросают игру. Архетип — это компактная метрика стиля игрока, на которую опираются все остальные системы баланса.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7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0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88950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34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 игроков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" y="38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архетипа Bartle вместо «средней» сложности для всех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52544" y="24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08576" y="27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88950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8576" y="34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для адаптации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08576" y="38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→ difficulty, enemy_density, loot_multiplier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5008" y="24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27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0" name="Image 2" descr="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88950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4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1040" y="38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 под стиль игрока снижает отток и скуку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0080" y="4572000"/>
            <a:ext cx="10911535" cy="1234440"/>
          </a:xfrm>
          <a:prstGeom prst="roundRect">
            <a:avLst>
              <a:gd name="adj" fmla="val 6667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4400" y="4846320"/>
            <a:ext cx="658368" cy="658368"/>
          </a:xfrm>
          <a:prstGeom prst="ellipse">
            <a:avLst/>
          </a:prstGeom>
          <a:solidFill>
            <a:srgbClr val="0E7FB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5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910" y="5043830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4828032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 проекта:  </a:t>
            </a: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игры не пишет ML-код. Он задаёт события и архетипы в редакторе, а вся ML-логика — на сервере. Архетип — это «язык», на котором ML общается с игрой.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</a:p>
        </p:txBody>
      </p:sp>
      <p:sp>
        <p:nvSpPr>
          <p:cNvPr id="102" name="Text"/>
          <p:cNvSpPr/>
          <p:nvPr/>
        </p:nvSpPr>
        <p:spPr>
          <a:xfrm>
            <a:off x="640080" y="749808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 проект целиком</a:t>
            </a:r>
          </a:p>
        </p:txBody>
      </p:sp>
      <p:sp>
        <p:nvSpPr>
          <p:cNvPr id="103" name="Text"/>
          <p:cNvSpPr/>
          <p:nvPr/>
        </p:nvSpPr>
        <p:spPr>
          <a:xfrm>
            <a:off x="640080" y="1500000"/>
            <a:ext cx="109118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300" kern="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собирает события, сервер их обрабатывает и хранит, нейросетевая модель возвращает параметры адаптации — и геймплей подстраивается под игрока.</a:t>
            </a:r>
          </a:p>
        </p:txBody>
      </p:sp>
      <p:sp>
        <p:nvSpPr>
          <p:cNvPr id="104" name="Card"/>
          <p:cNvSpPr/>
          <p:nvPr/>
        </p:nvSpPr>
        <p:spPr>
          <a:xfrm>
            <a:off x="640080" y="2360000"/>
            <a:ext cx="3300000" cy="212000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05" name="Text"/>
          <p:cNvSpPr/>
          <p:nvPr/>
        </p:nvSpPr>
        <p:spPr>
          <a:xfrm>
            <a:off x="900080" y="2530000"/>
            <a:ext cx="27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50" b="1" kern="0" spc="18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· GODOT</a:t>
            </a:r>
          </a:p>
        </p:txBody>
      </p:sp>
      <p:sp>
        <p:nvSpPr>
          <p:cNvPr id="106" name="Text"/>
          <p:cNvSpPr/>
          <p:nvPr/>
        </p:nvSpPr>
        <p:spPr>
          <a:xfrm>
            <a:off x="900080" y="2810000"/>
            <a:ext cx="27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6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Игра</a:t>
            </a:r>
          </a:p>
        </p:txBody>
      </p:sp>
      <p:sp>
        <p:nvSpPr>
          <p:cNvPr id="107" name="Text"/>
          <p:cNvSpPr/>
          <p:nvPr/>
        </p:nvSpPr>
        <p:spPr>
          <a:xfrm>
            <a:off x="900080" y="3220000"/>
            <a:ext cx="27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00" kern="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аддон analytics_plugin</a:t>
            </a:r>
          </a:p>
        </p:txBody>
      </p:sp>
      <p:sp>
        <p:nvSpPr>
          <p:cNvPr id="108" name="Text"/>
          <p:cNvSpPr/>
          <p:nvPr/>
        </p:nvSpPr>
        <p:spPr>
          <a:xfrm>
            <a:off x="900080" y="3580000"/>
            <a:ext cx="278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сбор игровых событий</a:t>
            </a:r>
          </a:p>
          <a:p>
            <a:pPr marL="0" indent="0" algn="l">
              <a:buNone/>
            </a:pPr>
            <a:r>
              <a:rPr lang="ru-RU" sz="10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отправка телеметрии</a:t>
            </a:r>
          </a:p>
          <a:p>
            <a:pPr marL="0" indent="0" algn="l">
              <a:buNone/>
            </a:pPr>
            <a:r>
              <a:rPr lang="ru-RU" sz="10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приём адаптации</a:t>
            </a:r>
          </a:p>
        </p:txBody>
      </p:sp>
      <p:sp>
        <p:nvSpPr>
          <p:cNvPr id="109" name="Card"/>
          <p:cNvSpPr/>
          <p:nvPr/>
        </p:nvSpPr>
        <p:spPr>
          <a:xfrm>
            <a:off x="4446000" y="2360000"/>
            <a:ext cx="3300000" cy="212000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10" name="Text"/>
          <p:cNvSpPr/>
          <p:nvPr/>
        </p:nvSpPr>
        <p:spPr>
          <a:xfrm>
            <a:off x="4706000" y="2530000"/>
            <a:ext cx="27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50" b="1" kern="0" spc="18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</a:p>
        </p:txBody>
      </p:sp>
      <p:sp>
        <p:nvSpPr>
          <p:cNvPr id="111" name="Text"/>
          <p:cNvSpPr/>
          <p:nvPr/>
        </p:nvSpPr>
        <p:spPr>
          <a:xfrm>
            <a:off x="4706000" y="2810000"/>
            <a:ext cx="27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6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</a:p>
        </p:txBody>
      </p:sp>
      <p:sp>
        <p:nvSpPr>
          <p:cNvPr id="112" name="Text"/>
          <p:cNvSpPr/>
          <p:nvPr/>
        </p:nvSpPr>
        <p:spPr>
          <a:xfrm>
            <a:off x="4706000" y="3220000"/>
            <a:ext cx="27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00" kern="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</a:p>
        </p:txBody>
      </p:sp>
      <p:sp>
        <p:nvSpPr>
          <p:cNvPr id="113" name="Text"/>
          <p:cNvSpPr/>
          <p:nvPr/>
        </p:nvSpPr>
        <p:spPr>
          <a:xfrm>
            <a:off x="4706000" y="3580000"/>
            <a:ext cx="278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приём и хранение событий</a:t>
            </a:r>
          </a:p>
          <a:p>
            <a:pPr marL="0" indent="0" algn="l">
              <a:buNone/>
            </a:pPr>
            <a:r>
              <a:rPr lang="ru-RU" sz="10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построение признаков</a:t>
            </a:r>
          </a:p>
          <a:p>
            <a:pPr marL="0" indent="0" algn="l">
              <a:buNone/>
            </a:pPr>
            <a:r>
              <a:rPr lang="ru-RU" sz="10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вызов ML, ответ игре</a:t>
            </a:r>
          </a:p>
        </p:txBody>
      </p:sp>
      <p:sp>
        <p:nvSpPr>
          <p:cNvPr id="114" name="Card"/>
          <p:cNvSpPr/>
          <p:nvPr/>
        </p:nvSpPr>
        <p:spPr>
          <a:xfrm>
            <a:off x="8251920" y="2360000"/>
            <a:ext cx="3300000" cy="2120000"/>
          </a:xfrm>
          <a:prstGeom prst="roundRect">
            <a:avLst>
              <a:gd name="adj" fmla="val 4865"/>
            </a:avLst>
          </a:prstGeom>
          <a:solidFill>
            <a:srgbClr val="1F9BD8"/>
          </a:solidFill>
          <a:ln w="19050">
            <a:solidFill>
              <a:srgbClr val="1F9BD8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15" name="Text"/>
          <p:cNvSpPr/>
          <p:nvPr/>
        </p:nvSpPr>
        <p:spPr>
          <a:xfrm>
            <a:off x="8511920" y="2530000"/>
            <a:ext cx="27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50" b="1" kern="0" spc="180" dirty="0">
                <a:solidFill>
                  <a:srgbClr val="CF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</a:p>
        </p:txBody>
      </p:sp>
      <p:sp>
        <p:nvSpPr>
          <p:cNvPr id="116" name="Text"/>
          <p:cNvSpPr/>
          <p:nvPr/>
        </p:nvSpPr>
        <p:spPr>
          <a:xfrm>
            <a:off x="8511920" y="2810000"/>
            <a:ext cx="27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6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ML-сервис</a:t>
            </a:r>
          </a:p>
        </p:txBody>
      </p:sp>
      <p:sp>
        <p:nvSpPr>
          <p:cNvPr id="117" name="Text"/>
          <p:cNvSpPr/>
          <p:nvPr/>
        </p:nvSpPr>
        <p:spPr>
          <a:xfrm>
            <a:off x="8511920" y="3220000"/>
            <a:ext cx="27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00" kern="0" dirty="0">
                <a:solidFill>
                  <a:srgbClr val="DC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· ONNX</a:t>
            </a:r>
          </a:p>
        </p:txBody>
      </p:sp>
      <p:sp>
        <p:nvSpPr>
          <p:cNvPr id="118" name="Text"/>
          <p:cNvSpPr/>
          <p:nvPr/>
        </p:nvSpPr>
        <p:spPr>
          <a:xfrm>
            <a:off x="8511920" y="3580000"/>
            <a:ext cx="278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kern="0" dirty="0">
                <a:solidFill>
                  <a:srgbClr val="E6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определение архетипа</a:t>
            </a:r>
          </a:p>
          <a:p>
            <a:pPr marL="0" indent="0" algn="l">
              <a:buNone/>
            </a:pPr>
            <a:r>
              <a:rPr lang="ru-RU" sz="1000" kern="0" dirty="0">
                <a:solidFill>
                  <a:srgbClr val="E6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расчёт параметров адаптации</a:t>
            </a:r>
          </a:p>
          <a:p>
            <a:pPr marL="0" indent="0" algn="l">
              <a:buNone/>
            </a:pPr>
            <a:r>
              <a:rPr lang="ru-RU" sz="1000" kern="0" dirty="0">
                <a:solidFill>
                  <a:srgbClr val="E6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обучение на данных</a:t>
            </a:r>
          </a:p>
        </p:txBody>
      </p:sp>
      <p:sp>
        <p:nvSpPr>
          <p:cNvPr id="119" name="Text"/>
          <p:cNvSpPr/>
          <p:nvPr/>
        </p:nvSpPr>
        <p:spPr>
          <a:xfrm>
            <a:off x="4013040" y="3220000"/>
            <a:ext cx="360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70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</a:p>
        </p:txBody>
      </p:sp>
      <p:sp>
        <p:nvSpPr>
          <p:cNvPr id="121" name="Text"/>
          <p:cNvSpPr/>
          <p:nvPr/>
        </p:nvSpPr>
        <p:spPr>
          <a:xfrm>
            <a:off x="7818960" y="3220000"/>
            <a:ext cx="360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70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</a:p>
        </p:txBody>
      </p:sp>
      <p:sp>
        <p:nvSpPr>
          <p:cNvPr id="123" name="Card"/>
          <p:cNvSpPr/>
          <p:nvPr/>
        </p:nvSpPr>
        <p:spPr>
          <a:xfrm>
            <a:off x="640080" y="4680000"/>
            <a:ext cx="10911840" cy="58000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 w="12700">
            <a:solidFill>
              <a:srgbClr val="CFE6F4"/>
            </a:solidFill>
            <a:prstDash val="solid"/>
          </a:ln>
        </p:spPr>
      </p:sp>
      <p:sp>
        <p:nvSpPr>
          <p:cNvPr id="124" name="Text"/>
          <p:cNvSpPr/>
          <p:nvPr/>
        </p:nvSpPr>
        <p:spPr>
          <a:xfrm>
            <a:off x="940080" y="4680000"/>
            <a:ext cx="1031184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00" b="1" kern="0" dirty="0">
                <a:solidFill>
                  <a:srgbClr val="1571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Адаптация возвращается в игру в ответе сервера:  </a:t>
            </a:r>
            <a:r>
              <a:rPr lang="ru-RU" sz="1100" kern="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· плотность врагов · множитель добычи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Место ML-сервиса в общей системе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35915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gamep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52923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</a:t>
            </a:r>
            <a:endParaRPr lang="en-US" sz="14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analytics_plugin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96112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событий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941064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453128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235915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238" y="2529230"/>
            <a:ext cx="226771" cy="2267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709160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754112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266176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1F9BD8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22208" y="2359152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1" name="Image 2" descr="icons/brai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2286" y="2529230"/>
            <a:ext cx="226771" cy="22677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ML-service</a:t>
            </a:r>
            <a:endParaRPr lang="en-US" sz="14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ONNX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522208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+ адаптация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40080" y="4160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adaptation (difficulty · enemy_density · loot_multiplier)  возвращается игре в ответе ingest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7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4400" y="48646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Cloud-only:  </a:t>
            </a: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живёт только в ML-service. Локального инференса на устройстве игрока нет — это упрощает обновление модели и не нагружает клиент. Backend — единственный клиент ML для /predict.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 · 1/3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и обоснование выбора ML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задачи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Многоклассовая классификация: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признаков сессии → один из архетипов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Признаки: </a:t>
            </a: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частоты событий, time_sec, deaths, hints_used, score — с весами critical points из профиля игры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Классы: </a:t>
            </a: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· achiever · socializer · killer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0256" y="20756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2" name="Image 0" descr="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24028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60920" y="19659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не масштабируются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60920" y="23134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ручные if-else по метрикам быстро становятся неподдерживаемыми при росте числа событий и архетипов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0" y="31546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20256" y="34472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7" name="Image 1" descr="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361188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33375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ловит комбинации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360920" y="36850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определяется сочетанием признаков, а не одним порогом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00800" y="45262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620256" y="48188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2" name="Image 2" descr="icons/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4983480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60920" y="47091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на данных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360920" y="50566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улучшается по мере накопления реальной телеметрии в Postgres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 · 2/3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подходов и выбор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74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182880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8745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Точность*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874520"/>
            <a:ext cx="210312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18745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 нужно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0" y="1874520"/>
            <a:ext cx="173736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33104" y="18745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424160" y="1874520"/>
            <a:ext cx="201168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70464" y="18745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58775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5877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Жёсткие правила (if-else)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58775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587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2587752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25877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0" y="2587752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25877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мгновенно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424160" y="2587752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70464" y="258775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300984"/>
            <a:ext cx="411480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3009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(выбран)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300984"/>
            <a:ext cx="182880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330098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3300984"/>
            <a:ext cx="210312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33009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сессий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86800" y="3300984"/>
            <a:ext cx="173736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33104" y="330098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мс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424160" y="3300984"/>
            <a:ext cx="201168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70464" y="330098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0142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01421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нейросеть последоват.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754880" y="401421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40142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потенциально выше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583680" y="4014216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401421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сессий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686800" y="4014216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33104" y="401421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мс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10424160" y="4014216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70464" y="40142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483717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на синтетических + seed-данных проекта; точная оценка — по мере накопления реальной телеметрии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5074920"/>
            <a:ext cx="10911535" cy="749808"/>
          </a:xfrm>
          <a:prstGeom prst="roundRect">
            <a:avLst>
              <a:gd name="adj" fmla="val 10976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0" y="5138928"/>
            <a:ext cx="103628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Выбор: Random Forest (sklearn → ONNX).  </a:t>
            </a: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баланс «точность / объём данных / скорость» на старте. LSTM — в исследовании (ml/research/lstm) как замена, когда данных хватит.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 · 3/3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Строение модели и работа инференса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215798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42" y="2317090"/>
            <a:ext cx="212141" cy="212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сессии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9536" y="3163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 из Postgres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74720" y="1920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94176" y="215798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282" y="2317090"/>
            <a:ext cx="212141" cy="21214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94176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94176" y="3163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по feature_order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0350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309360" y="1920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1F9BD8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28816" y="2157984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1" name="Image 2" descr="icons/brai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922" y="2317090"/>
            <a:ext cx="212141" cy="21214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28816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(ONNX)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528816" y="3163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onnxruntime, CPU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86968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9144000" y="1920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63456" y="215798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7" name="Image 3" descr="icons/sli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2562" y="2317090"/>
            <a:ext cx="212141" cy="21214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63456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+ adaptation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363456" y="3163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0080" y="388620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77824" y="41148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32" name="Image 4" descr="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" y="4279392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00200" y="4041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Согласованность признаков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1600200" y="4407408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feature_order из model_meta.json совпадает с critical_points профиля; отсутствующие признаки → 0 с предупреждением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080760" y="388620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18504" y="41148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37" name="Image 5" descr="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4279392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40880" y="4041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7040880" y="4407408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ONNX не загружен — fallback-эвристика, сервис не падает (model_version = ml-heuristic)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МОДЕЛИ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Обучение: от телеметрии к новой версии ONNX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066544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480" y="2066544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1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203704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40280" y="19568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74920" y="193852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предсказания берутся из Postgres; seed-скрипт даёт 1000 размеченных сессий для холодного старта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852928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77824" y="3090672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554480" y="3090672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8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227832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40280" y="29809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074920" y="296265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 по каждой сессии + метка архетипа (из predictions или эвристики)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3877056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77824" y="4114800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23" name="Text 19"/>
          <p:cNvSpPr/>
          <p:nvPr/>
        </p:nvSpPr>
        <p:spPr>
          <a:xfrm>
            <a:off x="87782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554480" y="4114800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5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4251960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240280" y="4005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экспорт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074920" y="398678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RandomForest → skl2onnx → classifier.onnx + model_meta.json (feature_order, archetypes)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" y="4901184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77824" y="5138928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30" name="Text 25"/>
          <p:cNvSpPr/>
          <p:nvPr/>
        </p:nvSpPr>
        <p:spPr>
          <a:xfrm>
            <a:off x="877824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554480" y="5138928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32" name="Image 3" descr="icons/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5276088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224028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5074920" y="501091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/train обновляет модель; движок перезагружается без пересборки контейнера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Реализация модели и встраивание в проект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43600" cy="4023360"/>
          </a:xfrm>
          <a:prstGeom prst="roundRect">
            <a:avLst>
              <a:gd name="adj" fmla="val 2045"/>
            </a:avLst>
          </a:prstGeom>
          <a:solidFill>
            <a:srgbClr val="0E2A3A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83080"/>
            <a:ext cx="5943600" cy="4023360"/>
          </a:xfrm>
          <a:prstGeom prst="roundRect">
            <a:avLst>
              <a:gd name="adj" fmla="val 2273"/>
            </a:avLst>
          </a:prstGeom>
          <a:solidFill>
            <a:srgbClr val="0E2A3A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9933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 POST /predict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432304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"session_id": "uuid",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"player_id": "player_1",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"features": { "time_sec": 120.0,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"deaths": 2.0 },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"archetypes": ["explorer",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"achiever","socializer","killer"]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predicted_archetype, confidence,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recommended_adaptation, model_version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95160" y="17830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14616" y="20756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3" name="Image 0" descr="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722" y="2234794"/>
            <a:ext cx="212141" cy="2121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09560" y="19659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микросервис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09560" y="23134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ML-service в Docker Compose, порт 8001; backend ходит по HTTP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95160" y="31546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14616" y="34472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8" name="Image 1" descr="icons/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722" y="3606394"/>
            <a:ext cx="212141" cy="21214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909560" y="33375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каждые N событий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909560" y="36850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раз в bootstrap_actions событий, а не однократно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995160" y="45262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14616" y="48188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23" name="Image 2" descr="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722" y="4977994"/>
            <a:ext cx="212141" cy="21214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09560" y="47091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с backend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909560" y="50566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app/services/ml_client.py → /predict; результат в ответе /telemetry/ingest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ЗАДЕЛЫ НА БУДУЩЕЕ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Заделы на будущее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03911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220919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→ ONNX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64208" y="2313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последовательностная модель вместо RF, когда накопим тысячи реальных сессий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331927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" y="3489350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64208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признаков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64208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проверка features по feature_order профиля игры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34340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9536" y="459943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blurRad="88900" dist="25400" dir="5400000" algn="bl" rotWithShape="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" y="4769510"/>
            <a:ext cx="226771" cy="2267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208" y="4507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64208" y="4873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latency /predict, fallback-rate, мониторинг версии модели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783080"/>
            <a:ext cx="4785055" cy="4160520"/>
          </a:xfrm>
          <a:prstGeom prst="roundRect">
            <a:avLst>
              <a:gd name="adj" fmla="val 2198"/>
            </a:avLst>
          </a:prstGeom>
          <a:solidFill>
            <a:srgbClr val="0B5E88"/>
          </a:solidFill>
          <a:ln/>
          <a:effectLst>
            <a:outerShdw blurRad="114300" dist="38100" dir="5400000" algn="bl" rotWithShape="0">
              <a:srgbClr val="9FB6C4">
                <a:alpha val="2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766560" y="205740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924648" y="246888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pic>
        <p:nvPicPr>
          <p:cNvPr id="25" name="Image 3" descr="qr_g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952" y="2615184"/>
            <a:ext cx="2176272" cy="21762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50749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github.com/Antizi/diplom-Game_Plugs_Ai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766560" y="54406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 телефона на QR-код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E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423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Нейросетевая модель прогнозирует</a:t>
            </a:r>
            <a:endParaRPr lang="en-US" sz="3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поведение — игра адаптируется сама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в ONNX на отдельном сервисе · обучение на данных из Postgres · надёжный fallback и hot-reload модели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Изотов Антон Николаевич  ·  Team-Lead, ML-инженер</a:t>
            </a:r>
            <a:r>
              <a:rPr lang="en-US" sz="14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Группа МВИ-122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Беспалов М. Е., к.т.н., доцент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1703</Words>
  <Application>Microsoft Office PowerPoint</Application>
  <PresentationFormat>Широкоэкранный</PresentationFormat>
  <Paragraphs>192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интеграция нейросетевой модели для прогнозирования поведения пользователя в адаптивной игровой системе</dc:title>
  <dc:subject>PptxGenJS Presentation</dc:subject>
  <dc:creator>Изотов Антон Николаевич</dc:creator>
  <cp:lastModifiedBy>fuller276</cp:lastModifiedBy>
  <cp:revision>4</cp:revision>
  <dcterms:created xsi:type="dcterms:W3CDTF">2026-06-15T11:15:39Z</dcterms:created>
  <dcterms:modified xsi:type="dcterms:W3CDTF">2026-06-15T13:10:29Z</dcterms:modified>
</cp:coreProperties>
</file>