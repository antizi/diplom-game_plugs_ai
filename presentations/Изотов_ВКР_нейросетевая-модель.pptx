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6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3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11863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Я отвечал за ML-часть проекта. Задача моего сервиса — по поведению игрока в сессии определить его архетип (исследователь, достигатор, социализатор, киллер) и вернуть рекомендации по адаптации сложности. Дальше расскажу, зачем это нужно проекту, какую модель я выбрал и почему, как она устроена и как встроена в общую систему.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проблема, которую мы решаем: единая сложность не подходит всем игрокам. Архетип — компактная метрика стиля игрока, к которой привязаны все системы баланса. Это вход для адаптации: по архетипу мы выдаём конкретные параметры difficulty, enemy_density, loot_multiplier. И, что важно для всего проекта, — разработчик игры не пишет ML-код, он лишь описывает события и архетипы, а считает всё сервер.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Вот общая архитектура. Godot-плагин собирает события и шлёт их на backend. Backend строит вектор признаков и обращается к моему ML-сервису по HTTP POST /predict. Сервис возвращает архетип и параметры адаптации, которые backend кладёт в ответ, а игра применяет в рантайме. Принципиальное решение — cloud-only: модель только на сервере, на клиенте инференса нет. Это упрощает обновление модели и не нагружает игру.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Формально это задача многоклассовой классификации: на вход вектор признаков сессии, на выход — один из четырёх архетипов. Признаки строятся из частот событий и числовых метрик вроде времени, смертей, подсказок, с весами критических точек из профиля игры. Почему ML, а не правила: жёсткие if-else не масштабируются, архетип определяется комбинацией признаков, а модель к тому же дообучается на накопленных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Я сравнил три подхода. Жёсткие правила объяснимы, но неточны и не масштабируются. LSTM потенциально точнее, но требует тысяч размеченных сессий и медленнее. Random Forest даёт лучший баланс на старте проекта: приемлемая точность уже на сотнях сессий, инференс быстрее пяти миллисекунд, экспортируется в ONNX. Поэтому в продакшене сейчас Random Forest, а LSTM лежит в research как кандидат на замену, когда накопим достаточно реальных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Так работает инференс. События сессии из Postgres превращаются в вектор признаков строго по feature_order, затем Random Forest в формате ONNX через onnxruntime на CPU выдаёт класс и вероятности. Из класса получаем архетип, из вероятностей — confidence, и подбираем параметры адаптации. Два инженерных акцента: согласованность признаков — порядок фичей в модели жёстко совпадает с критическими точками профиля игры; и надёжность — если ONNX почему-то не загрузился, сервис не падает, а отвечает эвристикой.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— как модель обучается. Данные берём из Postgres: реальные события и ранее сделанные предсказания, а для холодного старта есть seed-скрипт на тысячу размеченных сессий. По каждой сессии строим признаки и метку, обучаем RandomForest в sklearn и экспортируем в ONNX вместе с метаданными — порядком признаков и списком архетипов. Запускается это эндпоинтом POST /train, после чего модель перезагружается на горячую, без пересборки контейнера. Так версия модели обновляется прямо в работающем сервисе.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Интеграция. Мой код — это отдельный микросервис в Docker Compose на порту 8001. Backend общается с ним по HTTP через ml_client.py: на эндпоинт /predict уходит session_id, player_id, словарь признаков и список архетипов, обратно приходит архетип, уверенность, параметры адаптации и версия модели. Вызов происходит не один раз, а каждые bootstrap_actions событий, так что адаптация обновляется по ходу сессии. Результат backend кладёт прямо в ответ на /telemetry/ingest, и плагин эмитит сигнал в игру.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планах: заменить Random Forest на LSTM, когда наберём достаточно реальных сессий — это лежит готовым прототипом в research. Добавить строгую валидацию входных признаков по профилю игры. И завести метрики качества — латентность предсказаний, долю срабатываний fallback, мониторинг версии модели. Весь код — в репозитории по QR-коду, папка 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Подведу итог. ML-сервис по телеметрии определяет архетип игрока и возвращает параметры адаптации. В основе — Random Forest в формате ONNX, вынесенный в отдельный сервис, с обучением на данных из Postgres, надёжным fallback и горячей перезагрузкой модели. Спасибо за внимание, готов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1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5E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4" name="Shape 2"/>
          <p:cNvSpPr/>
          <p:nvPr/>
        </p:nvSpPr>
        <p:spPr>
          <a:xfrm>
            <a:off x="88696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5" name="Shape 3"/>
          <p:cNvSpPr/>
          <p:nvPr/>
        </p:nvSpPr>
        <p:spPr>
          <a:xfrm>
            <a:off x="93268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7" name="Shape 5"/>
          <p:cNvSpPr/>
          <p:nvPr/>
        </p:nvSpPr>
        <p:spPr>
          <a:xfrm>
            <a:off x="93268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8" name="Shape 6"/>
          <p:cNvSpPr/>
          <p:nvPr/>
        </p:nvSpPr>
        <p:spPr>
          <a:xfrm>
            <a:off x="97840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9" name="Shape 7"/>
          <p:cNvSpPr/>
          <p:nvPr/>
        </p:nvSpPr>
        <p:spPr>
          <a:xfrm>
            <a:off x="97840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0" name="Shape 8"/>
          <p:cNvSpPr/>
          <p:nvPr/>
        </p:nvSpPr>
        <p:spPr>
          <a:xfrm>
            <a:off x="97840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1" name="Shape 9"/>
          <p:cNvSpPr/>
          <p:nvPr/>
        </p:nvSpPr>
        <p:spPr>
          <a:xfrm>
            <a:off x="102412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412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102412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984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984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6" name="Shape 14"/>
          <p:cNvSpPr/>
          <p:nvPr/>
        </p:nvSpPr>
        <p:spPr>
          <a:xfrm>
            <a:off x="106984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556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8" name="Shape 16"/>
          <p:cNvSpPr/>
          <p:nvPr/>
        </p:nvSpPr>
        <p:spPr>
          <a:xfrm>
            <a:off x="111556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9" name="Shape 17"/>
          <p:cNvSpPr/>
          <p:nvPr/>
        </p:nvSpPr>
        <p:spPr>
          <a:xfrm>
            <a:off x="111556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0" name="Shape 18"/>
          <p:cNvSpPr/>
          <p:nvPr/>
        </p:nvSpPr>
        <p:spPr>
          <a:xfrm>
            <a:off x="116128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1" name="Shape 19"/>
          <p:cNvSpPr/>
          <p:nvPr/>
        </p:nvSpPr>
        <p:spPr>
          <a:xfrm>
            <a:off x="116128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128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5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ВЫПУСКНАЯ КВАЛИФИКАЦИОННАЯ РАБОТА · 2026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1417320"/>
            <a:ext cx="109270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Разработка и интеграция нейросетевой модели для прогнозирования поведения пользователя в адаптивной игровой системе</a:t>
            </a:r>
            <a:endParaRPr lang="en-US" sz="4000" dirty="0"/>
          </a:p>
        </p:txBody>
      </p:sp>
      <p:sp>
        <p:nvSpPr>
          <p:cNvPr id="26" name="Shape 24"/>
          <p:cNvSpPr/>
          <p:nvPr/>
        </p:nvSpPr>
        <p:spPr>
          <a:xfrm>
            <a:off x="640080" y="489204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0E6E9E"/>
          </a:solidFill>
          <a:ln/>
          <a:effectLst>
            <a:outerShdw blurRad="114300" dist="38100" dir="5400000" algn="bl" rotWithShape="0">
              <a:srgbClr val="9FB6C4">
                <a:alpha val="2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14400" y="5276088"/>
            <a:ext cx="603504" cy="603504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8" name="Image 0" descr="icons/b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" y="5457139"/>
            <a:ext cx="241402" cy="241402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783080" y="5074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1783080" y="5349240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Изотов Антон Николаевич</a:t>
            </a:r>
            <a:endParaRPr lang="en-US" sz="1650" dirty="0"/>
          </a:p>
        </p:txBody>
      </p:sp>
      <p:sp>
        <p:nvSpPr>
          <p:cNvPr id="31" name="Text 28"/>
          <p:cNvSpPr/>
          <p:nvPr/>
        </p:nvSpPr>
        <p:spPr>
          <a:xfrm>
            <a:off x="1783080" y="576072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МВИ-122  ·  Team-Lead, ML-инженер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6537960" y="4892040"/>
            <a:ext cx="5013655" cy="1371600"/>
          </a:xfrm>
          <a:prstGeom prst="roundRect">
            <a:avLst>
              <a:gd name="adj" fmla="val 6667"/>
            </a:avLst>
          </a:prstGeom>
          <a:solidFill>
            <a:srgbClr val="0E6E9E"/>
          </a:solidFill>
          <a:ln/>
          <a:effectLst>
            <a:outerShdw blurRad="114300" dist="38100" dir="5400000" algn="bl" rotWithShape="0">
              <a:srgbClr val="9FB6C4">
                <a:alpha val="28000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6830568" y="5074920"/>
            <a:ext cx="4465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830568" y="5394960"/>
            <a:ext cx="4465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Беспалов М. Е.</a:t>
            </a:r>
            <a:endParaRPr lang="en-US" sz="15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к.т.н., доцент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Роль метрики «архетип игрока» в проекте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2452004"/>
            <a:ext cx="3474720" cy="31500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70080" y="2832004"/>
            <a:ext cx="700000" cy="70000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0" name="Image 0" descr="icons/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0080" y="3042004"/>
            <a:ext cx="300000" cy="300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70080" y="4082004"/>
            <a:ext cx="28147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Сегментация игроков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970080" y="4622004"/>
            <a:ext cx="281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архетипа Bartle вместо «средней» сложности для всех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352544" y="2452004"/>
            <a:ext cx="3474720" cy="31500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82544" y="2832004"/>
            <a:ext cx="700000" cy="70000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5" name="Image 1" descr="icons/slid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544" y="3042004"/>
            <a:ext cx="300000" cy="300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682544" y="4082004"/>
            <a:ext cx="28147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для адаптации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4682544" y="4622004"/>
            <a:ext cx="281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архетип → difficulty, enemy_density, loot_multiplier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8065008" y="2452004"/>
            <a:ext cx="3474720" cy="31500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95008" y="2832004"/>
            <a:ext cx="700000" cy="70000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0" name="Image 2" descr="icons/targ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5008" y="3042004"/>
            <a:ext cx="300000" cy="3000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395008" y="4082004"/>
            <a:ext cx="28147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Удержание</a:t>
            </a:r>
            <a:endParaRPr lang="en-US" sz="1700" dirty="0"/>
          </a:p>
        </p:txBody>
      </p:sp>
      <p:sp>
        <p:nvSpPr>
          <p:cNvPr id="22" name="Text 17"/>
          <p:cNvSpPr/>
          <p:nvPr/>
        </p:nvSpPr>
        <p:spPr>
          <a:xfrm>
            <a:off x="8395008" y="4622004"/>
            <a:ext cx="281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геймплей под стиль игрока снижает отток и скуку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"/>
          <p:cNvSpPr/>
          <p:nvPr/>
        </p:nvSpPr>
        <p:spPr>
          <a:xfrm>
            <a:off x="640080" y="470000"/>
            <a:ext cx="82296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ПРОЕКТА</a:t>
            </a:r>
          </a:p>
        </p:txBody>
      </p:sp>
      <p:sp>
        <p:nvSpPr>
          <p:cNvPr id="102" name="T"/>
          <p:cNvSpPr/>
          <p:nvPr/>
        </p:nvSpPr>
        <p:spPr>
          <a:xfrm>
            <a:off x="640080" y="76000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30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работает система</a:t>
            </a:r>
          </a:p>
        </p:txBody>
      </p:sp>
      <p:sp>
        <p:nvSpPr>
          <p:cNvPr id="103" name="T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3000" b="1" kern="0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</a:p>
        </p:txBody>
      </p:sp>
      <p:sp>
        <p:nvSpPr>
          <p:cNvPr id="104" name="R"/>
          <p:cNvSpPr/>
          <p:nvPr/>
        </p:nvSpPr>
        <p:spPr>
          <a:xfrm>
            <a:off x="3670393" y="1953775"/>
            <a:ext cx="6457000" cy="3760000"/>
          </a:xfrm>
          <a:prstGeom prst="roundRect">
            <a:avLst>
              <a:gd name="adj" fmla="val 2600"/>
            </a:avLst>
          </a:prstGeom>
          <a:solidFill>
            <a:srgbClr val="F4FAFD"/>
          </a:solidFill>
          <a:ln w="12700">
            <a:solidFill>
              <a:srgbClr val="D7E5EE"/>
            </a:solidFill>
            <a:prstDash val="dash"/>
          </a:ln>
        </p:spPr>
      </p:sp>
      <p:sp>
        <p:nvSpPr>
          <p:cNvPr id="105" name="T"/>
          <p:cNvSpPr/>
          <p:nvPr/>
        </p:nvSpPr>
        <p:spPr>
          <a:xfrm>
            <a:off x="3870393" y="2093775"/>
            <a:ext cx="30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150" b="1" kern="0" spc="20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</a:t>
            </a:r>
          </a:p>
        </p:txBody>
      </p:sp>
      <p:cxnSp>
        <p:nvCxnSpPr>
          <p:cNvPr id="106" name="cxn"/>
          <p:cNvCxnSpPr/>
          <p:nvPr/>
        </p:nvCxnSpPr>
        <p:spPr>
          <a:xfrm>
            <a:off x="2510393" y="3723775"/>
            <a:ext cx="2050000" cy="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07" name="cxn"/>
          <p:cNvCxnSpPr/>
          <p:nvPr/>
        </p:nvCxnSpPr>
        <p:spPr>
          <a:xfrm flipH="1">
            <a:off x="2510393" y="3913775"/>
            <a:ext cx="2050000" cy="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08" name="cxn"/>
          <p:cNvCxnSpPr/>
          <p:nvPr/>
        </p:nvCxnSpPr>
        <p:spPr>
          <a:xfrm flipV="1">
            <a:off x="5460393" y="3063775"/>
            <a:ext cx="2480000" cy="5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09" name="cxn"/>
          <p:cNvCxnSpPr/>
          <p:nvPr/>
        </p:nvCxnSpPr>
        <p:spPr>
          <a:xfrm flipH="1">
            <a:off x="5460393" y="3243775"/>
            <a:ext cx="2480000" cy="5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10" name="cxn"/>
          <p:cNvCxnSpPr/>
          <p:nvPr/>
        </p:nvCxnSpPr>
        <p:spPr>
          <a:xfrm>
            <a:off x="5460393" y="3843775"/>
            <a:ext cx="2480000" cy="8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11" name="cxn"/>
          <p:cNvCxnSpPr/>
          <p:nvPr/>
        </p:nvCxnSpPr>
        <p:spPr>
          <a:xfrm flipH="1" flipV="1">
            <a:off x="5460393" y="4023775"/>
            <a:ext cx="2480000" cy="8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sp>
        <p:nvSpPr>
          <p:cNvPr id="112" name="R"/>
          <p:cNvSpPr/>
          <p:nvPr/>
        </p:nvSpPr>
        <p:spPr>
          <a:xfrm>
            <a:off x="1800393" y="3513775"/>
            <a:ext cx="660000" cy="430000"/>
          </a:xfrm>
          <a:prstGeom prst="roundRect">
            <a:avLst>
              <a:gd name="adj" fmla="val 9000"/>
            </a:avLst>
          </a:prstGeom>
          <a:solidFill>
            <a:srgbClr val="96B4C6"/>
          </a:solidFill>
          <a:ln/>
        </p:spPr>
      </p:sp>
      <p:sp>
        <p:nvSpPr>
          <p:cNvPr id="113" name="R"/>
          <p:cNvSpPr/>
          <p:nvPr/>
        </p:nvSpPr>
        <p:spPr>
          <a:xfrm>
            <a:off x="1868393" y="3581775"/>
            <a:ext cx="524000" cy="29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</p:sp>
      <p:sp>
        <p:nvSpPr>
          <p:cNvPr id="114" name="R"/>
          <p:cNvSpPr/>
          <p:nvPr/>
        </p:nvSpPr>
        <p:spPr>
          <a:xfrm>
            <a:off x="2084393" y="3943775"/>
            <a:ext cx="92000" cy="96000"/>
          </a:xfrm>
          <a:prstGeom prst="roundRect">
            <a:avLst>
              <a:gd name="adj" fmla="val 0"/>
            </a:avLst>
          </a:prstGeom>
          <a:solidFill>
            <a:srgbClr val="96B4C6"/>
          </a:solidFill>
          <a:ln/>
        </p:spPr>
      </p:sp>
      <p:sp>
        <p:nvSpPr>
          <p:cNvPr id="115" name="R"/>
          <p:cNvSpPr/>
          <p:nvPr/>
        </p:nvSpPr>
        <p:spPr>
          <a:xfrm>
            <a:off x="1965393" y="4025775"/>
            <a:ext cx="330000" cy="66000"/>
          </a:xfrm>
          <a:prstGeom prst="roundRect">
            <a:avLst>
              <a:gd name="adj" fmla="val 50000"/>
            </a:avLst>
          </a:prstGeom>
          <a:solidFill>
            <a:srgbClr val="96B4C6"/>
          </a:solidFill>
          <a:ln/>
        </p:spPr>
      </p:sp>
      <p:pic>
        <p:nvPicPr>
          <p:cNvPr id="116" name="Ic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0393" y="3383775"/>
            <a:ext cx="860000" cy="860000"/>
          </a:xfrm>
          <a:prstGeom prst="rect">
            <a:avLst/>
          </a:prstGeom>
        </p:spPr>
      </p:pic>
      <p:cxnSp>
        <p:nvCxnSpPr>
          <p:cNvPr id="117" name="ln"/>
          <p:cNvCxnSpPr/>
          <p:nvPr/>
        </p:nvCxnSpPr>
        <p:spPr>
          <a:xfrm>
            <a:off x="8070393" y="2823775"/>
            <a:ext cx="300000" cy="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18" name="ln"/>
          <p:cNvCxnSpPr/>
          <p:nvPr/>
        </p:nvCxnSpPr>
        <p:spPr>
          <a:xfrm>
            <a:off x="8070393" y="2823775"/>
            <a:ext cx="300000" cy="25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19" name="ln"/>
          <p:cNvCxnSpPr/>
          <p:nvPr/>
        </p:nvCxnSpPr>
        <p:spPr>
          <a:xfrm>
            <a:off x="8070393" y="2823775"/>
            <a:ext cx="300000" cy="50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0" name="ln"/>
          <p:cNvCxnSpPr/>
          <p:nvPr/>
        </p:nvCxnSpPr>
        <p:spPr>
          <a:xfrm flipV="1">
            <a:off x="8070393" y="2823775"/>
            <a:ext cx="300000" cy="25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1" name="ln"/>
          <p:cNvCxnSpPr/>
          <p:nvPr/>
        </p:nvCxnSpPr>
        <p:spPr>
          <a:xfrm>
            <a:off x="8070393" y="3073775"/>
            <a:ext cx="300000" cy="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2" name="ln"/>
          <p:cNvCxnSpPr/>
          <p:nvPr/>
        </p:nvCxnSpPr>
        <p:spPr>
          <a:xfrm>
            <a:off x="8070393" y="3073775"/>
            <a:ext cx="300000" cy="25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3" name="ln"/>
          <p:cNvCxnSpPr/>
          <p:nvPr/>
        </p:nvCxnSpPr>
        <p:spPr>
          <a:xfrm flipV="1">
            <a:off x="8070393" y="2823775"/>
            <a:ext cx="300000" cy="50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4" name="ln"/>
          <p:cNvCxnSpPr/>
          <p:nvPr/>
        </p:nvCxnSpPr>
        <p:spPr>
          <a:xfrm flipV="1">
            <a:off x="8070393" y="3073775"/>
            <a:ext cx="300000" cy="25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5" name="ln"/>
          <p:cNvCxnSpPr/>
          <p:nvPr/>
        </p:nvCxnSpPr>
        <p:spPr>
          <a:xfrm>
            <a:off x="8070393" y="3323775"/>
            <a:ext cx="300000" cy="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6" name="ln"/>
          <p:cNvCxnSpPr/>
          <p:nvPr/>
        </p:nvCxnSpPr>
        <p:spPr>
          <a:xfrm>
            <a:off x="8370393" y="2823775"/>
            <a:ext cx="300000" cy="11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7" name="ln"/>
          <p:cNvCxnSpPr/>
          <p:nvPr/>
        </p:nvCxnSpPr>
        <p:spPr>
          <a:xfrm>
            <a:off x="8370393" y="2823775"/>
            <a:ext cx="300000" cy="39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8" name="ln"/>
          <p:cNvCxnSpPr/>
          <p:nvPr/>
        </p:nvCxnSpPr>
        <p:spPr>
          <a:xfrm flipV="1">
            <a:off x="8370393" y="2933775"/>
            <a:ext cx="300000" cy="14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9" name="ln"/>
          <p:cNvCxnSpPr/>
          <p:nvPr/>
        </p:nvCxnSpPr>
        <p:spPr>
          <a:xfrm>
            <a:off x="8370393" y="3073775"/>
            <a:ext cx="300000" cy="14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30" name="ln"/>
          <p:cNvCxnSpPr/>
          <p:nvPr/>
        </p:nvCxnSpPr>
        <p:spPr>
          <a:xfrm flipV="1">
            <a:off x="8370393" y="2933775"/>
            <a:ext cx="300000" cy="39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31" name="ln"/>
          <p:cNvCxnSpPr/>
          <p:nvPr/>
        </p:nvCxnSpPr>
        <p:spPr>
          <a:xfrm flipV="1">
            <a:off x="8370393" y="3213775"/>
            <a:ext cx="300000" cy="11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sp>
        <p:nvSpPr>
          <p:cNvPr id="132" name="n"/>
          <p:cNvSpPr/>
          <p:nvPr/>
        </p:nvSpPr>
        <p:spPr>
          <a:xfrm>
            <a:off x="8010393" y="2763775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33" name="n"/>
          <p:cNvSpPr/>
          <p:nvPr/>
        </p:nvSpPr>
        <p:spPr>
          <a:xfrm>
            <a:off x="8010393" y="3013775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34" name="n"/>
          <p:cNvSpPr/>
          <p:nvPr/>
        </p:nvSpPr>
        <p:spPr>
          <a:xfrm>
            <a:off x="8010393" y="3263775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35" name="n"/>
          <p:cNvSpPr/>
          <p:nvPr/>
        </p:nvSpPr>
        <p:spPr>
          <a:xfrm>
            <a:off x="8310393" y="2763775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36" name="n"/>
          <p:cNvSpPr/>
          <p:nvPr/>
        </p:nvSpPr>
        <p:spPr>
          <a:xfrm>
            <a:off x="8310393" y="3013775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37" name="n"/>
          <p:cNvSpPr/>
          <p:nvPr/>
        </p:nvSpPr>
        <p:spPr>
          <a:xfrm>
            <a:off x="8310393" y="3263775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38" name="n"/>
          <p:cNvSpPr/>
          <p:nvPr/>
        </p:nvSpPr>
        <p:spPr>
          <a:xfrm>
            <a:off x="8610393" y="2873775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39" name="n"/>
          <p:cNvSpPr/>
          <p:nvPr/>
        </p:nvSpPr>
        <p:spPr>
          <a:xfrm>
            <a:off x="8610393" y="3153775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pic>
        <p:nvPicPr>
          <p:cNvPr id="140" name="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0393" y="4483775"/>
            <a:ext cx="860000" cy="860000"/>
          </a:xfrm>
          <a:prstGeom prst="rect">
            <a:avLst/>
          </a:prstGeom>
        </p:spPr>
      </p:pic>
      <p:sp>
        <p:nvSpPr>
          <p:cNvPr id="141" name="T"/>
          <p:cNvSpPr/>
          <p:nvPr/>
        </p:nvSpPr>
        <p:spPr>
          <a:xfrm>
            <a:off x="730393" y="3093775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40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Godot Engine</a:t>
            </a:r>
          </a:p>
        </p:txBody>
      </p:sp>
      <p:sp>
        <p:nvSpPr>
          <p:cNvPr id="142" name="T"/>
          <p:cNvSpPr/>
          <p:nvPr/>
        </p:nvSpPr>
        <p:spPr>
          <a:xfrm>
            <a:off x="3590393" y="3093775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40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API</a:t>
            </a:r>
          </a:p>
        </p:txBody>
      </p:sp>
      <p:sp>
        <p:nvSpPr>
          <p:cNvPr id="143" name="T"/>
          <p:cNvSpPr/>
          <p:nvPr/>
        </p:nvSpPr>
        <p:spPr>
          <a:xfrm>
            <a:off x="6970393" y="2353775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4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ML-сервис</a:t>
            </a:r>
          </a:p>
        </p:txBody>
      </p:sp>
      <p:sp>
        <p:nvSpPr>
          <p:cNvPr id="144" name="T"/>
          <p:cNvSpPr/>
          <p:nvPr/>
        </p:nvSpPr>
        <p:spPr>
          <a:xfrm>
            <a:off x="6970393" y="5433775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40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</a:p>
        </p:txBody>
      </p:sp>
      <p:sp>
        <p:nvSpPr>
          <p:cNvPr id="145" name="T"/>
          <p:cNvSpPr/>
          <p:nvPr/>
        </p:nvSpPr>
        <p:spPr>
          <a:xfrm>
            <a:off x="2685393" y="3423775"/>
            <a:ext cx="17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телеметрия</a:t>
            </a:r>
          </a:p>
        </p:txBody>
      </p:sp>
      <p:sp>
        <p:nvSpPr>
          <p:cNvPr id="146" name="T"/>
          <p:cNvSpPr/>
          <p:nvPr/>
        </p:nvSpPr>
        <p:spPr>
          <a:xfrm>
            <a:off x="2535393" y="4003775"/>
            <a:ext cx="20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 игры</a:t>
            </a:r>
          </a:p>
        </p:txBody>
      </p:sp>
      <p:sp>
        <p:nvSpPr>
          <p:cNvPr id="147" name="T"/>
          <p:cNvSpPr/>
          <p:nvPr/>
        </p:nvSpPr>
        <p:spPr>
          <a:xfrm>
            <a:off x="6210393" y="3033775"/>
            <a:ext cx="15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</a:t>
            </a:r>
          </a:p>
        </p:txBody>
      </p:sp>
      <p:sp>
        <p:nvSpPr>
          <p:cNvPr id="148" name="T"/>
          <p:cNvSpPr/>
          <p:nvPr/>
        </p:nvSpPr>
        <p:spPr>
          <a:xfrm>
            <a:off x="6210393" y="4753775"/>
            <a:ext cx="15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Место ML-сервиса в общей системе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94944" y="2756001"/>
            <a:ext cx="3246120" cy="1828800"/>
          </a:xfrm>
          <a:prstGeom prst="roundRect">
            <a:avLst>
              <a:gd name="adj" fmla="val 4500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50976" y="3012033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gamep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054" y="3182111"/>
            <a:ext cx="226771" cy="22677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50976" y="3670401"/>
            <a:ext cx="2734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Godot 4</a:t>
            </a:r>
            <a:endParaRPr lang="en-US" sz="14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analytics_plugin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950976" y="4200753"/>
            <a:ext cx="2734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сбор событий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995928" y="3533241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4507992" y="2756001"/>
            <a:ext cx="3246120" cy="1828800"/>
          </a:xfrm>
          <a:prstGeom prst="roundRect">
            <a:avLst>
              <a:gd name="adj" fmla="val 4500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764024" y="3012033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5" name="Image 1" descr="icons/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4102" y="3182111"/>
            <a:ext cx="226771" cy="226771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764024" y="3670401"/>
            <a:ext cx="2734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4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PostgreSQL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4764024" y="4200753"/>
            <a:ext cx="2734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build_features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808976" y="3533241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8321040" y="2756001"/>
            <a:ext cx="3246120" cy="1828800"/>
          </a:xfrm>
          <a:prstGeom prst="roundRect">
            <a:avLst>
              <a:gd name="adj" fmla="val 4500"/>
            </a:avLst>
          </a:prstGeom>
          <a:solidFill>
            <a:srgbClr val="1F9BD8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577072" y="3012033"/>
            <a:ext cx="566928" cy="566928"/>
          </a:xfrm>
          <a:prstGeom prst="ellipse">
            <a:avLst/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1" name="Image 2" descr="icons/brain_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7150" y="3182111"/>
            <a:ext cx="226771" cy="226771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577072" y="3670401"/>
            <a:ext cx="2734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ML-service</a:t>
            </a:r>
            <a:endParaRPr lang="en-US" sz="14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ONNX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8577072" y="4200753"/>
            <a:ext cx="2734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C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архетип + адаптация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694944" y="4813401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adaptation (difficulty · enemy_density · loot_multiplier)  возвращается игре в ответе ingest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НЕЙРОННАЯ МОДЕЛЬ · 1/3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Задача и обоснование выбора ML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Постановка задачи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2395728"/>
            <a:ext cx="4846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Многоклассовая классификация: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последовательность событий сессии → один из архетипов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Признаки: </a:t>
            </a:r>
            <a:r>
              <a:rPr lang="en-US" sz="13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частоты событий, time_sec, deaths, hints_used, score — с весами critical points из профиля игры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Классы: </a:t>
            </a:r>
            <a:r>
              <a:rPr lang="en-US" sz="13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 · achiever · socializer · killer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0" y="1783080"/>
            <a:ext cx="5150815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20256" y="2075688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2" name="Image 0" descr="icons/slid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2240280"/>
            <a:ext cx="219456" cy="21945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7360920" y="1965960"/>
            <a:ext cx="4053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не масштабируются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360920" y="2313432"/>
            <a:ext cx="4053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ручные if-else по метрикам быстро становятся неподдерживаемыми при росте числа событий и архетипов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400800" y="3154680"/>
            <a:ext cx="5150815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620256" y="3447288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7" name="Image 1" descr="icons/br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3611880"/>
            <a:ext cx="219456" cy="21945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360920" y="3337560"/>
            <a:ext cx="4053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ловит динамику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7360920" y="3685032"/>
            <a:ext cx="4053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архетип определяется порядком и сочетанием действий, а не одним порогом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6400800" y="4526280"/>
            <a:ext cx="5150815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620256" y="4818888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2" name="Image 2" descr="icons/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4848" y="4983480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7360920" y="4709160"/>
            <a:ext cx="4053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Дообучение на данных</a:t>
            </a:r>
            <a:endParaRPr lang="en-US" sz="1450" dirty="0"/>
          </a:p>
        </p:txBody>
      </p:sp>
      <p:sp>
        <p:nvSpPr>
          <p:cNvPr id="24" name="Text 19"/>
          <p:cNvSpPr/>
          <p:nvPr/>
        </p:nvSpPr>
        <p:spPr>
          <a:xfrm>
            <a:off x="7360920" y="5056632"/>
            <a:ext cx="4053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улучшается по мере накопления реальной телеметрии в Postgres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НЕЙРОННАЯ МОДЕЛЬ · 2/3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Сравнение подходов и выбор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731520" y="2403026"/>
            <a:ext cx="2933630" cy="713232"/>
          </a:xfrm>
          <a:prstGeom prst="rect">
            <a:avLst/>
          </a:prstGeom>
          <a:solidFill>
            <a:srgbClr val="0E7FB8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77824" y="2403026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Подход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665150" y="2403026"/>
            <a:ext cx="1828800" cy="713232"/>
          </a:xfrm>
          <a:prstGeom prst="rect">
            <a:avLst/>
          </a:prstGeom>
          <a:solidFill>
            <a:srgbClr val="0E7FB8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11454" y="2403026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Точность*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93950" y="2403026"/>
            <a:ext cx="2103120" cy="713232"/>
          </a:xfrm>
          <a:prstGeom prst="rect">
            <a:avLst/>
          </a:prstGeom>
          <a:solidFill>
            <a:srgbClr val="0E7FB8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0254" y="2403026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Данных нужно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597070" y="2403026"/>
            <a:ext cx="1737360" cy="713232"/>
          </a:xfrm>
          <a:prstGeom prst="rect">
            <a:avLst/>
          </a:prstGeom>
          <a:solidFill>
            <a:srgbClr val="0E7FB8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43374" y="2403026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Скорость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334430" y="2403026"/>
            <a:ext cx="2011680" cy="713232"/>
          </a:xfrm>
          <a:prstGeom prst="rect">
            <a:avLst/>
          </a:prstGeom>
          <a:solidFill>
            <a:srgbClr val="0E7FB8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80734" y="2403026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Объяснимость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31520" y="3116258"/>
            <a:ext cx="293363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7824" y="3116258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Жёсткие правила (if-else)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3665150" y="3116258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11454" y="3116258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низкая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93950" y="3116258"/>
            <a:ext cx="2103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40254" y="3116258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597070" y="3116258"/>
            <a:ext cx="1737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43374" y="3116258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мгновенно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9334430" y="3116258"/>
            <a:ext cx="20116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0734" y="3116258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высокая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731520" y="3829490"/>
            <a:ext cx="293363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7824" y="382949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(baseline)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3665150" y="3829490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11454" y="382949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хорошая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493950" y="3829490"/>
            <a:ext cx="2103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40254" y="382949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сотни сессий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7597070" y="3829490"/>
            <a:ext cx="1737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43374" y="382949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 мс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9334430" y="3829490"/>
            <a:ext cx="20116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480734" y="382949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средняя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731520" y="4542722"/>
            <a:ext cx="2933630" cy="713232"/>
          </a:xfrm>
          <a:prstGeom prst="rect">
            <a:avLst/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77824" y="4542722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(выбрана)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3665150" y="4542722"/>
            <a:ext cx="1828800" cy="713232"/>
          </a:xfrm>
          <a:prstGeom prst="rect">
            <a:avLst/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811454" y="4542722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высокая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493950" y="4542722"/>
            <a:ext cx="2103120" cy="713232"/>
          </a:xfrm>
          <a:prstGeom prst="rect">
            <a:avLst/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640254" y="4542722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тысячи сессий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7597070" y="4542722"/>
            <a:ext cx="1737360" cy="713232"/>
          </a:xfrm>
          <a:prstGeom prst="rect">
            <a:avLst/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43374" y="4542722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десятки мс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9334430" y="4542722"/>
            <a:ext cx="2011680" cy="713232"/>
          </a:xfrm>
          <a:prstGeom prst="rect">
            <a:avLst/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480734" y="4542722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низкая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731520" y="536568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на синтетических + seed-данных проекта; точная оценка — по мере накопления реальной телеметрии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НЕЙРОННАЯ МОДЕЛЬ · 3/3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Строение модели и работа инференса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2317090"/>
            <a:ext cx="2542032" cy="1691640"/>
          </a:xfrm>
          <a:prstGeom prst="roundRect">
            <a:avLst>
              <a:gd name="adj" fmla="val 4865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59536" y="2554834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42" y="2713940"/>
            <a:ext cx="212141" cy="21214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59536" y="319491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События сессии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59536" y="356067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батч из Postgres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3200400" y="286573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474720" y="2317090"/>
            <a:ext cx="2542032" cy="1691640"/>
          </a:xfrm>
          <a:prstGeom prst="roundRect">
            <a:avLst>
              <a:gd name="adj" fmla="val 4865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694176" y="2554834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5" name="Image 1" descr="icons/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3282" y="2713940"/>
            <a:ext cx="212141" cy="212141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694176" y="319491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build_features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3694176" y="356067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 по feature_order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6035040" y="286573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309360" y="2317090"/>
            <a:ext cx="2542032" cy="1691640"/>
          </a:xfrm>
          <a:prstGeom prst="roundRect">
            <a:avLst>
              <a:gd name="adj" fmla="val 4865"/>
            </a:avLst>
          </a:prstGeom>
          <a:solidFill>
            <a:srgbClr val="1F9BD8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528816" y="2554834"/>
            <a:ext cx="530352" cy="530352"/>
          </a:xfrm>
          <a:prstGeom prst="ellipse">
            <a:avLst/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1" name="Image 2" descr="icons/brain_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7922" y="2713940"/>
            <a:ext cx="212141" cy="212141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528816" y="319491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(ONNX)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6528816" y="356067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C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onnxruntime, CPU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8869680" y="286573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25" name="Shape 20"/>
          <p:cNvSpPr/>
          <p:nvPr/>
        </p:nvSpPr>
        <p:spPr>
          <a:xfrm>
            <a:off x="9144000" y="2317090"/>
            <a:ext cx="2542032" cy="1691640"/>
          </a:xfrm>
          <a:prstGeom prst="roundRect">
            <a:avLst>
              <a:gd name="adj" fmla="val 4865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9363456" y="2554834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7" name="Image 3" descr="icons/slid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2562" y="2713940"/>
            <a:ext cx="212141" cy="212141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9363456" y="319491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Архетип + adaptation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9363456" y="356067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confidence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640080" y="4283050"/>
            <a:ext cx="5212080" cy="136530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877824" y="451165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32" name="Image 4" descr="icons/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2416" y="4676242"/>
            <a:ext cx="219456" cy="219456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600200" y="443849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Согласованность признаков</a:t>
            </a:r>
            <a:endParaRPr lang="en-US" sz="1450" dirty="0"/>
          </a:p>
        </p:txBody>
      </p:sp>
      <p:sp>
        <p:nvSpPr>
          <p:cNvPr id="34" name="Text 27"/>
          <p:cNvSpPr/>
          <p:nvPr/>
        </p:nvSpPr>
        <p:spPr>
          <a:xfrm>
            <a:off x="1600200" y="4804258"/>
            <a:ext cx="4069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feature_order из model_meta.json совпадает с critical_points профиля; отсутствующие признаки → 0 с предупреждением</a:t>
            </a:r>
            <a:endParaRPr lang="en-US" sz="1200" dirty="0"/>
          </a:p>
        </p:txBody>
      </p:sp>
      <p:sp>
        <p:nvSpPr>
          <p:cNvPr id="35" name="Shape 28"/>
          <p:cNvSpPr/>
          <p:nvPr/>
        </p:nvSpPr>
        <p:spPr>
          <a:xfrm>
            <a:off x="6080760" y="4283050"/>
            <a:ext cx="5212080" cy="136530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36" name="Shape 29"/>
          <p:cNvSpPr/>
          <p:nvPr/>
        </p:nvSpPr>
        <p:spPr>
          <a:xfrm>
            <a:off x="6318504" y="451165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37" name="Image 5" descr="icons/shiel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83096" y="4676242"/>
            <a:ext cx="219456" cy="219456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7040880" y="443849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Надёжность</a:t>
            </a:r>
            <a:endParaRPr lang="en-US" sz="1450" dirty="0"/>
          </a:p>
        </p:txBody>
      </p:sp>
      <p:sp>
        <p:nvSpPr>
          <p:cNvPr id="39" name="Text 31"/>
          <p:cNvSpPr/>
          <p:nvPr/>
        </p:nvSpPr>
        <p:spPr>
          <a:xfrm>
            <a:off x="7040880" y="4804258"/>
            <a:ext cx="4069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ONNX не загружен — fallback-эвристика, сервис не падает (model_version = ml-heuristic)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МОДЕЛИ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Обучение: от телеметрии к новой версии ONNX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77824" y="2066544"/>
            <a:ext cx="457200" cy="457200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066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554480" y="2066544"/>
            <a:ext cx="457200" cy="45720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1" name="Image 0" descr="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40" y="2203704"/>
            <a:ext cx="182880" cy="1828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40280" y="1956816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Сбор данных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5074920" y="1938528"/>
            <a:ext cx="6248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события и предсказания берутся из Postgres; seed-скрипт даёт 1000 размеченных сессий для холодного старта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2852928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77824" y="3090672"/>
            <a:ext cx="457200" cy="457200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16" name="Text 13"/>
          <p:cNvSpPr/>
          <p:nvPr/>
        </p:nvSpPr>
        <p:spPr>
          <a:xfrm>
            <a:off x="877824" y="3090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1554480" y="3090672"/>
            <a:ext cx="457200" cy="45720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8" name="Image 1" descr="icons/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1640" y="3227832"/>
            <a:ext cx="182880" cy="1828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2240280" y="298094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Датасет</a:t>
            </a:r>
            <a:endParaRPr lang="en-US" sz="1450" dirty="0"/>
          </a:p>
        </p:txBody>
      </p:sp>
      <p:sp>
        <p:nvSpPr>
          <p:cNvPr id="20" name="Text 16"/>
          <p:cNvSpPr/>
          <p:nvPr/>
        </p:nvSpPr>
        <p:spPr>
          <a:xfrm>
            <a:off x="5074920" y="2962656"/>
            <a:ext cx="6248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build_features по каждой сессии + метка архетипа (из predictions или эвристики)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40080" y="3877056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77824" y="4114800"/>
            <a:ext cx="457200" cy="457200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23" name="Text 19"/>
          <p:cNvSpPr/>
          <p:nvPr/>
        </p:nvSpPr>
        <p:spPr>
          <a:xfrm>
            <a:off x="877824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1554480" y="4114800"/>
            <a:ext cx="457200" cy="45720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5" name="Image 2" descr="icons/b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1640" y="4251960"/>
            <a:ext cx="182880" cy="18288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2240280" y="400507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 и экспорт</a:t>
            </a:r>
            <a:endParaRPr lang="en-US" sz="1450" dirty="0"/>
          </a:p>
        </p:txBody>
      </p:sp>
      <p:sp>
        <p:nvSpPr>
          <p:cNvPr id="27" name="Text 22"/>
          <p:cNvSpPr/>
          <p:nvPr/>
        </p:nvSpPr>
        <p:spPr>
          <a:xfrm>
            <a:off x="5074920" y="3986784"/>
            <a:ext cx="6248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LSTM → torch.onnx → classifier.onnx + model_meta.json (feature_order, archetypes)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640080" y="4901184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877824" y="5138928"/>
            <a:ext cx="457200" cy="457200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30" name="Text 25"/>
          <p:cNvSpPr/>
          <p:nvPr/>
        </p:nvSpPr>
        <p:spPr>
          <a:xfrm>
            <a:off x="877824" y="5138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Shape 26"/>
          <p:cNvSpPr/>
          <p:nvPr/>
        </p:nvSpPr>
        <p:spPr>
          <a:xfrm>
            <a:off x="1554480" y="5138928"/>
            <a:ext cx="457200" cy="45720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32" name="Image 3" descr="icons/flo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1640" y="5276088"/>
            <a:ext cx="182880" cy="182880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2240280" y="50292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Hot-reload</a:t>
            </a:r>
            <a:endParaRPr lang="en-US" sz="1450" dirty="0"/>
          </a:p>
        </p:txBody>
      </p:sp>
      <p:sp>
        <p:nvSpPr>
          <p:cNvPr id="34" name="Text 28"/>
          <p:cNvSpPr/>
          <p:nvPr/>
        </p:nvSpPr>
        <p:spPr>
          <a:xfrm>
            <a:off x="5074920" y="5010912"/>
            <a:ext cx="6248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/train обновляет модель; движок перезагружается без пересборки контейнера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Реализация модели и встраивание в проект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943600" cy="4023360"/>
          </a:xfrm>
          <a:prstGeom prst="roundRect">
            <a:avLst>
              <a:gd name="adj" fmla="val 2045"/>
            </a:avLst>
          </a:prstGeom>
          <a:solidFill>
            <a:srgbClr val="0E2A3A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783080"/>
            <a:ext cx="5943600" cy="4023360"/>
          </a:xfrm>
          <a:prstGeom prst="roundRect">
            <a:avLst>
              <a:gd name="adj" fmla="val 2273"/>
            </a:avLst>
          </a:prstGeom>
          <a:solidFill>
            <a:srgbClr val="0E2A3A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32688" y="199339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Контракт  POST /predict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32688" y="2432304"/>
            <a:ext cx="5394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"session_id": "uuid",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"player_id": "player_1",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"features": { "time_sec": 120.0,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"deaths": 2.0 },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"archetypes": ["explorer",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"achiever","socializer","killer"]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predicted_archetype, confidence,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recommended_adaptation, model_version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995160" y="1783080"/>
            <a:ext cx="4556455" cy="1216152"/>
          </a:xfrm>
          <a:prstGeom prst="roundRect">
            <a:avLst>
              <a:gd name="adj" fmla="val 6767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214616" y="2075688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3" name="Image 0" descr="icons/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3722" y="2234794"/>
            <a:ext cx="212141" cy="212141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909560" y="1965960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Отдельный микросервис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909560" y="2313432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ML-service в Docker Compose, порт 8001; backend ходит по HTTP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995160" y="3154680"/>
            <a:ext cx="4556455" cy="1216152"/>
          </a:xfrm>
          <a:prstGeom prst="roundRect">
            <a:avLst>
              <a:gd name="adj" fmla="val 6767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214616" y="3447288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8" name="Image 1" descr="icons/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3722" y="3606394"/>
            <a:ext cx="212141" cy="212141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7909560" y="3337560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Триггер каждые N событий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7909560" y="3685032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предсказание раз в bootstrap_actions событий, а не однократно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995160" y="4526280"/>
            <a:ext cx="4556455" cy="1216152"/>
          </a:xfrm>
          <a:prstGeom prst="roundRect">
            <a:avLst>
              <a:gd name="adj" fmla="val 6767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7214616" y="4818888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3" name="Image 2" descr="icons/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3722" y="4977994"/>
            <a:ext cx="212141" cy="212141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909560" y="4709160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Связка с backend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7909560" y="5056632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app/services/ml_client.py → /predict; результат в ответе /telemetry/ingest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ЗАДЕЛЫ НА БУДУЩЕЕ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Заделы на будущее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" y="203911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net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614" y="2209190"/>
            <a:ext cx="226771" cy="22677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64208" y="19476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Двунаправленный LSTM / Transformer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664208" y="231343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усиление модели на длинных последовательностях по мере накопления реальной телеметрии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306324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59536" y="331927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4" name="Image 1" descr="icons/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" y="3489350"/>
            <a:ext cx="226771" cy="22677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64208" y="32278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Валидация признаков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1664208" y="359359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строгая проверка features по feature_order профиля игры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40080" y="434340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59536" y="459943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9" name="Image 2" descr="icons/slid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9614" y="4769510"/>
            <a:ext cx="226771" cy="22677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64208" y="45079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качества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1664208" y="487375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логирование latency /predict, fallback-rate, мониторинг версии модели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766560" y="1783080"/>
            <a:ext cx="4785055" cy="4160520"/>
          </a:xfrm>
          <a:prstGeom prst="roundRect">
            <a:avLst>
              <a:gd name="adj" fmla="val 2198"/>
            </a:avLst>
          </a:prstGeom>
          <a:solidFill>
            <a:srgbClr val="0B5E88"/>
          </a:solidFill>
          <a:ln/>
          <a:effectLst>
            <a:outerShdw blurRad="114300" dist="38100" dir="5400000" algn="bl" rotWithShape="0">
              <a:srgbClr val="9FB6C4">
                <a:alpha val="28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6766560" y="205740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РЕПОЗИТОРИЙ ПРОЕКТА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7924648" y="2468880"/>
            <a:ext cx="24688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</p:spPr>
      </p:sp>
      <p:pic>
        <p:nvPicPr>
          <p:cNvPr id="25" name="Image 3" descr="qr_gi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0952" y="2615184"/>
            <a:ext cx="2176272" cy="21762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766560" y="5074920"/>
            <a:ext cx="4785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github.com/Antizi/diplom-Game_Plugs_Ai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6766560" y="544068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Наведите камеру телефона на QR-код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5E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8" name="Shape 6"/>
          <p:cNvSpPr/>
          <p:nvPr/>
        </p:nvSpPr>
        <p:spPr>
          <a:xfrm>
            <a:off x="15544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9" name="Shape 7"/>
          <p:cNvSpPr/>
          <p:nvPr/>
        </p:nvSpPr>
        <p:spPr>
          <a:xfrm>
            <a:off x="15544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0" name="Shape 8"/>
          <p:cNvSpPr/>
          <p:nvPr/>
        </p:nvSpPr>
        <p:spPr>
          <a:xfrm>
            <a:off x="15544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1" name="Shape 9"/>
          <p:cNvSpPr/>
          <p:nvPr/>
        </p:nvSpPr>
        <p:spPr>
          <a:xfrm>
            <a:off x="20116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2" name="Shape 10"/>
          <p:cNvSpPr/>
          <p:nvPr/>
        </p:nvSpPr>
        <p:spPr>
          <a:xfrm>
            <a:off x="20116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20116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24688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5" name="Shape 13"/>
          <p:cNvSpPr/>
          <p:nvPr/>
        </p:nvSpPr>
        <p:spPr>
          <a:xfrm>
            <a:off x="24688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6" name="Shape 14"/>
          <p:cNvSpPr/>
          <p:nvPr/>
        </p:nvSpPr>
        <p:spPr>
          <a:xfrm>
            <a:off x="24688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7" name="Shape 15"/>
          <p:cNvSpPr/>
          <p:nvPr/>
        </p:nvSpPr>
        <p:spPr>
          <a:xfrm>
            <a:off x="29260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8" name="Shape 16"/>
          <p:cNvSpPr/>
          <p:nvPr/>
        </p:nvSpPr>
        <p:spPr>
          <a:xfrm>
            <a:off x="29260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9" name="Shape 17"/>
          <p:cNvSpPr/>
          <p:nvPr/>
        </p:nvSpPr>
        <p:spPr>
          <a:xfrm>
            <a:off x="29260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0" name="Shape 18"/>
          <p:cNvSpPr/>
          <p:nvPr/>
        </p:nvSpPr>
        <p:spPr>
          <a:xfrm>
            <a:off x="33832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1" name="Shape 19"/>
          <p:cNvSpPr/>
          <p:nvPr/>
        </p:nvSpPr>
        <p:spPr>
          <a:xfrm>
            <a:off x="33832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2" name="Shape 20"/>
          <p:cNvSpPr/>
          <p:nvPr/>
        </p:nvSpPr>
        <p:spPr>
          <a:xfrm>
            <a:off x="33832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011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3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40080" y="242316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Нейросетевая модель прогнозирует</a:t>
            </a:r>
            <a:endParaRPr lang="en-US" sz="40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поведение — игра адаптируется сама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640080" y="4983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Изотов Антон Николаевич  ·  Team-Lead, ML-инженер</a:t>
            </a:r>
            <a:r>
              <a:rPr lang="en-US" sz="140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Группа МВИ-122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349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руководитель: Беспалов М. Е., к.т.н., доцент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1449</Words>
  <Application>Microsoft Office PowerPoint</Application>
  <PresentationFormat>Широкоэкранный</PresentationFormat>
  <Paragraphs>174</Paragraphs>
  <Slides>11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6" baseType="lpstr">
      <vt:lpstr>Arial</vt:lpstr>
      <vt:lpstr>Calibri</vt:lpstr>
      <vt:lpstr>Cambria</vt:lpstr>
      <vt:lpstr>Courier New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и интеграция нейросетевой модели для прогнозирования поведения пользователя в адаптивной игровой системе</dc:title>
  <dc:subject>PptxGenJS Presentation</dc:subject>
  <dc:creator>Изотов Антон Николаевич</dc:creator>
  <cp:lastModifiedBy>fuller276</cp:lastModifiedBy>
  <cp:revision>2</cp:revision>
  <dcterms:created xsi:type="dcterms:W3CDTF">2026-06-15T11:15:39Z</dcterms:created>
  <dcterms:modified xsi:type="dcterms:W3CDTF">2026-06-15T18:35:14Z</dcterms:modified>
</cp:coreProperties>
</file>