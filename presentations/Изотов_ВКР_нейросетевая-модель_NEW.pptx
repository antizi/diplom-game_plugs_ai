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68" r:id="rId4"/>
    <p:sldId id="257" r:id="rId5"/>
    <p:sldId id="266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2237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ML-часть проекта. Задача моего сервиса — по поведению игрока в сессии определить его архетип (исследователь, достигатор, социализатор, киллер) и вернуть рекомендации по адаптации сложности. Дальше расскажу, зачем это нужно проекту, какую модель я выбрал и почему, как она устроена и как встроена в общую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проблема, которую мы решаем: единая сложность не подходит всем игрокам. Архетип — компактная метрика стиля игрока, к которой привязаны все системы баланса. Это вход для адаптации: по архетипу мы выдаём конкретные параметры difficulty, enemy_density, loot_multiplier. И, что важно для всего проекта, — разработчик игры не пишет ML-код, он лишь описывает события и архетипы, а считает всё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это задача многоклассовой классификации: на вход вектор признаков сессии, на выход — один из четырёх архетипов. Признаки строятся из частот событий и числовых метрик вроде времени, смертей, подсказок, с весами критических точек из профиля игры. Почему ML, а не правила: жёсткие if-else не масштабируются, архетип определяется комбинацией признаков, а модель к тому же дообучается на накопленных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три подхода. Жёсткие правила объяснимы, но неточны и не масштабируются. LSTM потенциально точнее, но требует тысяч размеченных сессий и медленнее. Random Forest даёт лучший баланс на старте проекта: приемлемая точность уже на сотнях сессий, инференс быстрее пяти миллисекунд, экспортируется в ONNX. Поэтому в продакшене сейчас Random Forest, а LSTM лежит в research как кандидат на замену, когда накопим достаточно реальных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работает инференс. События сессии из Postgres превращаются в вектор признаков строго по feature_order, затем Random Forest в формате ONNX через onnxruntime на CPU выдаёт класс и вероятности. Из класса получаем архетип, из вероятностей — confidence, и подбираем параметры адаптации. Два инженерных акцента: согласованность признаков — порядок фичей в модели жёстко совпадает с критическими точками профиля игры; и надёжность — если ONNX почему-то не загрузился, сервис не падает, а отвечает эвристикой.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— как модель обучается. Данные берём из Postgres: реальные события и ранее сделанные предсказания, а для холодного старта есть seed-скрипт на тысячу размеченных сессий. По каждой сессии строим признаки и метку, обучаем RandomForest в sklearn и экспортируем в ONNX вместе с метаданными — порядком признаков и списком архетипов. Запускается это эндпоинтом POST /train, после чего модель перезагружается на горячую, без пересборки контейнера. Так версия модели обновляется прямо в работающем сервисе.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Интеграция. Мой код — это отдельный микросервис в Docker Compose на порту 8001. Backend общается с ним по HTTP через ml_client.py: на эндпоинт /predict уходит session_id, player_id, словарь признаков и список архетипов, обратно приходит архетип, уверенность, параметры адаптации и версия модели. Вызов происходит не один раз, а каждые bootstrap_actions событий, так что адаптация обновляется по ходу сессии. Результат backend кладёт прямо в ответ на /telemetry/ingest, и плагин эмитит сигнал в игру.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планах: заменить Random Forest на LSTM, когда наберём достаточно реальных сессий — это лежит готовым прототипом в research. Добавить строгую валидацию входных признаков по профилю игры. И завести метрики качества — латентность предсказаний, долю срабатываний fallback, мониторинг версии модели. Весь код — в репозитории по QR-коду, папка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ML-сервис по телеметрии определяет архетип игрока и возвращает параметры адаптации. В основе — Random Forest в формате ONNX, вынесенный в отдельный сервис, с обучением на данных из Postgres, надёжным fallback и горячей перезагрузкой модели.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и интеграция нейросетевой модели для прогнозирования поведения пользователя в адаптивной игровой системе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Team-Lead, ML-инженер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Беспалов М. Е.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2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8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Отсутствие адаптивного геймдизайна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</a:p>
        </p:txBody>
      </p:sp>
      <p:sp>
        <p:nvSpPr>
          <p:cNvPr id="104" name="T"/>
          <p:cNvSpPr/>
          <p:nvPr/>
        </p:nvSpPr>
        <p:spPr>
          <a:xfrm>
            <a:off x="646176" y="1936052"/>
            <a:ext cx="10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Большинство игр одинаковы для всех и не подстраиваются под стиль конкретного игрока.</a:t>
            </a:r>
          </a:p>
        </p:txBody>
      </p:sp>
      <p:sp>
        <p:nvSpPr>
          <p:cNvPr id="105" name="S"/>
          <p:cNvSpPr/>
          <p:nvPr/>
        </p:nvSpPr>
        <p:spPr>
          <a:xfrm>
            <a:off x="646176" y="2750452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06" name="S"/>
          <p:cNvSpPr/>
          <p:nvPr/>
        </p:nvSpPr>
        <p:spPr>
          <a:xfrm>
            <a:off x="2043536" y="3050452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07" name="T"/>
          <p:cNvSpPr/>
          <p:nvPr/>
        </p:nvSpPr>
        <p:spPr>
          <a:xfrm>
            <a:off x="2043536" y="3050452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8" name="T"/>
          <p:cNvSpPr/>
          <p:nvPr/>
        </p:nvSpPr>
        <p:spPr>
          <a:xfrm>
            <a:off x="906176" y="3930452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баланс для всех</a:t>
            </a:r>
          </a:p>
        </p:txBody>
      </p:sp>
      <p:sp>
        <p:nvSpPr>
          <p:cNvPr id="109" name="T"/>
          <p:cNvSpPr/>
          <p:nvPr/>
        </p:nvSpPr>
        <p:spPr>
          <a:xfrm>
            <a:off x="906176" y="4450452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стиль игрока не учитывается</a:t>
            </a:r>
          </a:p>
        </p:txBody>
      </p:sp>
      <p:sp>
        <p:nvSpPr>
          <p:cNvPr id="110" name="S"/>
          <p:cNvSpPr/>
          <p:nvPr/>
        </p:nvSpPr>
        <p:spPr>
          <a:xfrm>
            <a:off x="4358640" y="2750452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11" name="S"/>
          <p:cNvSpPr/>
          <p:nvPr/>
        </p:nvSpPr>
        <p:spPr>
          <a:xfrm>
            <a:off x="5756000" y="3050452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12" name="T"/>
          <p:cNvSpPr/>
          <p:nvPr/>
        </p:nvSpPr>
        <p:spPr>
          <a:xfrm>
            <a:off x="5756000" y="3050452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3" name="T"/>
          <p:cNvSpPr/>
          <p:nvPr/>
        </p:nvSpPr>
        <p:spPr>
          <a:xfrm>
            <a:off x="4618640" y="3930452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Ручная настройка</a:t>
            </a:r>
          </a:p>
        </p:txBody>
      </p:sp>
      <p:sp>
        <p:nvSpPr>
          <p:cNvPr id="114" name="T"/>
          <p:cNvSpPr/>
          <p:nvPr/>
        </p:nvSpPr>
        <p:spPr>
          <a:xfrm>
            <a:off x="4618640" y="4450452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задаётся вслепую, одинаково</a:t>
            </a:r>
          </a:p>
        </p:txBody>
      </p:sp>
      <p:sp>
        <p:nvSpPr>
          <p:cNvPr id="115" name="S"/>
          <p:cNvSpPr/>
          <p:nvPr/>
        </p:nvSpPr>
        <p:spPr>
          <a:xfrm>
            <a:off x="8071104" y="2750452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sp>
        <p:nvSpPr>
          <p:cNvPr id="116" name="S"/>
          <p:cNvSpPr/>
          <p:nvPr/>
        </p:nvSpPr>
        <p:spPr>
          <a:xfrm>
            <a:off x="9468464" y="3050452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17" name="T"/>
          <p:cNvSpPr/>
          <p:nvPr/>
        </p:nvSpPr>
        <p:spPr>
          <a:xfrm>
            <a:off x="9468464" y="3050452"/>
            <a:ext cx="680000" cy="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8" name="T"/>
          <p:cNvSpPr/>
          <p:nvPr/>
        </p:nvSpPr>
        <p:spPr>
          <a:xfrm>
            <a:off x="8331104" y="3930452"/>
            <a:ext cx="295472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Падение вовлечённости</a:t>
            </a:r>
          </a:p>
        </p:txBody>
      </p:sp>
      <p:sp>
        <p:nvSpPr>
          <p:cNvPr id="119" name="T"/>
          <p:cNvSpPr/>
          <p:nvPr/>
        </p:nvSpPr>
        <p:spPr>
          <a:xfrm>
            <a:off x="8331104" y="4450452"/>
            <a:ext cx="295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игроки теряют интерес и уходят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ВОВЛЕЧЁННОСТЬ ИГРОКОВ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Игроки уходят по-разному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T"/>
          <p:cNvSpPr/>
          <p:nvPr/>
        </p:nvSpPr>
        <p:spPr>
          <a:xfrm>
            <a:off x="640080" y="1480000"/>
            <a:ext cx="108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подстройки под стиль игрока разные типы игроков теряют интерес по-разному.</a:t>
            </a:r>
          </a:p>
        </p:txBody>
      </p:sp>
      <p:sp>
        <p:nvSpPr>
          <p:cNvPr id="105" name="T"/>
          <p:cNvSpPr/>
          <p:nvPr/>
        </p:nvSpPr>
        <p:spPr>
          <a:xfrm>
            <a:off x="700000" y="230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Собиратель</a:t>
            </a:r>
          </a:p>
        </p:txBody>
      </p:sp>
      <p:sp>
        <p:nvSpPr>
          <p:cNvPr id="106" name="S"/>
          <p:cNvSpPr/>
          <p:nvPr/>
        </p:nvSpPr>
        <p:spPr>
          <a:xfrm>
            <a:off x="3050000" y="230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07" name="S"/>
          <p:cNvSpPr/>
          <p:nvPr/>
        </p:nvSpPr>
        <p:spPr>
          <a:xfrm>
            <a:off x="3050000" y="2300000"/>
            <a:ext cx="1950000" cy="480000"/>
          </a:xfrm>
          <a:prstGeom prst="roundRect">
            <a:avLst>
              <a:gd name="adj" fmla="val 40000"/>
            </a:avLst>
          </a:prstGeom>
          <a:solidFill>
            <a:srgbClr val="E8836B"/>
          </a:solidFill>
          <a:ln/>
        </p:spPr>
      </p:sp>
      <p:sp>
        <p:nvSpPr>
          <p:cNvPr id="108" name="T"/>
          <p:cNvSpPr/>
          <p:nvPr/>
        </p:nvSpPr>
        <p:spPr>
          <a:xfrm>
            <a:off x="5140000" y="230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b="1" kern="0" dirty="0">
                <a:solidFill>
                  <a:srgbClr val="E88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уходит через 1–3 ч</a:t>
            </a:r>
          </a:p>
        </p:txBody>
      </p:sp>
      <p:sp>
        <p:nvSpPr>
          <p:cNvPr id="109" name="T"/>
          <p:cNvSpPr/>
          <p:nvPr/>
        </p:nvSpPr>
        <p:spPr>
          <a:xfrm>
            <a:off x="700000" y="334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</a:t>
            </a:r>
          </a:p>
        </p:txBody>
      </p:sp>
      <p:sp>
        <p:nvSpPr>
          <p:cNvPr id="110" name="S"/>
          <p:cNvSpPr/>
          <p:nvPr/>
        </p:nvSpPr>
        <p:spPr>
          <a:xfrm>
            <a:off x="3050000" y="334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1" name="S"/>
          <p:cNvSpPr/>
          <p:nvPr/>
        </p:nvSpPr>
        <p:spPr>
          <a:xfrm>
            <a:off x="3050000" y="3340000"/>
            <a:ext cx="37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2" name="T"/>
          <p:cNvSpPr/>
          <p:nvPr/>
        </p:nvSpPr>
        <p:spPr>
          <a:xfrm>
            <a:off x="6890000" y="334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~5 ч</a:t>
            </a:r>
          </a:p>
        </p:txBody>
      </p:sp>
      <p:sp>
        <p:nvSpPr>
          <p:cNvPr id="113" name="T"/>
          <p:cNvSpPr/>
          <p:nvPr/>
        </p:nvSpPr>
        <p:spPr>
          <a:xfrm>
            <a:off x="700000" y="438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Боец</a:t>
            </a:r>
          </a:p>
        </p:txBody>
      </p:sp>
      <p:sp>
        <p:nvSpPr>
          <p:cNvPr id="114" name="S"/>
          <p:cNvSpPr/>
          <p:nvPr/>
        </p:nvSpPr>
        <p:spPr>
          <a:xfrm>
            <a:off x="3050000" y="438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5" name="S"/>
          <p:cNvSpPr/>
          <p:nvPr/>
        </p:nvSpPr>
        <p:spPr>
          <a:xfrm>
            <a:off x="3050000" y="4380000"/>
            <a:ext cx="61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6" name="T"/>
          <p:cNvSpPr/>
          <p:nvPr/>
        </p:nvSpPr>
        <p:spPr>
          <a:xfrm>
            <a:off x="9290000" y="438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играет 8+ ч</a:t>
            </a:r>
          </a:p>
        </p:txBody>
      </p:sp>
      <p:sp>
        <p:nvSpPr>
          <p:cNvPr id="118" name="T"/>
          <p:cNvSpPr/>
          <p:nvPr/>
        </p:nvSpPr>
        <p:spPr>
          <a:xfrm>
            <a:off x="700000" y="5420000"/>
            <a:ext cx="1080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под архетип удерживает разные типы игроков и повышает вовлечённость.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метрики «архетип игрока» в проекте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Сегментация игроков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архетипа Bartle вместо «средней» сложности для всех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адаптации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→ difficulty, enemy_density, loot_multiplier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Удержание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геймплей под стиль игрока снижает отток и скуку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59999"/>
            <a:ext cx="6100000" cy="3985123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50" b="1" kern="0" spc="20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1/3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и обоснование выбора ML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395728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 модель: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действиям игрока за сессию определяет его тип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Учитывает: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часто происходят события, время в игре, смерти, подсказки, очки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Типы игроков: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· achiever · socializer · killer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0256" y="20756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24028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19659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не годятся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360920" y="23134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случаи прописать вручную невозможно — их слишком много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0" y="31546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20256" y="34472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611880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33375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видит поведение целиком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60920" y="36850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порядок и сочетание действий, а не один признак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400800" y="45262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0256" y="48188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983480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60920" y="47091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Учится на данных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7360920" y="50566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становится точнее по мере накопления реальной статистики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2/3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подходов и выбор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3042687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745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82767" y="1874520"/>
            <a:ext cx="1828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29071" y="18745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Точность*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511567" y="1874520"/>
            <a:ext cx="210312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57871" y="18745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нужно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614687" y="1874520"/>
            <a:ext cx="173736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60991" y="1874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352047" y="1874520"/>
            <a:ext cx="201168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98351" y="18745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587752"/>
            <a:ext cx="304268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258775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(if-else)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682767" y="258775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29071" y="258775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511567" y="258775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57871" y="258775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14687" y="2587752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60991" y="258775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352047" y="2587752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98351" y="258775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00984"/>
            <a:ext cx="304268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330098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(baseline)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682767" y="330098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29071" y="330098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хорошая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511567" y="330098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57871" y="330098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сессий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614687" y="3300984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60991" y="33009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мс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52047" y="3300984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98351" y="330098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014216"/>
            <a:ext cx="3042687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(выбрана)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682767" y="4014216"/>
            <a:ext cx="1828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29071" y="401421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511567" y="4014216"/>
            <a:ext cx="210312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57871" y="401421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сессий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614687" y="4014216"/>
            <a:ext cx="173736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0991" y="401421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мс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352047" y="4014216"/>
            <a:ext cx="201168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98351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483717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на синтетических + seed-данных проекта; точная оценка — по мере накопления реальной телеметрии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" y="50749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14400" y="5138928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Выбор: LSTM (PyTorch → ONNX).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последовательность действий игрока, а не только агрегаты, — точнее распознаёт стиль. Random Forest остаётся быстрым baseline для холодного старта.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устроена LSTM-ячейка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</a:p>
        </p:txBody>
      </p:sp>
      <p:sp>
        <p:nvSpPr>
          <p:cNvPr id="104" name="S"/>
          <p:cNvSpPr/>
          <p:nvPr/>
        </p:nvSpPr>
        <p:spPr>
          <a:xfrm>
            <a:off x="760000" y="1860000"/>
            <a:ext cx="10670000" cy="3120000"/>
          </a:xfrm>
          <a:prstGeom prst="roundRect">
            <a:avLst>
              <a:gd name="adj" fmla="val 35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blurRad="76200" dist="20000" dir="5400000" algn="bl" rotWithShape="0">
              <a:srgbClr val="B8C9D4">
                <a:alpha val="20000"/>
              </a:srgbClr>
            </a:outerShdw>
          </a:effectLst>
        </p:spPr>
      </p:sp>
      <p:cxnSp>
        <p:nvCxnSpPr>
          <p:cNvPr id="105" name="c"/>
          <p:cNvCxnSpPr/>
          <p:nvPr/>
        </p:nvCxnSpPr>
        <p:spPr>
          <a:xfrm>
            <a:off x="930000" y="2380000"/>
            <a:ext cx="10330000" cy="0"/>
          </a:xfrm>
          <a:prstGeom prst="straightConnector1">
            <a:avLst/>
          </a:prstGeom>
          <a:ln w="22000" cap="rnd">
            <a:solidFill>
              <a:srgbClr val="4A5560"/>
            </a:solidFill>
          </a:ln>
        </p:spPr>
      </p:cxnSp>
      <p:sp>
        <p:nvSpPr>
          <p:cNvPr id="106" name="T"/>
          <p:cNvSpPr/>
          <p:nvPr/>
        </p:nvSpPr>
        <p:spPr>
          <a:xfrm>
            <a:off x="960000" y="2010000"/>
            <a:ext cx="5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Память ячейки Cₜ — контекст всей сессии</a:t>
            </a:r>
          </a:p>
        </p:txBody>
      </p:sp>
      <p:sp>
        <p:nvSpPr>
          <p:cNvPr id="107" name="T"/>
          <p:cNvSpPr/>
          <p:nvPr/>
        </p:nvSpPr>
        <p:spPr>
          <a:xfrm>
            <a:off x="10130000" y="2010000"/>
            <a:ext cx="11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105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Cₜ</a:t>
            </a:r>
          </a:p>
        </p:txBody>
      </p:sp>
      <p:cxnSp>
        <p:nvCxnSpPr>
          <p:cNvPr id="108" name="c"/>
          <p:cNvCxnSpPr/>
          <p:nvPr/>
        </p:nvCxnSpPr>
        <p:spPr>
          <a:xfrm flipV="1">
            <a:off x="2500000" y="2530000"/>
            <a:ext cx="0" cy="120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09" name="c"/>
          <p:cNvCxnSpPr/>
          <p:nvPr/>
        </p:nvCxnSpPr>
        <p:spPr>
          <a:xfrm flipV="1">
            <a:off x="4300000" y="3300000"/>
            <a:ext cx="50000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0" name="c"/>
          <p:cNvCxnSpPr/>
          <p:nvPr/>
        </p:nvCxnSpPr>
        <p:spPr>
          <a:xfrm flipH="1" flipV="1">
            <a:off x="4800000" y="3300000"/>
            <a:ext cx="50000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1" name="c"/>
          <p:cNvCxnSpPr/>
          <p:nvPr/>
        </p:nvCxnSpPr>
        <p:spPr>
          <a:xfrm flipV="1">
            <a:off x="4800000" y="2530000"/>
            <a:ext cx="0" cy="470000"/>
          </a:xfrm>
          <a:prstGeom prst="straightConnector1">
            <a:avLst/>
          </a:prstGeom>
          <a:ln w="19050" cap="rnd">
            <a:solidFill>
              <a:srgbClr val="E59BB0"/>
            </a:solidFill>
          </a:ln>
        </p:spPr>
      </p:cxnSp>
      <p:cxnSp>
        <p:nvCxnSpPr>
          <p:cNvPr id="112" name="c"/>
          <p:cNvCxnSpPr/>
          <p:nvPr/>
        </p:nvCxnSpPr>
        <p:spPr>
          <a:xfrm flipV="1">
            <a:off x="8500000" y="3300000"/>
            <a:ext cx="0" cy="430000"/>
          </a:xfrm>
          <a:prstGeom prst="straightConnector1">
            <a:avLst/>
          </a:prstGeom>
          <a:ln w="19050" cap="rnd">
            <a:solidFill>
              <a:srgbClr val="E8C24A"/>
            </a:solidFill>
          </a:ln>
        </p:spPr>
      </p:cxnSp>
      <p:cxnSp>
        <p:nvCxnSpPr>
          <p:cNvPr id="113" name="c"/>
          <p:cNvCxnSpPr/>
          <p:nvPr/>
        </p:nvCxnSpPr>
        <p:spPr>
          <a:xfrm>
            <a:off x="8500000" y="2530000"/>
            <a:ext cx="0" cy="470000"/>
          </a:xfrm>
          <a:prstGeom prst="straightConnector1">
            <a:avLst/>
          </a:prstGeom>
          <a:ln w="19050" cap="rnd">
            <a:solidFill>
              <a:srgbClr val="4A5560"/>
            </a:solidFill>
          </a:ln>
        </p:spPr>
      </p:cxnSp>
      <p:cxnSp>
        <p:nvCxnSpPr>
          <p:cNvPr id="114" name="c"/>
          <p:cNvCxnSpPr/>
          <p:nvPr/>
        </p:nvCxnSpPr>
        <p:spPr>
          <a:xfrm>
            <a:off x="8500000" y="3150000"/>
            <a:ext cx="1100000" cy="0"/>
          </a:xfrm>
          <a:prstGeom prst="straightConnector1">
            <a:avLst/>
          </a:prstGeom>
          <a:ln w="19050" cap="rnd">
            <a:solidFill>
              <a:srgbClr val="4A5560"/>
            </a:solidFill>
          </a:ln>
        </p:spPr>
      </p:cxnSp>
      <p:cxnSp>
        <p:nvCxnSpPr>
          <p:cNvPr id="115" name="c"/>
          <p:cNvCxnSpPr/>
          <p:nvPr/>
        </p:nvCxnSpPr>
        <p:spPr>
          <a:xfrm flipV="1">
            <a:off x="9600000" y="1540000"/>
            <a:ext cx="0" cy="1610000"/>
          </a:xfrm>
          <a:prstGeom prst="straightConnector1">
            <a:avLst/>
          </a:prstGeom>
          <a:ln w="19050" cap="rnd">
            <a:solidFill>
              <a:srgbClr val="4A5560"/>
            </a:solidFill>
            <a:tailEnd type="triangle" w="med" len="med"/>
          </a:ln>
        </p:spPr>
      </p:cxnSp>
      <p:cxnSp>
        <p:nvCxnSpPr>
          <p:cNvPr id="116" name="c"/>
          <p:cNvCxnSpPr/>
          <p:nvPr/>
        </p:nvCxnSpPr>
        <p:spPr>
          <a:xfrm>
            <a:off x="1140000" y="4640000"/>
            <a:ext cx="7760000" cy="0"/>
          </a:xfrm>
          <a:prstGeom prst="straightConnector1">
            <a:avLst/>
          </a:prstGeom>
          <a:ln w="15875" cap="rnd">
            <a:solidFill>
              <a:srgbClr val="6B7480"/>
            </a:solidFill>
          </a:ln>
        </p:spPr>
      </p:cxnSp>
      <p:cxnSp>
        <p:nvCxnSpPr>
          <p:cNvPr id="117" name="c"/>
          <p:cNvCxnSpPr/>
          <p:nvPr/>
        </p:nvCxnSpPr>
        <p:spPr>
          <a:xfrm flipV="1">
            <a:off x="25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8" name="c"/>
          <p:cNvCxnSpPr/>
          <p:nvPr/>
        </p:nvCxnSpPr>
        <p:spPr>
          <a:xfrm flipV="1">
            <a:off x="43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9" name="c"/>
          <p:cNvCxnSpPr/>
          <p:nvPr/>
        </p:nvCxnSpPr>
        <p:spPr>
          <a:xfrm flipV="1">
            <a:off x="53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20" name="c"/>
          <p:cNvCxnSpPr/>
          <p:nvPr/>
        </p:nvCxnSpPr>
        <p:spPr>
          <a:xfrm flipV="1">
            <a:off x="8500000" y="4110000"/>
            <a:ext cx="0" cy="53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sp>
        <p:nvSpPr>
          <p:cNvPr id="121" name="T"/>
          <p:cNvSpPr/>
          <p:nvPr/>
        </p:nvSpPr>
        <p:spPr>
          <a:xfrm>
            <a:off x="800000" y="4610000"/>
            <a:ext cx="1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050" b="1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hₜ₋₁, xₜ</a:t>
            </a:r>
          </a:p>
        </p:txBody>
      </p:sp>
      <p:sp>
        <p:nvSpPr>
          <p:cNvPr id="122" name="S"/>
          <p:cNvSpPr/>
          <p:nvPr/>
        </p:nvSpPr>
        <p:spPr>
          <a:xfrm>
            <a:off x="2350000" y="223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3" name="T"/>
          <p:cNvSpPr/>
          <p:nvPr/>
        </p:nvSpPr>
        <p:spPr>
          <a:xfrm>
            <a:off x="2350000" y="223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4" name="S"/>
          <p:cNvSpPr/>
          <p:nvPr/>
        </p:nvSpPr>
        <p:spPr>
          <a:xfrm>
            <a:off x="4650000" y="223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5" name="T"/>
          <p:cNvSpPr/>
          <p:nvPr/>
        </p:nvSpPr>
        <p:spPr>
          <a:xfrm>
            <a:off x="4650000" y="223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26" name="S"/>
          <p:cNvSpPr/>
          <p:nvPr/>
        </p:nvSpPr>
        <p:spPr>
          <a:xfrm>
            <a:off x="4650000" y="300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7" name="T"/>
          <p:cNvSpPr/>
          <p:nvPr/>
        </p:nvSpPr>
        <p:spPr>
          <a:xfrm>
            <a:off x="4650000" y="300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8" name="S"/>
          <p:cNvSpPr/>
          <p:nvPr/>
        </p:nvSpPr>
        <p:spPr>
          <a:xfrm>
            <a:off x="8350000" y="300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9" name="T"/>
          <p:cNvSpPr/>
          <p:nvPr/>
        </p:nvSpPr>
        <p:spPr>
          <a:xfrm>
            <a:off x="8350000" y="300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30" name="S"/>
          <p:cNvSpPr/>
          <p:nvPr/>
        </p:nvSpPr>
        <p:spPr>
          <a:xfrm>
            <a:off x="8220000" y="2220000"/>
            <a:ext cx="560000" cy="320000"/>
          </a:xfrm>
          <a:prstGeom prst="ellipse">
            <a:avLst/>
          </a:prstGeom>
          <a:solidFill>
            <a:srgbClr val="FBE3EA"/>
          </a:solidFill>
          <a:ln w="9525">
            <a:solidFill>
              <a:srgbClr val="E59BB0"/>
            </a:solidFill>
          </a:ln>
        </p:spPr>
      </p:sp>
      <p:sp>
        <p:nvSpPr>
          <p:cNvPr id="131" name="T"/>
          <p:cNvSpPr/>
          <p:nvPr/>
        </p:nvSpPr>
        <p:spPr>
          <a:xfrm>
            <a:off x="8220000" y="2220000"/>
            <a:ext cx="56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2" name="S"/>
          <p:cNvSpPr/>
          <p:nvPr/>
        </p:nvSpPr>
        <p:spPr>
          <a:xfrm>
            <a:off x="22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3" name="T"/>
          <p:cNvSpPr/>
          <p:nvPr/>
        </p:nvSpPr>
        <p:spPr>
          <a:xfrm>
            <a:off x="22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4" name="S"/>
          <p:cNvSpPr/>
          <p:nvPr/>
        </p:nvSpPr>
        <p:spPr>
          <a:xfrm>
            <a:off x="40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5" name="T"/>
          <p:cNvSpPr/>
          <p:nvPr/>
        </p:nvSpPr>
        <p:spPr>
          <a:xfrm>
            <a:off x="40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6" name="S"/>
          <p:cNvSpPr/>
          <p:nvPr/>
        </p:nvSpPr>
        <p:spPr>
          <a:xfrm>
            <a:off x="50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7" name="T"/>
          <p:cNvSpPr/>
          <p:nvPr/>
        </p:nvSpPr>
        <p:spPr>
          <a:xfrm>
            <a:off x="50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8" name="S"/>
          <p:cNvSpPr/>
          <p:nvPr/>
        </p:nvSpPr>
        <p:spPr>
          <a:xfrm>
            <a:off x="8220000" y="373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9" name="T"/>
          <p:cNvSpPr/>
          <p:nvPr/>
        </p:nvSpPr>
        <p:spPr>
          <a:xfrm>
            <a:off x="8220000" y="373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40" name="T"/>
          <p:cNvSpPr/>
          <p:nvPr/>
        </p:nvSpPr>
        <p:spPr>
          <a:xfrm>
            <a:off x="9150000" y="1180000"/>
            <a:ext cx="1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b="1" kern="0" dirty="0">
                <a:solidFill>
                  <a:srgbClr val="9C5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выход: hₜ → архетип</a:t>
            </a:r>
          </a:p>
        </p:txBody>
      </p:sp>
      <p:sp>
        <p:nvSpPr>
          <p:cNvPr id="141" name="T"/>
          <p:cNvSpPr/>
          <p:nvPr/>
        </p:nvSpPr>
        <p:spPr>
          <a:xfrm>
            <a:off x="13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Забывание</a:t>
            </a:r>
          </a:p>
        </p:txBody>
      </p:sp>
      <p:sp>
        <p:nvSpPr>
          <p:cNvPr id="142" name="T"/>
          <p:cNvSpPr/>
          <p:nvPr/>
        </p:nvSpPr>
        <p:spPr>
          <a:xfrm>
            <a:off x="12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стереть лишнее из памяти  (σ)</a:t>
            </a:r>
          </a:p>
        </p:txBody>
      </p:sp>
      <p:sp>
        <p:nvSpPr>
          <p:cNvPr id="143" name="T"/>
          <p:cNvSpPr/>
          <p:nvPr/>
        </p:nvSpPr>
        <p:spPr>
          <a:xfrm>
            <a:off x="36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</a:t>
            </a:r>
          </a:p>
        </p:txBody>
      </p:sp>
      <p:sp>
        <p:nvSpPr>
          <p:cNvPr id="144" name="T"/>
          <p:cNvSpPr/>
          <p:nvPr/>
        </p:nvSpPr>
        <p:spPr>
          <a:xfrm>
            <a:off x="35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новое  (σ · tanh)</a:t>
            </a:r>
          </a:p>
        </p:txBody>
      </p:sp>
      <p:sp>
        <p:nvSpPr>
          <p:cNvPr id="145" name="T"/>
          <p:cNvSpPr/>
          <p:nvPr/>
        </p:nvSpPr>
        <p:spPr>
          <a:xfrm>
            <a:off x="7350000" y="5120000"/>
            <a:ext cx="2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250" b="1" kern="0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</a:t>
            </a:r>
          </a:p>
        </p:txBody>
      </p:sp>
      <p:sp>
        <p:nvSpPr>
          <p:cNvPr id="146" name="T"/>
          <p:cNvSpPr/>
          <p:nvPr/>
        </p:nvSpPr>
        <p:spPr>
          <a:xfrm>
            <a:off x="7200000" y="5430000"/>
            <a:ext cx="26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сформировать ответ hₜ  (σ · tanh)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МОДЕЛИ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Обучение: от телеметрии к новой версии ONNX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54480" y="2066544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203704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402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74920" y="193852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предсказания берутся из Postgres; seed-скрипт даёт 1000 размеченных сессий для холодного старта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8529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77824" y="3090672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54480" y="3090672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3227832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240280" y="29809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074920" y="2962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 по каждой сессии + метка архетипа (из predictions или эвристики)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3877056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77824" y="4114800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3" name="Text 19"/>
          <p:cNvSpPr/>
          <p:nvPr/>
        </p:nvSpPr>
        <p:spPr>
          <a:xfrm>
            <a:off x="877824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554480" y="4114800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" y="4251960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24028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экспорт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5074920" y="398678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LSTM → torch.onnx → classifier.onnx + model_meta.json (feature_order, archetypes)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40080" y="490118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7824" y="5138928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30" name="Text 25"/>
          <p:cNvSpPr/>
          <p:nvPr/>
        </p:nvSpPr>
        <p:spPr>
          <a:xfrm>
            <a:off x="877824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554480" y="5138928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32" name="Image 3" descr="icons/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1640" y="5276088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24028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5074920" y="501091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/train обновляет модель; движок перезагружается без пересборки контейнера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Реализация модели и встраивание в проект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0E2A3A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32688" y="1993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 POST /predict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432304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"uuid",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"player_id": "player_1",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"features": { "time_sec": 120.0,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"deaths": 2.0 },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"archetypes": ["explorer",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"achiever","socializer","killer"]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predicted_archetype, confidence,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recommended_adaptation, model_version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14616" y="20756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3" name="Image 0" descr="icons/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722" y="2234794"/>
            <a:ext cx="212141" cy="21214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09560" y="19659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микросервис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09560" y="23134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 в Docker Compose, порт 8001; backend ходит по HTTP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995160" y="31546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14616" y="34472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722" y="3606394"/>
            <a:ext cx="212141" cy="21214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09560" y="33375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каждые N событий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09560" y="36850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раз в bootstrap_actions событий, а не однократно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995160" y="45262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4616" y="48188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3" name="Image 2" descr="icons/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3722" y="4977994"/>
            <a:ext cx="212141" cy="21214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09560" y="47091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с backend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909560" y="50566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app/services/ml_client.py → /predict; результат в ответе /telemetry/ingest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Двунаправленный LSTM / Transformer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усиление модели на длинных последовательностях по мере накопления реальной телеметрии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признаков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проверка features по feature_order профиля игры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latency /predict, fallback-rate, мониторинг версии модели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r>
              <a:rPr lang="ru-RU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21259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и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нейросетевой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прогнозирования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пользователя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в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адаптивной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игровой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системе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  ·  Team-Lead, ML-инженер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Беспалов М. Е., к.т.н., доцент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1428</Words>
  <Application>Microsoft Office PowerPoint</Application>
  <PresentationFormat>Широкоэкранный</PresentationFormat>
  <Paragraphs>185</Paragraphs>
  <Slides>12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 интеграция нейросетевой модели для прогнозирования поведения пользователя в адаптивной игровой системе</dc:title>
  <dc:subject>PptxGenJS Presentation</dc:subject>
  <dc:creator>Изотов Антон Николаевич</dc:creator>
  <cp:lastModifiedBy>fuller276</cp:lastModifiedBy>
  <cp:revision>2</cp:revision>
  <dcterms:created xsi:type="dcterms:W3CDTF">2026-06-15T11:15:39Z</dcterms:created>
  <dcterms:modified xsi:type="dcterms:W3CDTF">2026-06-21T09:16:25Z</dcterms:modified>
</cp:coreProperties>
</file>