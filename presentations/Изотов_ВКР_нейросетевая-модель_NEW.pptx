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18"/>
    <p:sldId id="268" r:id="rId19"/>
    <p:sldId id="257" r:id="rId3"/>
    <p:sldId id="266" r:id="rId17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4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отвечал за ML-часть проекта. Задача моего сервиса — по поведению игрока в сессии определить его архетип (исследователь, достигатор, социализатор, киллер) и вернуть рекомендации по адаптации сложности. Дальше расскажу, зачем это нужно проекту, какую модель я выбрал и почему, как она устроена и как встроена в общую систему.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проблема, которую мы решаем: единая сложность не подходит всем игрокам. Архетип — компактная метрика стиля игрока, к которой привязаны все системы баланса. Это вход для адаптации: по архетипу мы выдаём конкретные параметры difficulty, enemy_density, loot_multiplier. И, что важно для всего проекта, — разработчик игры не пишет ML-код, он лишь описывает события и архетипы, а считает всё сервер.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общая архитектура. Godot-плагин собирает события и шлёт их на backend. Backend строит вектор признаков и обращается к моему ML-сервису по HTTP POST /predict. Сервис возвращает архетип и параметры адаптации, которые backend кладёт в ответ, а игра применяет в рантайме. Принципиальное решение — cloud-only: модель только на сервере, на клиенте инференса нет. Это упрощает обновление модели и не нагружает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Формально это задача многоклассовой классификации: на вход вектор признаков сессии, на выход — один из четырёх архетипов. Признаки строятся из частот событий и числовых метрик вроде времени, смертей, подсказок, с весами критических точек из профиля игры. Почему ML, а не правила: жёсткие if-else не масштабируются, архетип определяется комбинацией признаков, а модель к тому же дообучается на накопленных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три подхода. Жёсткие правила объяснимы, но неточны и не масштабируются. LSTM потенциально точнее, но требует тысяч размеченных сессий и медленнее. Random Forest даёт лучший баланс на старте проекта: приемлемая точность уже на сотнях сессий, инференс быстрее пяти миллисекунд, экспортируется в ONNX. Поэтому в продакшене сейчас Random Forest, а LSTM лежит в research как кандидат на замену, когда накопим достаточно реальных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работает инференс. События сессии из Postgres превращаются в вектор признаков строго по feature_order, затем Random Forest в формате ONNX через onnxruntime на CPU выдаёт класс и вероятности. Из класса получаем архетип, из вероятностей — confidence, и подбираем параметры адаптации. Два инженерных акцента: согласованность признаков — порядок фичей в модели жёстко совпадает с критическими точками профиля игры; и надёжность — если ONNX почему-то не загрузился, сервис не падает, а отвечает эвристикой.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— как модель обучается. Данные берём из Postgres: реальные события и ранее сделанные предсказания, а для холодного старта есть seed-скрипт на тысячу размеченных сессий. По каждой сессии строим признаки и метку, обучаем RandomForest в sklearn и экспортируем в ONNX вместе с метаданными — порядком признаков и списком архетипов. Запускается это эндпоинтом POST /train, после чего модель перезагружается на горячую, без пересборки контейнера. Так версия модели обновляется прямо в работающем сервисе.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Интеграция. Мой код — это отдельный микросервис в Docker Compose на порту 8001. Backend общается с ним по HTTP через ml_client.py: на эндпоинт /predict уходит session_id, player_id, словарь признаков и список архетипов, обратно приходит архетип, уверенность, параметры адаптации и версия модели. Вызов происходит не один раз, а каждые bootstrap_actions событий, так что адаптация обновляется по ходу сессии. Результат backend кладёт прямо в ответ на /telemetry/ingest, и плагин эмитит сигнал в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планах: заменить Random Forest на LSTM, когда наберём достаточно реальных сессий — это лежит готовым прототипом в research. Добавить строгую валидацию входных признаков по профилю игры. И завести метрики качества — латентность предсказаний, долю срабатываний fallback, мониторинг версии модели. Весь код — в репозитории по QR-коду, папка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ML-сервис по телеметрии определяет архетип игрока и возвращает параметры адаптации. В основе — Random Forest в формате ONNX, вынесенный в отдельный сервис, с обучением на данных из Postgres, надёжным fallback и горячей перезагрузкой модели.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e_brain.png"/><Relationship Id="rId3" Type="http://schemas.openxmlformats.org/officeDocument/2006/relationships/image" Target="../media/scheme_brain_hot.png"/><Relationship Id="rId4" Type="http://schemas.openxmlformats.org/officeDocument/2006/relationships/image" Target="../media/scheme_brain_lb.png"/><Relationship Id="rId5" Type="http://schemas.openxmlformats.org/officeDocument/2006/relationships/image" Target="../media/scheme_brain_lh.png"/><Relationship Id="rId6" Type="http://schemas.openxmlformats.org/officeDocument/2006/relationships/image" Target="../media/scheme_brain_rose.png"/><Relationship Id="rId7" Type="http://schemas.openxmlformats.org/officeDocument/2006/relationships/image" Target="../media/scheme_db.png"/><Relationship Id="rId8" Type="http://schemas.openxmlformats.org/officeDocument/2006/relationships/image" Target="../media/scheme_db_hot.png"/><Relationship Id="rId9" Type="http://schemas.openxmlformats.org/officeDocument/2006/relationships/image" Target="../media/scheme_db_lb.png"/><Relationship Id="rId10" Type="http://schemas.openxmlformats.org/officeDocument/2006/relationships/image" Target="../media/scheme_db_lh.png"/><Relationship Id="rId11" Type="http://schemas.openxmlformats.org/officeDocument/2006/relationships/image" Target="../media/scheme_db_rose.png"/><Relationship Id="rId12" Type="http://schemas.openxmlformats.org/officeDocument/2006/relationships/image" Target="../media/scheme_flow.png"/><Relationship Id="rId13" Type="http://schemas.openxmlformats.org/officeDocument/2006/relationships/image" Target="../media/scheme_gamepad.png"/><Relationship Id="rId14" Type="http://schemas.openxmlformats.org/officeDocument/2006/relationships/image" Target="../media/scheme_gamepad_hot.png"/><Relationship Id="rId15" Type="http://schemas.openxmlformats.org/officeDocument/2006/relationships/image" Target="../media/scheme_gamepad_lb.png"/><Relationship Id="rId16" Type="http://schemas.openxmlformats.org/officeDocument/2006/relationships/image" Target="../media/scheme_gamepad_lh.png"/><Relationship Id="rId17" Type="http://schemas.openxmlformats.org/officeDocument/2006/relationships/image" Target="../media/scheme_gamepad_rose.png"/><Relationship Id="rId18" Type="http://schemas.openxmlformats.org/officeDocument/2006/relationships/image" Target="../media/scheme_server.png"/><Relationship Id="rId19" Type="http://schemas.openxmlformats.org/officeDocument/2006/relationships/image" Target="../media/scheme_server_hot.png"/><Relationship Id="rId20" Type="http://schemas.openxmlformats.org/officeDocument/2006/relationships/image" Target="../media/scheme_server_lb.png"/><Relationship Id="rId21" Type="http://schemas.openxmlformats.org/officeDocument/2006/relationships/image" Target="../media/scheme_server_lh.png"/><Relationship Id="rId22" Type="http://schemas.openxmlformats.org/officeDocument/2006/relationships/image" Target="../media/scheme_server_rose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e_gamepad.png"/><Relationship Id="rId3" Type="http://schemas.openxmlformats.org/officeDocument/2006/relationships/image" Target="../media/scheme_server.png"/><Relationship Id="rId4" Type="http://schemas.openxmlformats.org/officeDocument/2006/relationships/image" Target="../media/scheme_brain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5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55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1417320"/>
            <a:ext cx="10927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и интеграция нейросетевой модели для прогнозирования поведения пользователя в адаптивной игровой системе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276088"/>
            <a:ext cx="603504" cy="60350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8" name="Image 0" descr="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5457139"/>
            <a:ext cx="241402" cy="2414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8308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783080" y="5349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Изотов Антон Николаевич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783080" y="5760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МВИ-122  ·  Team-Lead, ML-инженер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4892040"/>
            <a:ext cx="5013655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30568" y="50749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30568" y="5394960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Беспалов М. Е.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к.т.н., доцент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Роль метрики «архетип игрока» в проекте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150000"/>
            <a:ext cx="3474720" cy="31500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0080" y="2530000"/>
            <a:ext cx="700000" cy="7000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us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080" y="2740000"/>
            <a:ext cx="300000" cy="300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70080" y="3780000"/>
            <a:ext cx="28147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игроков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70080" y="4320000"/>
            <a:ext cx="281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архетипа Bartle вместо «средней» сложности для всех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52544" y="2150000"/>
            <a:ext cx="3474720" cy="31500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2544" y="2530000"/>
            <a:ext cx="700000" cy="7000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544" y="2740000"/>
            <a:ext cx="300000" cy="300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2544" y="3780000"/>
            <a:ext cx="28147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для адаптации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82544" y="4320000"/>
            <a:ext cx="281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→ difficulty, enemy_density, loot_multiplier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65008" y="2150000"/>
            <a:ext cx="3474720" cy="31500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95008" y="2530000"/>
            <a:ext cx="700000" cy="7000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08" y="2740000"/>
            <a:ext cx="300000" cy="30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95008" y="3780000"/>
            <a:ext cx="28147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95008" y="4320000"/>
            <a:ext cx="281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под стиль игрока снижает отток и скуку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 ML-сервиса в общей системе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35915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gamep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52923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analytics_plugin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6112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событий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41064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53128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235915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238" y="2529230"/>
            <a:ext cx="226771" cy="2267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709160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754112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266176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1F9BD8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22208" y="2359152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1" name="Image 2" descr="icons/brain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286" y="2529230"/>
            <a:ext cx="226771" cy="22677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ML-service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ONNX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522208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+ адаптация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adaptation (difficulty · enemy_density · loot_multiplier)  возвращается игре в ответе ingest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7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4400" y="48646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Cloud-only: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живёт только в ML-service. Локального инференса на устройстве игрока нет — это упрощает обновление модели и не нагружает клиент. Backend — единственный клиент ML для /predict.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1/3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и обоснование выбора ML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Многоклассовая классификация: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событий сессии → один из архетипов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Признаки: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частоты событий, time_sec, deaths, hints_used, score — с весами critical points из профиля игры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Классы: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· achiever · socializer · killer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0256" y="20756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" name="Image 0" descr="icons/slid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224028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60920" y="19659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не масштабируются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60920" y="23134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ручные if-else по метрикам быстро становятся неподдерживаемыми при росте числа событий и архетипов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31546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20256" y="34472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7" name="Image 1" descr="icons/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361188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33375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ловит динамику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360920" y="36850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определяется порядком и сочетанием действий, а не одним порогом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0" y="45262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20256" y="48188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2" name="Image 2" descr="icons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983480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60920" y="47091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на данных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360920" y="50566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улучшается по мере накопления реальной телеметрии в Postgres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2/3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подходов и выбор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74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182880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8745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Точность*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874520"/>
            <a:ext cx="210312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18745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нужно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0" y="1874520"/>
            <a:ext cx="173736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3104" y="18745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24160" y="1874520"/>
            <a:ext cx="201168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70464" y="18745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58775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5877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правила (if-else)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58775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587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2587752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25877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0" y="2587752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25877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424160" y="2587752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70464" y="258775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30098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3009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(baseline)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30098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330098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3300984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33009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сессий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86800" y="3300984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33104" y="33009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мс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424160" y="3300984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0464" y="330098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014216"/>
            <a:ext cx="411480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01421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(выбрана)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754880" y="4014216"/>
            <a:ext cx="182880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40142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583680" y="4014216"/>
            <a:ext cx="210312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401421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сессий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686800" y="4014216"/>
            <a:ext cx="173736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33104" y="401421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мс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0424160" y="4014216"/>
            <a:ext cx="201168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70464" y="40142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483717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на синтетических + seed-данных проекта; точная оценка — по мере накопления реальной телеметрии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5074920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" y="5138928"/>
            <a:ext cx="10362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Выбор: LSTM (PyTorch → ONNX).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 последовательность действий игрока, а не только агрегаты, — точнее распознаёт стиль. Random Forest остаётся быстрым baseline для холодного старта.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/>
          <p:nvPr/>
        </p:nvSpPr>
        <p:spPr>
          <a:xfrm>
            <a:off x="640080" y="475488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</a:t>
            </a:r>
          </a:p>
        </p:txBody>
      </p:sp>
      <p:sp>
        <p:nvSpPr>
          <p:cNvPr id="102" name="T"/>
          <p:cNvSpPr/>
          <p:nvPr/>
        </p:nvSpPr>
        <p:spPr>
          <a:xfrm>
            <a:off x="640080" y="749808"/>
            <a:ext cx="10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устроена LSTM-ячейка</a:t>
            </a:r>
          </a:p>
        </p:txBody>
      </p:sp>
      <p:sp>
        <p:nvSpPr>
          <p:cNvPr id="103" name="T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3000" b="1" kern="0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</a:p>
        </p:txBody>
      </p:sp>
      <p:sp>
        <p:nvSpPr>
          <p:cNvPr id="104" name="S"/>
          <p:cNvSpPr/>
          <p:nvPr/>
        </p:nvSpPr>
        <p:spPr>
          <a:xfrm>
            <a:off x="760000" y="1860000"/>
            <a:ext cx="10670000" cy="3120000"/>
          </a:xfrm>
          <a:prstGeom prst="roundRect">
            <a:avLst>
              <a:gd name="adj" fmla="val 3500"/>
            </a:avLst>
          </a:prstGeom>
          <a:solidFill>
            <a:srgbClr val="F4FAFD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cxnSp>
        <p:nvCxnSpPr>
          <p:cNvPr id="105" name="c"/>
          <p:cNvCxnSpPr/>
          <p:nvPr/>
        </p:nvCxnSpPr>
        <p:spPr>
          <a:xfrm>
            <a:off x="930000" y="2380000"/>
            <a:ext cx="10330000" cy="0"/>
          </a:xfrm>
          <a:prstGeom prst="straightConnector1">
            <a:avLst/>
          </a:prstGeom>
          <a:ln w="22000" cap="rnd">
            <a:solidFill>
              <a:srgbClr val="4A5560"/>
            </a:solidFill>
          </a:ln>
        </p:spPr>
      </p:cxnSp>
      <p:sp>
        <p:nvSpPr>
          <p:cNvPr id="106" name="T"/>
          <p:cNvSpPr/>
          <p:nvPr/>
        </p:nvSpPr>
        <p:spPr>
          <a:xfrm>
            <a:off x="960000" y="201000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50" b="1" kern="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ячейки Cₜ — контекст всей сессии</a:t>
            </a:r>
          </a:p>
        </p:txBody>
      </p:sp>
      <p:sp>
        <p:nvSpPr>
          <p:cNvPr id="107" name="T"/>
          <p:cNvSpPr/>
          <p:nvPr/>
        </p:nvSpPr>
        <p:spPr>
          <a:xfrm>
            <a:off x="10130000" y="2010000"/>
            <a:ext cx="1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050" b="1" kern="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</a:p>
        </p:txBody>
      </p:sp>
      <p:cxnSp>
        <p:nvCxnSpPr>
          <p:cNvPr id="108" name="c"/>
          <p:cNvCxnSpPr/>
          <p:nvPr/>
        </p:nvCxnSpPr>
        <p:spPr>
          <a:xfrm flipV="1">
            <a:off x="2500000" y="2530000"/>
            <a:ext cx="0" cy="1200000"/>
          </a:xfrm>
          <a:prstGeom prst="straightConnector1">
            <a:avLst/>
          </a:prstGeom>
          <a:ln w="19050" cap="rnd">
            <a:solidFill>
              <a:srgbClr val="E8C24A"/>
            </a:solidFill>
          </a:ln>
        </p:spPr>
      </p:cxnSp>
      <p:cxnSp>
        <p:nvCxnSpPr>
          <p:cNvPr id="109" name="c"/>
          <p:cNvCxnSpPr/>
          <p:nvPr/>
        </p:nvCxnSpPr>
        <p:spPr>
          <a:xfrm flipV="1">
            <a:off x="4300000" y="3300000"/>
            <a:ext cx="500000" cy="430000"/>
          </a:xfrm>
          <a:prstGeom prst="straightConnector1">
            <a:avLst/>
          </a:prstGeom>
          <a:ln w="19050" cap="rnd">
            <a:solidFill>
              <a:srgbClr val="E8C24A"/>
            </a:solidFill>
          </a:ln>
        </p:spPr>
      </p:cxnSp>
      <p:cxnSp>
        <p:nvCxnSpPr>
          <p:cNvPr id="110" name="c"/>
          <p:cNvCxnSpPr/>
          <p:nvPr/>
        </p:nvCxnSpPr>
        <p:spPr>
          <a:xfrm flipH="1" flipV="1">
            <a:off x="4800000" y="3300000"/>
            <a:ext cx="500000" cy="430000"/>
          </a:xfrm>
          <a:prstGeom prst="straightConnector1">
            <a:avLst/>
          </a:prstGeom>
          <a:ln w="19050" cap="rnd">
            <a:solidFill>
              <a:srgbClr val="E8C24A"/>
            </a:solidFill>
          </a:ln>
        </p:spPr>
      </p:cxnSp>
      <p:cxnSp>
        <p:nvCxnSpPr>
          <p:cNvPr id="111" name="c"/>
          <p:cNvCxnSpPr/>
          <p:nvPr/>
        </p:nvCxnSpPr>
        <p:spPr>
          <a:xfrm flipV="1">
            <a:off x="4800000" y="2530000"/>
            <a:ext cx="0" cy="470000"/>
          </a:xfrm>
          <a:prstGeom prst="straightConnector1">
            <a:avLst/>
          </a:prstGeom>
          <a:ln w="19050" cap="rnd">
            <a:solidFill>
              <a:srgbClr val="E59BB0"/>
            </a:solidFill>
          </a:ln>
        </p:spPr>
      </p:cxnSp>
      <p:cxnSp>
        <p:nvCxnSpPr>
          <p:cNvPr id="112" name="c"/>
          <p:cNvCxnSpPr/>
          <p:nvPr/>
        </p:nvCxnSpPr>
        <p:spPr>
          <a:xfrm flipV="1">
            <a:off x="8500000" y="3300000"/>
            <a:ext cx="0" cy="430000"/>
          </a:xfrm>
          <a:prstGeom prst="straightConnector1">
            <a:avLst/>
          </a:prstGeom>
          <a:ln w="19050" cap="rnd">
            <a:solidFill>
              <a:srgbClr val="E8C24A"/>
            </a:solidFill>
          </a:ln>
        </p:spPr>
      </p:cxnSp>
      <p:cxnSp>
        <p:nvCxnSpPr>
          <p:cNvPr id="113" name="c"/>
          <p:cNvCxnSpPr/>
          <p:nvPr/>
        </p:nvCxnSpPr>
        <p:spPr>
          <a:xfrm>
            <a:off x="8500000" y="2530000"/>
            <a:ext cx="0" cy="470000"/>
          </a:xfrm>
          <a:prstGeom prst="straightConnector1">
            <a:avLst/>
          </a:prstGeom>
          <a:ln w="19050" cap="rnd">
            <a:solidFill>
              <a:srgbClr val="4A5560"/>
            </a:solidFill>
          </a:ln>
        </p:spPr>
      </p:cxnSp>
      <p:cxnSp>
        <p:nvCxnSpPr>
          <p:cNvPr id="114" name="c"/>
          <p:cNvCxnSpPr/>
          <p:nvPr/>
        </p:nvCxnSpPr>
        <p:spPr>
          <a:xfrm>
            <a:off x="8500000" y="3150000"/>
            <a:ext cx="1100000" cy="0"/>
          </a:xfrm>
          <a:prstGeom prst="straightConnector1">
            <a:avLst/>
          </a:prstGeom>
          <a:ln w="19050" cap="rnd">
            <a:solidFill>
              <a:srgbClr val="4A5560"/>
            </a:solidFill>
          </a:ln>
        </p:spPr>
      </p:cxnSp>
      <p:cxnSp>
        <p:nvCxnSpPr>
          <p:cNvPr id="115" name="c"/>
          <p:cNvCxnSpPr/>
          <p:nvPr/>
        </p:nvCxnSpPr>
        <p:spPr>
          <a:xfrm flipV="1">
            <a:off x="9600000" y="1540000"/>
            <a:ext cx="0" cy="1610000"/>
          </a:xfrm>
          <a:prstGeom prst="straightConnector1">
            <a:avLst/>
          </a:prstGeom>
          <a:ln w="19050" cap="rnd">
            <a:solidFill>
              <a:srgbClr val="4A5560"/>
            </a:solidFill>
            <a:tailEnd type="triangle" w="med" len="med"/>
          </a:ln>
        </p:spPr>
      </p:cxnSp>
      <p:cxnSp>
        <p:nvCxnSpPr>
          <p:cNvPr id="116" name="c"/>
          <p:cNvCxnSpPr/>
          <p:nvPr/>
        </p:nvCxnSpPr>
        <p:spPr>
          <a:xfrm>
            <a:off x="1140000" y="4640000"/>
            <a:ext cx="7760000" cy="0"/>
          </a:xfrm>
          <a:prstGeom prst="straightConnector1">
            <a:avLst/>
          </a:prstGeom>
          <a:ln w="15875" cap="rnd">
            <a:solidFill>
              <a:srgbClr val="6B7480"/>
            </a:solidFill>
          </a:ln>
        </p:spPr>
      </p:cxnSp>
      <p:cxnSp>
        <p:nvCxnSpPr>
          <p:cNvPr id="117" name="c"/>
          <p:cNvCxnSpPr/>
          <p:nvPr/>
        </p:nvCxnSpPr>
        <p:spPr>
          <a:xfrm flipV="1">
            <a:off x="2500000" y="4110000"/>
            <a:ext cx="0" cy="530000"/>
          </a:xfrm>
          <a:prstGeom prst="straightConnector1">
            <a:avLst/>
          </a:prstGeom>
          <a:ln w="12700" cap="rnd">
            <a:solidFill>
              <a:srgbClr val="6B7480"/>
            </a:solidFill>
          </a:ln>
        </p:spPr>
      </p:cxnSp>
      <p:cxnSp>
        <p:nvCxnSpPr>
          <p:cNvPr id="118" name="c"/>
          <p:cNvCxnSpPr/>
          <p:nvPr/>
        </p:nvCxnSpPr>
        <p:spPr>
          <a:xfrm flipV="1">
            <a:off x="4300000" y="4110000"/>
            <a:ext cx="0" cy="530000"/>
          </a:xfrm>
          <a:prstGeom prst="straightConnector1">
            <a:avLst/>
          </a:prstGeom>
          <a:ln w="12700" cap="rnd">
            <a:solidFill>
              <a:srgbClr val="6B7480"/>
            </a:solidFill>
          </a:ln>
        </p:spPr>
      </p:cxnSp>
      <p:cxnSp>
        <p:nvCxnSpPr>
          <p:cNvPr id="119" name="c"/>
          <p:cNvCxnSpPr/>
          <p:nvPr/>
        </p:nvCxnSpPr>
        <p:spPr>
          <a:xfrm flipV="1">
            <a:off x="5300000" y="4110000"/>
            <a:ext cx="0" cy="530000"/>
          </a:xfrm>
          <a:prstGeom prst="straightConnector1">
            <a:avLst/>
          </a:prstGeom>
          <a:ln w="12700" cap="rnd">
            <a:solidFill>
              <a:srgbClr val="6B7480"/>
            </a:solidFill>
          </a:ln>
        </p:spPr>
      </p:cxnSp>
      <p:cxnSp>
        <p:nvCxnSpPr>
          <p:cNvPr id="120" name="c"/>
          <p:cNvCxnSpPr/>
          <p:nvPr/>
        </p:nvCxnSpPr>
        <p:spPr>
          <a:xfrm flipV="1">
            <a:off x="8500000" y="4110000"/>
            <a:ext cx="0" cy="530000"/>
          </a:xfrm>
          <a:prstGeom prst="straightConnector1">
            <a:avLst/>
          </a:prstGeom>
          <a:ln w="12700" cap="rnd">
            <a:solidFill>
              <a:srgbClr val="6B7480"/>
            </a:solidFill>
          </a:ln>
        </p:spPr>
      </p:cxnSp>
      <p:sp>
        <p:nvSpPr>
          <p:cNvPr id="121" name="T"/>
          <p:cNvSpPr/>
          <p:nvPr/>
        </p:nvSpPr>
        <p:spPr>
          <a:xfrm>
            <a:off x="800000" y="4610000"/>
            <a:ext cx="1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50" b="1" kern="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hₜ₋₁, xₜ</a:t>
            </a:r>
          </a:p>
        </p:txBody>
      </p:sp>
      <p:sp>
        <p:nvSpPr>
          <p:cNvPr id="122" name="S"/>
          <p:cNvSpPr/>
          <p:nvPr/>
        </p:nvSpPr>
        <p:spPr>
          <a:xfrm>
            <a:off x="2350000" y="2230000"/>
            <a:ext cx="300000" cy="300000"/>
          </a:xfrm>
          <a:prstGeom prst="ellipse">
            <a:avLst/>
          </a:prstGeom>
          <a:solidFill>
            <a:srgbClr val="F8C8D0"/>
          </a:solidFill>
          <a:ln w="9525">
            <a:solidFill>
              <a:srgbClr val="E59BB0"/>
            </a:solidFill>
          </a:ln>
        </p:spPr>
      </p:sp>
      <p:sp>
        <p:nvSpPr>
          <p:cNvPr id="123" name="T"/>
          <p:cNvSpPr/>
          <p:nvPr/>
        </p:nvSpPr>
        <p:spPr>
          <a:xfrm>
            <a:off x="2350000" y="223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kern="0" dirty="0">
                <a:solidFill>
                  <a:srgbClr val="8A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</a:p>
        </p:txBody>
      </p:sp>
      <p:sp>
        <p:nvSpPr>
          <p:cNvPr id="124" name="S"/>
          <p:cNvSpPr/>
          <p:nvPr/>
        </p:nvSpPr>
        <p:spPr>
          <a:xfrm>
            <a:off x="4650000" y="2230000"/>
            <a:ext cx="300000" cy="300000"/>
          </a:xfrm>
          <a:prstGeom prst="ellipse">
            <a:avLst/>
          </a:prstGeom>
          <a:solidFill>
            <a:srgbClr val="F8C8D0"/>
          </a:solidFill>
          <a:ln w="9525">
            <a:solidFill>
              <a:srgbClr val="E59BB0"/>
            </a:solidFill>
          </a:ln>
        </p:spPr>
      </p:sp>
      <p:sp>
        <p:nvSpPr>
          <p:cNvPr id="125" name="T"/>
          <p:cNvSpPr/>
          <p:nvPr/>
        </p:nvSpPr>
        <p:spPr>
          <a:xfrm>
            <a:off x="4650000" y="223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kern="0" dirty="0">
                <a:solidFill>
                  <a:srgbClr val="8A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</a:p>
        </p:txBody>
      </p:sp>
      <p:sp>
        <p:nvSpPr>
          <p:cNvPr id="126" name="S"/>
          <p:cNvSpPr/>
          <p:nvPr/>
        </p:nvSpPr>
        <p:spPr>
          <a:xfrm>
            <a:off x="4650000" y="3000000"/>
            <a:ext cx="300000" cy="300000"/>
          </a:xfrm>
          <a:prstGeom prst="ellipse">
            <a:avLst/>
          </a:prstGeom>
          <a:solidFill>
            <a:srgbClr val="F8C8D0"/>
          </a:solidFill>
          <a:ln w="9525">
            <a:solidFill>
              <a:srgbClr val="E59BB0"/>
            </a:solidFill>
          </a:ln>
        </p:spPr>
      </p:sp>
      <p:sp>
        <p:nvSpPr>
          <p:cNvPr id="127" name="T"/>
          <p:cNvSpPr/>
          <p:nvPr/>
        </p:nvSpPr>
        <p:spPr>
          <a:xfrm>
            <a:off x="4650000" y="300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kern="0" dirty="0">
                <a:solidFill>
                  <a:srgbClr val="8A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</a:p>
        </p:txBody>
      </p:sp>
      <p:sp>
        <p:nvSpPr>
          <p:cNvPr id="128" name="S"/>
          <p:cNvSpPr/>
          <p:nvPr/>
        </p:nvSpPr>
        <p:spPr>
          <a:xfrm>
            <a:off x="8350000" y="3000000"/>
            <a:ext cx="300000" cy="300000"/>
          </a:xfrm>
          <a:prstGeom prst="ellipse">
            <a:avLst/>
          </a:prstGeom>
          <a:solidFill>
            <a:srgbClr val="F8C8D0"/>
          </a:solidFill>
          <a:ln w="9525">
            <a:solidFill>
              <a:srgbClr val="E59BB0"/>
            </a:solidFill>
          </a:ln>
        </p:spPr>
      </p:sp>
      <p:sp>
        <p:nvSpPr>
          <p:cNvPr id="129" name="T"/>
          <p:cNvSpPr/>
          <p:nvPr/>
        </p:nvSpPr>
        <p:spPr>
          <a:xfrm>
            <a:off x="8350000" y="300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kern="0" dirty="0">
                <a:solidFill>
                  <a:srgbClr val="8A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</a:p>
        </p:txBody>
      </p:sp>
      <p:sp>
        <p:nvSpPr>
          <p:cNvPr id="130" name="S"/>
          <p:cNvSpPr/>
          <p:nvPr/>
        </p:nvSpPr>
        <p:spPr>
          <a:xfrm>
            <a:off x="8220000" y="2220000"/>
            <a:ext cx="560000" cy="320000"/>
          </a:xfrm>
          <a:prstGeom prst="ellipse">
            <a:avLst/>
          </a:prstGeom>
          <a:solidFill>
            <a:srgbClr val="FBE3EA"/>
          </a:solidFill>
          <a:ln w="9525">
            <a:solidFill>
              <a:srgbClr val="E59BB0"/>
            </a:solidFill>
          </a:ln>
        </p:spPr>
      </p:sp>
      <p:sp>
        <p:nvSpPr>
          <p:cNvPr id="131" name="T"/>
          <p:cNvSpPr/>
          <p:nvPr/>
        </p:nvSpPr>
        <p:spPr>
          <a:xfrm>
            <a:off x="8220000" y="2220000"/>
            <a:ext cx="56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kern="0" dirty="0">
                <a:solidFill>
                  <a:srgbClr val="8A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</a:p>
        </p:txBody>
      </p:sp>
      <p:sp>
        <p:nvSpPr>
          <p:cNvPr id="132" name="S"/>
          <p:cNvSpPr/>
          <p:nvPr/>
        </p:nvSpPr>
        <p:spPr>
          <a:xfrm>
            <a:off x="2220000" y="3730000"/>
            <a:ext cx="560000" cy="380000"/>
          </a:xfrm>
          <a:prstGeom prst="roundRect">
            <a:avLst>
              <a:gd name="adj" fmla="val 18000"/>
            </a:avLst>
          </a:prstGeom>
          <a:solidFill>
            <a:srgbClr val="FFE08A"/>
          </a:solidFill>
          <a:ln w="9525">
            <a:solidFill>
              <a:srgbClr val="E8C24A"/>
            </a:solidFill>
          </a:ln>
        </p:spPr>
      </p:sp>
      <p:sp>
        <p:nvSpPr>
          <p:cNvPr id="133" name="T"/>
          <p:cNvSpPr/>
          <p:nvPr/>
        </p:nvSpPr>
        <p:spPr>
          <a:xfrm>
            <a:off x="2220000" y="3730000"/>
            <a:ext cx="5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00" b="1" kern="0" dirty="0">
                <a:solidFill>
                  <a:srgbClr val="6B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</a:p>
        </p:txBody>
      </p:sp>
      <p:sp>
        <p:nvSpPr>
          <p:cNvPr id="134" name="S"/>
          <p:cNvSpPr/>
          <p:nvPr/>
        </p:nvSpPr>
        <p:spPr>
          <a:xfrm>
            <a:off x="4020000" y="3730000"/>
            <a:ext cx="560000" cy="380000"/>
          </a:xfrm>
          <a:prstGeom prst="roundRect">
            <a:avLst>
              <a:gd name="adj" fmla="val 18000"/>
            </a:avLst>
          </a:prstGeom>
          <a:solidFill>
            <a:srgbClr val="FFE08A"/>
          </a:solidFill>
          <a:ln w="9525">
            <a:solidFill>
              <a:srgbClr val="E8C24A"/>
            </a:solidFill>
          </a:ln>
        </p:spPr>
      </p:sp>
      <p:sp>
        <p:nvSpPr>
          <p:cNvPr id="135" name="T"/>
          <p:cNvSpPr/>
          <p:nvPr/>
        </p:nvSpPr>
        <p:spPr>
          <a:xfrm>
            <a:off x="4020000" y="3730000"/>
            <a:ext cx="5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00" b="1" kern="0" dirty="0">
                <a:solidFill>
                  <a:srgbClr val="6B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</a:p>
        </p:txBody>
      </p:sp>
      <p:sp>
        <p:nvSpPr>
          <p:cNvPr id="136" name="S"/>
          <p:cNvSpPr/>
          <p:nvPr/>
        </p:nvSpPr>
        <p:spPr>
          <a:xfrm>
            <a:off x="5020000" y="3730000"/>
            <a:ext cx="560000" cy="380000"/>
          </a:xfrm>
          <a:prstGeom prst="roundRect">
            <a:avLst>
              <a:gd name="adj" fmla="val 18000"/>
            </a:avLst>
          </a:prstGeom>
          <a:solidFill>
            <a:srgbClr val="FFE08A"/>
          </a:solidFill>
          <a:ln w="9525">
            <a:solidFill>
              <a:srgbClr val="E8C24A"/>
            </a:solidFill>
          </a:ln>
        </p:spPr>
      </p:sp>
      <p:sp>
        <p:nvSpPr>
          <p:cNvPr id="137" name="T"/>
          <p:cNvSpPr/>
          <p:nvPr/>
        </p:nvSpPr>
        <p:spPr>
          <a:xfrm>
            <a:off x="5020000" y="3730000"/>
            <a:ext cx="5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00" b="1" kern="0" dirty="0">
                <a:solidFill>
                  <a:srgbClr val="6B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</a:p>
        </p:txBody>
      </p:sp>
      <p:sp>
        <p:nvSpPr>
          <p:cNvPr id="138" name="S"/>
          <p:cNvSpPr/>
          <p:nvPr/>
        </p:nvSpPr>
        <p:spPr>
          <a:xfrm>
            <a:off x="8220000" y="3730000"/>
            <a:ext cx="560000" cy="380000"/>
          </a:xfrm>
          <a:prstGeom prst="roundRect">
            <a:avLst>
              <a:gd name="adj" fmla="val 18000"/>
            </a:avLst>
          </a:prstGeom>
          <a:solidFill>
            <a:srgbClr val="FFE08A"/>
          </a:solidFill>
          <a:ln w="9525">
            <a:solidFill>
              <a:srgbClr val="E8C24A"/>
            </a:solidFill>
          </a:ln>
        </p:spPr>
      </p:sp>
      <p:sp>
        <p:nvSpPr>
          <p:cNvPr id="139" name="T"/>
          <p:cNvSpPr/>
          <p:nvPr/>
        </p:nvSpPr>
        <p:spPr>
          <a:xfrm>
            <a:off x="8220000" y="3730000"/>
            <a:ext cx="56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00" b="1" kern="0" dirty="0">
                <a:solidFill>
                  <a:srgbClr val="6B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</a:p>
        </p:txBody>
      </p:sp>
      <p:sp>
        <p:nvSpPr>
          <p:cNvPr id="140" name="T"/>
          <p:cNvSpPr/>
          <p:nvPr/>
        </p:nvSpPr>
        <p:spPr>
          <a:xfrm>
            <a:off x="9150000" y="1180000"/>
            <a:ext cx="1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kern="0" dirty="0">
                <a:solidFill>
                  <a:srgbClr val="9C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выход: hₜ → архетип</a:t>
            </a:r>
          </a:p>
        </p:txBody>
      </p:sp>
      <p:sp>
        <p:nvSpPr>
          <p:cNvPr id="141" name="T"/>
          <p:cNvSpPr/>
          <p:nvPr/>
        </p:nvSpPr>
        <p:spPr>
          <a:xfrm>
            <a:off x="1350000" y="5120000"/>
            <a:ext cx="2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Забывание</a:t>
            </a:r>
          </a:p>
        </p:txBody>
      </p:sp>
      <p:sp>
        <p:nvSpPr>
          <p:cNvPr id="142" name="T"/>
          <p:cNvSpPr/>
          <p:nvPr/>
        </p:nvSpPr>
        <p:spPr>
          <a:xfrm>
            <a:off x="1200000" y="543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стереть лишнее из памяти  (σ)</a:t>
            </a:r>
          </a:p>
        </p:txBody>
      </p:sp>
      <p:sp>
        <p:nvSpPr>
          <p:cNvPr id="143" name="T"/>
          <p:cNvSpPr/>
          <p:nvPr/>
        </p:nvSpPr>
        <p:spPr>
          <a:xfrm>
            <a:off x="3650000" y="5120000"/>
            <a:ext cx="2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</a:t>
            </a:r>
          </a:p>
        </p:txBody>
      </p:sp>
      <p:sp>
        <p:nvSpPr>
          <p:cNvPr id="144" name="T"/>
          <p:cNvSpPr/>
          <p:nvPr/>
        </p:nvSpPr>
        <p:spPr>
          <a:xfrm>
            <a:off x="3500000" y="543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новое  (σ · tanh)</a:t>
            </a:r>
          </a:p>
        </p:txBody>
      </p:sp>
      <p:sp>
        <p:nvSpPr>
          <p:cNvPr id="145" name="T"/>
          <p:cNvSpPr/>
          <p:nvPr/>
        </p:nvSpPr>
        <p:spPr>
          <a:xfrm>
            <a:off x="7350000" y="5120000"/>
            <a:ext cx="2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</a:p>
        </p:txBody>
      </p:sp>
      <p:sp>
        <p:nvSpPr>
          <p:cNvPr id="146" name="T"/>
          <p:cNvSpPr/>
          <p:nvPr/>
        </p:nvSpPr>
        <p:spPr>
          <a:xfrm>
            <a:off x="7200000" y="543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сформировать ответ hₜ  (σ · tanh)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МОДЕЛИ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Обучение: от телеметрии к новой версии ONNX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066544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2066544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" name="Image 0" descr="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0370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40280" y="19568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74920" y="193852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предсказания берутся из Postgres; seed-скрипт даёт 1000 размеченных сессий для холодного старта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852928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77824" y="3090672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54480" y="3090672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8" name="Image 1" descr="icons/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227832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40280" y="29809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074920" y="296265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 по каждой сессии + метка архетипа (из predictions или эвристики)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3877056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77824" y="4114800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23" name="Text 19"/>
          <p:cNvSpPr/>
          <p:nvPr/>
        </p:nvSpPr>
        <p:spPr>
          <a:xfrm>
            <a:off x="87782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554480" y="4114800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5" name="Image 2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251960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240280" y="4005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экспорт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074920" y="398678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LSTM → torch.onnx → classifier.onnx + model_meta.json (feature_order, archetypes)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4901184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77824" y="5138928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30" name="Text 25"/>
          <p:cNvSpPr/>
          <p:nvPr/>
        </p:nvSpPr>
        <p:spPr>
          <a:xfrm>
            <a:off x="877824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554480" y="5138928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2" name="Image 3" descr="icons/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527608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24028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5074920" y="501091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/train обновляет модель; движок перезагружается без пересборки контейнера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Реализация модели и встраивание в проект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43600" cy="4023360"/>
          </a:xfrm>
          <a:prstGeom prst="roundRect">
            <a:avLst>
              <a:gd name="adj" fmla="val 2045"/>
            </a:avLst>
          </a:prstGeom>
          <a:solidFill>
            <a:srgbClr val="0E2A3A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83080"/>
            <a:ext cx="5943600" cy="4023360"/>
          </a:xfrm>
          <a:prstGeom prst="roundRect">
            <a:avLst>
              <a:gd name="adj" fmla="val 2273"/>
            </a:avLst>
          </a:prstGeom>
          <a:solidFill>
            <a:srgbClr val="0E2A3A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993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 POST /predict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432304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"session_id": "uuid",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"player_id": "player_1",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"features": { "time_sec": 120.0,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"deaths": 2.0 },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"archetypes": ["explorer",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"achiever","socializer","killer"]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predicted_archetype, confidence,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recommended_adaptation, model_version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95160" y="17830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14616" y="20756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3" name="Image 0" descr="icons/ser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3722" y="2234794"/>
            <a:ext cx="212141" cy="2121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09560" y="19659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микросервис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09560" y="23134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ML-service в Docker Compose, порт 8001; backend ходит по HTTP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95160" y="31546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14616" y="34472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8" name="Image 1" descr="icons/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722" y="3606394"/>
            <a:ext cx="212141" cy="21214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909560" y="33375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каждые N событий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909560" y="36850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раз в bootstrap_actions событий, а не однократно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995160" y="45262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14616" y="48188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3" name="Image 2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22" y="4977994"/>
            <a:ext cx="212141" cy="21214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09560" y="47091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с backend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909560" y="50566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app/services/ml_client.py → /predict; результат в ответе /telemetry/ingest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ЗАДЕЛЫ НА БУДУЩЕЕ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Заделы на будущее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03911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20919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Двунаправленный LSTM / Transformer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64208" y="2313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модели на длинных последовательностях по мере накопления реальной телеметрии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331927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489350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4208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признаков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64208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проверка features по feature_order профиля игры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3434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" y="459943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4769510"/>
            <a:ext cx="226771" cy="2267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64208" y="4873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latency /predict, fallback-rate, мониторинг версии модели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783080"/>
            <a:ext cx="4785055" cy="4160520"/>
          </a:xfrm>
          <a:prstGeom prst="roundRect">
            <a:avLst>
              <a:gd name="adj" fmla="val 2198"/>
            </a:avLst>
          </a:prstGeom>
          <a:solidFill>
            <a:srgbClr val="0B5E88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766560" y="20574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924648" y="24688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25" name="Image 3" descr="qr_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952" y="2615184"/>
            <a:ext cx="2176272" cy="21762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50749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github.com/Antizi/diplom-Game_Plugs_Ai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766560" y="5440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 телефона на QR-код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23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Нейросетевая модель прогнозирует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поведение — игра адаптируется сама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в ONNX на отдельном сервисе · обучение на данных из Postgres · надёжный fallback и hot-reload модели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Изотов Антон Николаевич  ·  Team-Lead, ML-инженер</a:t>
            </a:r>
            <a:pPr indent="0" marL="0">
              <a:buNone/>
            </a:pPr>
            <a:r>
              <a:rPr lang="en-US" sz="14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Группа МВИ-122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Беспалов М. Е., к.т.н., доцент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/>
          <p:nvPr/>
        </p:nvSpPr>
        <p:spPr>
          <a:xfrm>
            <a:off x="640080" y="47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</a:p>
        </p:txBody>
      </p:sp>
      <p:sp>
        <p:nvSpPr>
          <p:cNvPr id="102" name="T"/>
          <p:cNvSpPr/>
          <p:nvPr/>
        </p:nvSpPr>
        <p:spPr>
          <a:xfrm>
            <a:off x="640080" y="7600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система</a:t>
            </a:r>
          </a:p>
        </p:txBody>
      </p:sp>
      <p:sp>
        <p:nvSpPr>
          <p:cNvPr id="103" name="T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3000" b="1" kern="0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</a:p>
        </p:txBody>
      </p:sp>
      <p:sp>
        <p:nvSpPr>
          <p:cNvPr id="104" name="R"/>
          <p:cNvSpPr/>
          <p:nvPr/>
        </p:nvSpPr>
        <p:spPr>
          <a:xfrm>
            <a:off x="3360000" y="1560000"/>
            <a:ext cx="8260000" cy="3760000"/>
          </a:xfrm>
          <a:prstGeom prst="roundRect">
            <a:avLst>
              <a:gd name="adj" fmla="val 2600"/>
            </a:avLst>
          </a:prstGeom>
          <a:solidFill>
            <a:srgbClr val="F4FAFD"/>
          </a:solidFill>
          <a:ln w="12700">
            <a:solidFill>
              <a:srgbClr val="D7E5EE"/>
            </a:solidFill>
            <a:prstDash val="dash"/>
          </a:ln>
        </p:spPr>
      </p:sp>
      <p:sp>
        <p:nvSpPr>
          <p:cNvPr id="105" name="T"/>
          <p:cNvSpPr/>
          <p:nvPr/>
        </p:nvSpPr>
        <p:spPr>
          <a:xfrm>
            <a:off x="3560000" y="170000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50" b="1" spc="20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</a:p>
        </p:txBody>
      </p:sp>
      <p:cxnSp>
        <p:nvCxnSpPr>
          <p:cNvPr id="106" name="cxn"/>
          <p:cNvCxnSpPr/>
          <p:nvPr/>
        </p:nvCxnSpPr>
        <p:spPr>
          <a:xfrm>
            <a:off x="2200000" y="3330000"/>
            <a:ext cx="2050000" cy="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07" name="cxn"/>
          <p:cNvCxnSpPr/>
          <p:nvPr/>
        </p:nvCxnSpPr>
        <p:spPr>
          <a:xfrm flipH="1">
            <a:off x="2200000" y="3520000"/>
            <a:ext cx="2050000" cy="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08" name="cxn"/>
          <p:cNvCxnSpPr/>
          <p:nvPr/>
        </p:nvCxnSpPr>
        <p:spPr>
          <a:xfrm flipV="1">
            <a:off x="5150000" y="2670000"/>
            <a:ext cx="2480000" cy="5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09" name="cxn"/>
          <p:cNvCxnSpPr/>
          <p:nvPr/>
        </p:nvCxnSpPr>
        <p:spPr>
          <a:xfrm flipH="1">
            <a:off x="5150000" y="2850000"/>
            <a:ext cx="2480000" cy="5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10" name="cxn"/>
          <p:cNvCxnSpPr/>
          <p:nvPr/>
        </p:nvCxnSpPr>
        <p:spPr>
          <a:xfrm>
            <a:off x="5150000" y="3450000"/>
            <a:ext cx="2480000" cy="8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cxnSp>
        <p:nvCxnSpPr>
          <p:cNvPr id="111" name="cxn"/>
          <p:cNvCxnSpPr/>
          <p:nvPr/>
        </p:nvCxnSpPr>
        <p:spPr>
          <a:xfrm flipH="1" flipV="1">
            <a:off x="5150000" y="3630000"/>
            <a:ext cx="2480000" cy="840000"/>
          </a:xfrm>
          <a:prstGeom prst="straightConnector1">
            <a:avLst/>
          </a:prstGeom>
          <a:ln w="25400" cap="rnd">
            <a:solidFill>
              <a:srgbClr val="AEC1CD"/>
            </a:solidFill>
            <a:tailEnd type="triangle" w="med" len="med"/>
          </a:ln>
        </p:spPr>
      </p:cxnSp>
      <p:sp>
        <p:nvSpPr>
          <p:cNvPr id="112" name="R"/>
          <p:cNvSpPr/>
          <p:nvPr/>
        </p:nvSpPr>
        <p:spPr>
          <a:xfrm>
            <a:off x="1490000" y="3120000"/>
            <a:ext cx="660000" cy="430000"/>
          </a:xfrm>
          <a:prstGeom prst="roundRect">
            <a:avLst>
              <a:gd name="adj" fmla="val 9000"/>
            </a:avLst>
          </a:prstGeom>
          <a:solidFill>
            <a:srgbClr val="96B4C6"/>
          </a:solidFill>
          <a:ln/>
        </p:spPr>
      </p:sp>
      <p:sp>
        <p:nvSpPr>
          <p:cNvPr id="113" name="R"/>
          <p:cNvSpPr/>
          <p:nvPr/>
        </p:nvSpPr>
        <p:spPr>
          <a:xfrm>
            <a:off x="1558000" y="3188000"/>
            <a:ext cx="524000" cy="2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14" name="R"/>
          <p:cNvSpPr/>
          <p:nvPr/>
        </p:nvSpPr>
        <p:spPr>
          <a:xfrm>
            <a:off x="1774000" y="3550000"/>
            <a:ext cx="92000" cy="96000"/>
          </a:xfrm>
          <a:prstGeom prst="roundRect">
            <a:avLst>
              <a:gd name="adj" fmla="val 0"/>
            </a:avLst>
          </a:prstGeom>
          <a:solidFill>
            <a:srgbClr val="96B4C6"/>
          </a:solidFill>
          <a:ln/>
        </p:spPr>
      </p:sp>
      <p:sp>
        <p:nvSpPr>
          <p:cNvPr id="115" name="R"/>
          <p:cNvSpPr/>
          <p:nvPr/>
        </p:nvSpPr>
        <p:spPr>
          <a:xfrm>
            <a:off x="1655000" y="3632000"/>
            <a:ext cx="330000" cy="66000"/>
          </a:xfrm>
          <a:prstGeom prst="roundRect">
            <a:avLst>
              <a:gd name="adj" fmla="val 50000"/>
            </a:avLst>
          </a:prstGeom>
          <a:solidFill>
            <a:srgbClr val="96B4C6"/>
          </a:solidFill>
          <a:ln/>
        </p:spPr>
      </p:sp>
      <p:pic>
        <p:nvPicPr>
          <p:cNvPr id="116" name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50000" y="2990000"/>
            <a:ext cx="860000" cy="860000"/>
          </a:xfrm>
          <a:prstGeom prst="rect">
            <a:avLst/>
          </a:prstGeom>
        </p:spPr>
      </p:pic>
      <p:cxnSp>
        <p:nvCxnSpPr>
          <p:cNvPr id="117" name="ln"/>
          <p:cNvCxnSpPr/>
          <p:nvPr/>
        </p:nvCxnSpPr>
        <p:spPr>
          <a:xfrm>
            <a:off x="7760000" y="2430000"/>
            <a:ext cx="300000" cy="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18" name="ln"/>
          <p:cNvCxnSpPr/>
          <p:nvPr/>
        </p:nvCxnSpPr>
        <p:spPr>
          <a:xfrm>
            <a:off x="7760000" y="2430000"/>
            <a:ext cx="300000" cy="25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19" name="ln"/>
          <p:cNvCxnSpPr/>
          <p:nvPr/>
        </p:nvCxnSpPr>
        <p:spPr>
          <a:xfrm>
            <a:off x="7760000" y="2430000"/>
            <a:ext cx="300000" cy="50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0" name="ln"/>
          <p:cNvCxnSpPr/>
          <p:nvPr/>
        </p:nvCxnSpPr>
        <p:spPr>
          <a:xfrm flipV="1">
            <a:off x="7760000" y="2430000"/>
            <a:ext cx="300000" cy="25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1" name="ln"/>
          <p:cNvCxnSpPr/>
          <p:nvPr/>
        </p:nvCxnSpPr>
        <p:spPr>
          <a:xfrm>
            <a:off x="7760000" y="2680000"/>
            <a:ext cx="300000" cy="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2" name="ln"/>
          <p:cNvCxnSpPr/>
          <p:nvPr/>
        </p:nvCxnSpPr>
        <p:spPr>
          <a:xfrm>
            <a:off x="7760000" y="2680000"/>
            <a:ext cx="300000" cy="25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3" name="ln"/>
          <p:cNvCxnSpPr/>
          <p:nvPr/>
        </p:nvCxnSpPr>
        <p:spPr>
          <a:xfrm flipV="1">
            <a:off x="7760000" y="2430000"/>
            <a:ext cx="300000" cy="50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4" name="ln"/>
          <p:cNvCxnSpPr/>
          <p:nvPr/>
        </p:nvCxnSpPr>
        <p:spPr>
          <a:xfrm flipV="1">
            <a:off x="7760000" y="2680000"/>
            <a:ext cx="300000" cy="25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5" name="ln"/>
          <p:cNvCxnSpPr/>
          <p:nvPr/>
        </p:nvCxnSpPr>
        <p:spPr>
          <a:xfrm>
            <a:off x="7760000" y="2930000"/>
            <a:ext cx="300000" cy="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6" name="ln"/>
          <p:cNvCxnSpPr/>
          <p:nvPr/>
        </p:nvCxnSpPr>
        <p:spPr>
          <a:xfrm>
            <a:off x="8060000" y="2430000"/>
            <a:ext cx="300000" cy="11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7" name="ln"/>
          <p:cNvCxnSpPr/>
          <p:nvPr/>
        </p:nvCxnSpPr>
        <p:spPr>
          <a:xfrm>
            <a:off x="8060000" y="2430000"/>
            <a:ext cx="300000" cy="39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8" name="ln"/>
          <p:cNvCxnSpPr/>
          <p:nvPr/>
        </p:nvCxnSpPr>
        <p:spPr>
          <a:xfrm flipV="1">
            <a:off x="8060000" y="2540000"/>
            <a:ext cx="300000" cy="14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29" name="ln"/>
          <p:cNvCxnSpPr/>
          <p:nvPr/>
        </p:nvCxnSpPr>
        <p:spPr>
          <a:xfrm>
            <a:off x="8060000" y="2680000"/>
            <a:ext cx="300000" cy="14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30" name="ln"/>
          <p:cNvCxnSpPr/>
          <p:nvPr/>
        </p:nvCxnSpPr>
        <p:spPr>
          <a:xfrm flipV="1">
            <a:off x="8060000" y="2540000"/>
            <a:ext cx="300000" cy="39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cxnSp>
        <p:nvCxnSpPr>
          <p:cNvPr id="131" name="ln"/>
          <p:cNvCxnSpPr/>
          <p:nvPr/>
        </p:nvCxnSpPr>
        <p:spPr>
          <a:xfrm flipV="1">
            <a:off x="8060000" y="2820000"/>
            <a:ext cx="300000" cy="110000"/>
          </a:xfrm>
          <a:prstGeom prst="straightConnector1">
            <a:avLst/>
          </a:prstGeom>
          <a:ln w="9525">
            <a:solidFill>
              <a:srgbClr val="1F9BD8"/>
            </a:solidFill>
          </a:ln>
        </p:spPr>
      </p:cxnSp>
      <p:sp>
        <p:nvSpPr>
          <p:cNvPr id="132" name="n"/>
          <p:cNvSpPr/>
          <p:nvPr/>
        </p:nvSpPr>
        <p:spPr>
          <a:xfrm>
            <a:off x="7700000" y="237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133" name="n"/>
          <p:cNvSpPr/>
          <p:nvPr/>
        </p:nvSpPr>
        <p:spPr>
          <a:xfrm>
            <a:off x="7700000" y="262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134" name="n"/>
          <p:cNvSpPr/>
          <p:nvPr/>
        </p:nvSpPr>
        <p:spPr>
          <a:xfrm>
            <a:off x="7700000" y="287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135" name="n"/>
          <p:cNvSpPr/>
          <p:nvPr/>
        </p:nvSpPr>
        <p:spPr>
          <a:xfrm>
            <a:off x="8000000" y="237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136" name="n"/>
          <p:cNvSpPr/>
          <p:nvPr/>
        </p:nvSpPr>
        <p:spPr>
          <a:xfrm>
            <a:off x="8000000" y="262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137" name="n"/>
          <p:cNvSpPr/>
          <p:nvPr/>
        </p:nvSpPr>
        <p:spPr>
          <a:xfrm>
            <a:off x="8000000" y="287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138" name="n"/>
          <p:cNvSpPr/>
          <p:nvPr/>
        </p:nvSpPr>
        <p:spPr>
          <a:xfrm>
            <a:off x="8300000" y="248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sp>
        <p:nvSpPr>
          <p:cNvPr id="139" name="n"/>
          <p:cNvSpPr/>
          <p:nvPr/>
        </p:nvSpPr>
        <p:spPr>
          <a:xfrm>
            <a:off x="8300000" y="2760000"/>
            <a:ext cx="120000" cy="120000"/>
          </a:xfrm>
          <a:prstGeom prst="ellipse">
            <a:avLst/>
          </a:prstGeom>
          <a:solidFill>
            <a:srgbClr val="1F9BD8"/>
          </a:solidFill>
          <a:ln/>
        </p:spPr>
      </p:sp>
      <p:pic>
        <p:nvPicPr>
          <p:cNvPr id="140" name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0000" y="4090000"/>
            <a:ext cx="860000" cy="860000"/>
          </a:xfrm>
          <a:prstGeom prst="rect">
            <a:avLst/>
          </a:prstGeom>
        </p:spPr>
      </p:pic>
      <p:sp>
        <p:nvSpPr>
          <p:cNvPr id="141" name="T"/>
          <p:cNvSpPr/>
          <p:nvPr/>
        </p:nvSpPr>
        <p:spPr>
          <a:xfrm>
            <a:off x="420000" y="270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</a:t>
            </a:r>
          </a:p>
        </p:txBody>
      </p:sp>
      <p:sp>
        <p:nvSpPr>
          <p:cNvPr id="142" name="T"/>
          <p:cNvSpPr/>
          <p:nvPr/>
        </p:nvSpPr>
        <p:spPr>
          <a:xfrm>
            <a:off x="3280000" y="270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</a:p>
        </p:txBody>
      </p:sp>
      <p:sp>
        <p:nvSpPr>
          <p:cNvPr id="143" name="T"/>
          <p:cNvSpPr/>
          <p:nvPr/>
        </p:nvSpPr>
        <p:spPr>
          <a:xfrm>
            <a:off x="6660000" y="196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ML-сервис</a:t>
            </a:r>
          </a:p>
        </p:txBody>
      </p:sp>
      <p:sp>
        <p:nvSpPr>
          <p:cNvPr id="144" name="T"/>
          <p:cNvSpPr/>
          <p:nvPr/>
        </p:nvSpPr>
        <p:spPr>
          <a:xfrm>
            <a:off x="6660000" y="5040000"/>
            <a:ext cx="2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</a:p>
        </p:txBody>
      </p:sp>
      <p:sp>
        <p:nvSpPr>
          <p:cNvPr id="145" name="T"/>
          <p:cNvSpPr/>
          <p:nvPr/>
        </p:nvSpPr>
        <p:spPr>
          <a:xfrm>
            <a:off x="2375000" y="303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</a:t>
            </a:r>
          </a:p>
        </p:txBody>
      </p:sp>
      <p:sp>
        <p:nvSpPr>
          <p:cNvPr id="146" name="T"/>
          <p:cNvSpPr/>
          <p:nvPr/>
        </p:nvSpPr>
        <p:spPr>
          <a:xfrm>
            <a:off x="2225000" y="361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игры</a:t>
            </a:r>
          </a:p>
        </p:txBody>
      </p:sp>
      <p:sp>
        <p:nvSpPr>
          <p:cNvPr id="147" name="T"/>
          <p:cNvSpPr/>
          <p:nvPr/>
        </p:nvSpPr>
        <p:spPr>
          <a:xfrm>
            <a:off x="5900000" y="264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</a:p>
        </p:txBody>
      </p:sp>
      <p:sp>
        <p:nvSpPr>
          <p:cNvPr id="148" name="T"/>
          <p:cNvSpPr/>
          <p:nvPr/>
        </p:nvSpPr>
        <p:spPr>
          <a:xfrm>
            <a:off x="5900000" y="436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/>
          <p:nvPr/>
        </p:nvSpPr>
        <p:spPr>
          <a:xfrm>
            <a:off x="640080" y="475488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</a:p>
        </p:txBody>
      </p:sp>
      <p:sp>
        <p:nvSpPr>
          <p:cNvPr id="102" name="T"/>
          <p:cNvSpPr/>
          <p:nvPr/>
        </p:nvSpPr>
        <p:spPr>
          <a:xfrm>
            <a:off x="640080" y="749808"/>
            <a:ext cx="10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Адаптивная игровая система</a:t>
            </a:r>
          </a:p>
        </p:txBody>
      </p:sp>
      <p:sp>
        <p:nvSpPr>
          <p:cNvPr id="103" name="T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3000" b="1" kern="0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04" name="T"/>
          <p:cNvSpPr/>
          <p:nvPr/>
        </p:nvSpPr>
        <p:spPr>
          <a:xfrm>
            <a:off x="640080" y="1480000"/>
            <a:ext cx="108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00" kern="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подстраивается под игрока в реальном времени: телеметрия → анализ → адаптация. Три части работают как единый цикл.</a:t>
            </a:r>
          </a:p>
        </p:txBody>
      </p:sp>
      <p:sp>
        <p:nvSpPr>
          <p:cNvPr id="105" name="S"/>
          <p:cNvSpPr/>
          <p:nvPr/>
        </p:nvSpPr>
        <p:spPr>
          <a:xfrm>
            <a:off x="640080" y="2180000"/>
            <a:ext cx="3474720" cy="2520000"/>
          </a:xfrm>
          <a:prstGeom prst="roundRect">
            <a:avLst>
              <a:gd name="adj" fmla="val 6000"/>
            </a:avLst>
          </a:prstGeom>
          <a:solidFill>
            <a:srgbClr val="F4FAFD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06" name="S"/>
          <p:cNvSpPr/>
          <p:nvPr/>
        </p:nvSpPr>
        <p:spPr>
          <a:xfrm>
            <a:off x="2037440" y="2480000"/>
            <a:ext cx="680000" cy="680000"/>
          </a:xfrm>
          <a:prstGeom prst="ellipse">
            <a:avLst/>
          </a:prstGeom>
          <a:solidFill>
            <a:srgbClr val="1F9BD8"/>
          </a:solidFill>
          <a:ln/>
        </p:spPr>
      </p:sp>
      <p:pic>
        <p:nvPicPr>
          <p:cNvPr id="107" name="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440" y="2640000"/>
            <a:ext cx="360000" cy="360000"/>
          </a:xfrm>
          <a:prstGeom prst="rect">
            <a:avLst/>
          </a:prstGeom>
        </p:spPr>
      </p:pic>
      <p:sp>
        <p:nvSpPr>
          <p:cNvPr id="108" name="T"/>
          <p:cNvSpPr/>
          <p:nvPr/>
        </p:nvSpPr>
        <p:spPr>
          <a:xfrm>
            <a:off x="940080" y="3360000"/>
            <a:ext cx="287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</a:t>
            </a:r>
          </a:p>
        </p:txBody>
      </p:sp>
      <p:sp>
        <p:nvSpPr>
          <p:cNvPr id="109" name="T"/>
          <p:cNvSpPr/>
          <p:nvPr/>
        </p:nvSpPr>
        <p:spPr>
          <a:xfrm>
            <a:off x="940080" y="3840000"/>
            <a:ext cx="287472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собирает события игрока и отправляет телеметрию</a:t>
            </a:r>
          </a:p>
        </p:txBody>
      </p:sp>
      <p:sp>
        <p:nvSpPr>
          <p:cNvPr id="110" name="S"/>
          <p:cNvSpPr/>
          <p:nvPr/>
        </p:nvSpPr>
        <p:spPr>
          <a:xfrm>
            <a:off x="4352544" y="2180000"/>
            <a:ext cx="3474720" cy="2520000"/>
          </a:xfrm>
          <a:prstGeom prst="roundRect">
            <a:avLst>
              <a:gd name="adj" fmla="val 6000"/>
            </a:avLst>
          </a:prstGeom>
          <a:solidFill>
            <a:srgbClr val="F4FAFD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11" name="S"/>
          <p:cNvSpPr/>
          <p:nvPr/>
        </p:nvSpPr>
        <p:spPr>
          <a:xfrm>
            <a:off x="5749904" y="2480000"/>
            <a:ext cx="680000" cy="680000"/>
          </a:xfrm>
          <a:prstGeom prst="ellipse">
            <a:avLst/>
          </a:prstGeom>
          <a:solidFill>
            <a:srgbClr val="1F9BD8"/>
          </a:solidFill>
          <a:ln/>
        </p:spPr>
      </p:sp>
      <p:pic>
        <p:nvPicPr>
          <p:cNvPr id="112" name="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904" y="2640000"/>
            <a:ext cx="360000" cy="360000"/>
          </a:xfrm>
          <a:prstGeom prst="rect">
            <a:avLst/>
          </a:prstGeom>
        </p:spPr>
      </p:pic>
      <p:sp>
        <p:nvSpPr>
          <p:cNvPr id="113" name="T"/>
          <p:cNvSpPr/>
          <p:nvPr/>
        </p:nvSpPr>
        <p:spPr>
          <a:xfrm>
            <a:off x="4652544" y="3360000"/>
            <a:ext cx="287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</a:t>
            </a:r>
          </a:p>
        </p:txBody>
      </p:sp>
      <p:sp>
        <p:nvSpPr>
          <p:cNvPr id="114" name="T"/>
          <p:cNvSpPr/>
          <p:nvPr/>
        </p:nvSpPr>
        <p:spPr>
          <a:xfrm>
            <a:off x="4652544" y="3840000"/>
            <a:ext cx="287472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принимает, хранит и строит признаки</a:t>
            </a:r>
          </a:p>
        </p:txBody>
      </p:sp>
      <p:sp>
        <p:nvSpPr>
          <p:cNvPr id="115" name="S"/>
          <p:cNvSpPr/>
          <p:nvPr/>
        </p:nvSpPr>
        <p:spPr>
          <a:xfrm>
            <a:off x="8065008" y="2180000"/>
            <a:ext cx="3474720" cy="2520000"/>
          </a:xfrm>
          <a:prstGeom prst="roundRect">
            <a:avLst>
              <a:gd name="adj" fmla="val 6000"/>
            </a:avLst>
          </a:prstGeom>
          <a:solidFill>
            <a:srgbClr val="F4FAFD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76200" dist="20000" dir="5400000">
              <a:srgbClr val="B8C9D4">
                <a:alpha val="20000"/>
              </a:srgbClr>
            </a:outerShdw>
          </a:effectLst>
        </p:spPr>
      </p:sp>
      <p:sp>
        <p:nvSpPr>
          <p:cNvPr id="116" name="S"/>
          <p:cNvSpPr/>
          <p:nvPr/>
        </p:nvSpPr>
        <p:spPr>
          <a:xfrm>
            <a:off x="9462368" y="2480000"/>
            <a:ext cx="680000" cy="680000"/>
          </a:xfrm>
          <a:prstGeom prst="ellipse">
            <a:avLst/>
          </a:prstGeom>
          <a:solidFill>
            <a:srgbClr val="1F9BD8"/>
          </a:solidFill>
          <a:ln/>
        </p:spPr>
      </p:sp>
      <p:pic>
        <p:nvPicPr>
          <p:cNvPr id="117" name="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368" y="2640000"/>
            <a:ext cx="360000" cy="360000"/>
          </a:xfrm>
          <a:prstGeom prst="rect">
            <a:avLst/>
          </a:prstGeom>
        </p:spPr>
      </p:pic>
      <p:sp>
        <p:nvSpPr>
          <p:cNvPr id="118" name="T"/>
          <p:cNvSpPr/>
          <p:nvPr/>
        </p:nvSpPr>
        <p:spPr>
          <a:xfrm>
            <a:off x="8365008" y="3360000"/>
            <a:ext cx="287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</a:t>
            </a:r>
          </a:p>
        </p:txBody>
      </p:sp>
      <p:sp>
        <p:nvSpPr>
          <p:cNvPr id="119" name="T"/>
          <p:cNvSpPr/>
          <p:nvPr/>
        </p:nvSpPr>
        <p:spPr>
          <a:xfrm>
            <a:off x="8365008" y="3840000"/>
            <a:ext cx="287472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определяет архетип и возвращает адаптацию</a:t>
            </a:r>
          </a:p>
        </p:txBody>
      </p:sp>
      <p:sp>
        <p:nvSpPr>
          <p:cNvPr id="120" name="T"/>
          <p:cNvSpPr/>
          <p:nvPr/>
        </p:nvSpPr>
        <p:spPr>
          <a:xfrm>
            <a:off x="640080" y="5060000"/>
            <a:ext cx="10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Игра, сервер и модель образуют единый цикл адаптации.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/>
          <p:nvPr/>
        </p:nvSpPr>
        <p:spPr>
          <a:xfrm>
            <a:off x="640080" y="475488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</a:p>
        </p:txBody>
      </p:sp>
      <p:sp>
        <p:nvSpPr>
          <p:cNvPr id="102" name="T"/>
          <p:cNvSpPr/>
          <p:nvPr/>
        </p:nvSpPr>
        <p:spPr>
          <a:xfrm>
            <a:off x="640080" y="749808"/>
            <a:ext cx="10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адаптивного геймдизайна</a:t>
            </a:r>
          </a:p>
        </p:txBody>
      </p:sp>
      <p:sp>
        <p:nvSpPr>
          <p:cNvPr id="103" name="T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3000" b="1" kern="0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04" name="T"/>
          <p:cNvSpPr/>
          <p:nvPr/>
        </p:nvSpPr>
        <p:spPr>
          <a:xfrm>
            <a:off x="640080" y="1480000"/>
            <a:ext cx="10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00" kern="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игра одинакова для всех и не подстраивается под стиль игрока. Разные типы игроков теряют интерес по-разному — без адаптации многие быстро уходят.</a:t>
            </a:r>
          </a:p>
        </p:txBody>
      </p:sp>
      <p:sp>
        <p:nvSpPr>
          <p:cNvPr id="105" name="T"/>
          <p:cNvSpPr/>
          <p:nvPr/>
        </p:nvSpPr>
        <p:spPr>
          <a:xfrm>
            <a:off x="700000" y="2300000"/>
            <a:ext cx="22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Собиратель</a:t>
            </a:r>
          </a:p>
        </p:txBody>
      </p:sp>
      <p:sp>
        <p:nvSpPr>
          <p:cNvPr id="106" name="S"/>
          <p:cNvSpPr/>
          <p:nvPr/>
        </p:nvSpPr>
        <p:spPr>
          <a:xfrm>
            <a:off x="3050000" y="2300000"/>
            <a:ext cx="7900000" cy="480000"/>
          </a:xfrm>
          <a:prstGeom prst="roundRect">
            <a:avLst>
              <a:gd name="adj" fmla="val 40000"/>
            </a:avLst>
          </a:prstGeom>
          <a:solidFill>
            <a:srgbClr val="EEF3F6"/>
          </a:solidFill>
          <a:ln/>
        </p:spPr>
      </p:sp>
      <p:sp>
        <p:nvSpPr>
          <p:cNvPr id="107" name="S"/>
          <p:cNvSpPr/>
          <p:nvPr/>
        </p:nvSpPr>
        <p:spPr>
          <a:xfrm>
            <a:off x="3050000" y="2300000"/>
            <a:ext cx="1950000" cy="480000"/>
          </a:xfrm>
          <a:prstGeom prst="roundRect">
            <a:avLst>
              <a:gd name="adj" fmla="val 40000"/>
            </a:avLst>
          </a:prstGeom>
          <a:solidFill>
            <a:srgbClr val="E8836B"/>
          </a:solidFill>
          <a:ln/>
        </p:spPr>
      </p:sp>
      <p:sp>
        <p:nvSpPr>
          <p:cNvPr id="108" name="T"/>
          <p:cNvSpPr/>
          <p:nvPr/>
        </p:nvSpPr>
        <p:spPr>
          <a:xfrm>
            <a:off x="5140000" y="2300000"/>
            <a:ext cx="26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00" b="1" kern="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уходит через 1–3 ч</a:t>
            </a:r>
          </a:p>
        </p:txBody>
      </p:sp>
      <p:sp>
        <p:nvSpPr>
          <p:cNvPr id="109" name="T"/>
          <p:cNvSpPr/>
          <p:nvPr/>
        </p:nvSpPr>
        <p:spPr>
          <a:xfrm>
            <a:off x="700000" y="3340000"/>
            <a:ext cx="22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</a:t>
            </a:r>
          </a:p>
        </p:txBody>
      </p:sp>
      <p:sp>
        <p:nvSpPr>
          <p:cNvPr id="110" name="S"/>
          <p:cNvSpPr/>
          <p:nvPr/>
        </p:nvSpPr>
        <p:spPr>
          <a:xfrm>
            <a:off x="3050000" y="3340000"/>
            <a:ext cx="7900000" cy="480000"/>
          </a:xfrm>
          <a:prstGeom prst="roundRect">
            <a:avLst>
              <a:gd name="adj" fmla="val 40000"/>
            </a:avLst>
          </a:prstGeom>
          <a:solidFill>
            <a:srgbClr val="EEF3F6"/>
          </a:solidFill>
          <a:ln/>
        </p:spPr>
      </p:sp>
      <p:sp>
        <p:nvSpPr>
          <p:cNvPr id="111" name="S"/>
          <p:cNvSpPr/>
          <p:nvPr/>
        </p:nvSpPr>
        <p:spPr>
          <a:xfrm>
            <a:off x="3050000" y="3340000"/>
            <a:ext cx="3700000" cy="480000"/>
          </a:xfrm>
          <a:prstGeom prst="roundRect">
            <a:avLst>
              <a:gd name="adj" fmla="val 40000"/>
            </a:avLst>
          </a:prstGeom>
          <a:solidFill>
            <a:srgbClr val="1F9BD8"/>
          </a:solidFill>
          <a:ln/>
        </p:spPr>
      </p:sp>
      <p:sp>
        <p:nvSpPr>
          <p:cNvPr id="112" name="T"/>
          <p:cNvSpPr/>
          <p:nvPr/>
        </p:nvSpPr>
        <p:spPr>
          <a:xfrm>
            <a:off x="6890000" y="3340000"/>
            <a:ext cx="26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0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~5 ч</a:t>
            </a:r>
          </a:p>
        </p:txBody>
      </p:sp>
      <p:sp>
        <p:nvSpPr>
          <p:cNvPr id="113" name="T"/>
          <p:cNvSpPr/>
          <p:nvPr/>
        </p:nvSpPr>
        <p:spPr>
          <a:xfrm>
            <a:off x="700000" y="4380000"/>
            <a:ext cx="22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kern="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Боец</a:t>
            </a:r>
          </a:p>
        </p:txBody>
      </p:sp>
      <p:sp>
        <p:nvSpPr>
          <p:cNvPr id="114" name="S"/>
          <p:cNvSpPr/>
          <p:nvPr/>
        </p:nvSpPr>
        <p:spPr>
          <a:xfrm>
            <a:off x="3050000" y="4380000"/>
            <a:ext cx="7900000" cy="480000"/>
          </a:xfrm>
          <a:prstGeom prst="roundRect">
            <a:avLst>
              <a:gd name="adj" fmla="val 40000"/>
            </a:avLst>
          </a:prstGeom>
          <a:solidFill>
            <a:srgbClr val="EEF3F6"/>
          </a:solidFill>
          <a:ln/>
        </p:spPr>
      </p:sp>
      <p:sp>
        <p:nvSpPr>
          <p:cNvPr id="115" name="S"/>
          <p:cNvSpPr/>
          <p:nvPr/>
        </p:nvSpPr>
        <p:spPr>
          <a:xfrm>
            <a:off x="3050000" y="4380000"/>
            <a:ext cx="6100000" cy="480000"/>
          </a:xfrm>
          <a:prstGeom prst="roundRect">
            <a:avLst>
              <a:gd name="adj" fmla="val 40000"/>
            </a:avLst>
          </a:prstGeom>
          <a:solidFill>
            <a:srgbClr val="1F9BD8"/>
          </a:solidFill>
          <a:ln/>
        </p:spPr>
      </p:sp>
      <p:sp>
        <p:nvSpPr>
          <p:cNvPr id="116" name="T"/>
          <p:cNvSpPr/>
          <p:nvPr/>
        </p:nvSpPr>
        <p:spPr>
          <a:xfrm>
            <a:off x="9290000" y="4380000"/>
            <a:ext cx="26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0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играет 8+ ч</a:t>
            </a:r>
          </a:p>
        </p:txBody>
      </p:sp>
      <p:sp>
        <p:nvSpPr>
          <p:cNvPr id="117" name="T"/>
          <p:cNvSpPr/>
          <p:nvPr/>
        </p:nvSpPr>
        <p:spPr>
          <a:xfrm>
            <a:off x="700000" y="5060000"/>
            <a:ext cx="10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Пример: в L4D «собиратель» уходит через 1–3 часа, а «боец» остаётся 8+ часов. </a:t>
            </a:r>
          </a:p>
        </p:txBody>
      </p:sp>
      <p:sp>
        <p:nvSpPr>
          <p:cNvPr id="118" name="T"/>
          <p:cNvSpPr/>
          <p:nvPr/>
        </p:nvSpPr>
        <p:spPr>
          <a:xfrm>
            <a:off x="700000" y="5420000"/>
            <a:ext cx="10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под архетип удерживает разные типы игроков и повышает вовлечённость.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интеграция нейросетевой модели для прогнозирования поведения пользователя в адаптивной игровой системе</dc:title>
  <dc:subject>PptxGenJS Presentation</dc:subject>
  <dc:creator>Изотов Антон Николаевич</dc:creator>
  <cp:lastModifiedBy>Изотов Антон Николаевич</cp:lastModifiedBy>
  <cp:revision>1</cp:revision>
  <dcterms:created xsi:type="dcterms:W3CDTF">2026-06-15T11:15:39Z</dcterms:created>
  <dcterms:modified xsi:type="dcterms:W3CDTF">2026-06-15T11:15:39Z</dcterms:modified>
</cp:coreProperties>
</file>